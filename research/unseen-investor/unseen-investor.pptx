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00d56bb478486c" /><Relationship Type="http://schemas.openxmlformats.org/officeDocument/2006/relationships/extended-properties" Target="/docProps/app.xml" Id="R84a351486b2c4336" /><Relationship Type="http://schemas.openxmlformats.org/officeDocument/2006/relationships/officeDocument" Target="/ppt/presentation.xml" Id="Rbc957cc6890242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3c8666cf96480f"/>
  </p:sldMasterIdLst>
  <p:notesMasterIdLst>
    <p:notesMasterId xmlns:r="http://schemas.openxmlformats.org/officeDocument/2006/relationships" r:id="R078fa54625ed418d"/>
  </p:notesMasterIdLst>
  <p:sldIdLst>
    <p:sldId xmlns:r="http://schemas.openxmlformats.org/officeDocument/2006/relationships" id="256" r:id="R14cd11270cb441e3"/>
    <p:sldId xmlns:r="http://schemas.openxmlformats.org/officeDocument/2006/relationships" id="257" r:id="Rb773007dec144f30"/>
    <p:sldId xmlns:r="http://schemas.openxmlformats.org/officeDocument/2006/relationships" id="258" r:id="R42439c6662fd4914"/>
    <p:sldId xmlns:r="http://schemas.openxmlformats.org/officeDocument/2006/relationships" id="259" r:id="Rc03e8df749ed4d3e"/>
    <p:sldId xmlns:r="http://schemas.openxmlformats.org/officeDocument/2006/relationships" id="260" r:id="Reee04afdddaf42fc"/>
    <p:sldId xmlns:r="http://schemas.openxmlformats.org/officeDocument/2006/relationships" id="261" r:id="R06682f3ac8474216"/>
    <p:sldId xmlns:r="http://schemas.openxmlformats.org/officeDocument/2006/relationships" id="262" r:id="Rd2a7e39780f647a2"/>
    <p:sldId xmlns:r="http://schemas.openxmlformats.org/officeDocument/2006/relationships" id="263" r:id="R8c04cb3b710741c1"/>
    <p:sldId xmlns:r="http://schemas.openxmlformats.org/officeDocument/2006/relationships" id="264" r:id="R026d7177de6d447f"/>
    <p:sldId xmlns:r="http://schemas.openxmlformats.org/officeDocument/2006/relationships" id="265" r:id="R46fd772f44d1479b"/>
    <p:sldId xmlns:r="http://schemas.openxmlformats.org/officeDocument/2006/relationships" id="266" r:id="R42a74f29f8b74d57"/>
    <p:sldId xmlns:r="http://schemas.openxmlformats.org/officeDocument/2006/relationships" id="267" r:id="R5e6387e9917e4b1b"/>
    <p:sldId xmlns:r="http://schemas.openxmlformats.org/officeDocument/2006/relationships" id="268" r:id="R5e695b64fcea45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3e59dbb23d4848" /><Relationship Type="http://schemas.openxmlformats.org/officeDocument/2006/relationships/slideMaster" Target="/ppt/slideMasters/slideMaster1.xml" Id="Rde3c8666cf96480f" /><Relationship Type="http://schemas.openxmlformats.org/officeDocument/2006/relationships/notesMaster" Target="/ppt/notesMasters/notesMaster1.xml" Id="R078fa54625ed418d" /><Relationship Type="http://schemas.openxmlformats.org/officeDocument/2006/relationships/presProps" Target="/ppt/presProps.xml" Id="Rc7ad6daa3a764f9f" /><Relationship Type="http://schemas.openxmlformats.org/officeDocument/2006/relationships/tableStyles" Target="/ppt/tableStyles.xml" Id="R38fd4f26fe2f4cb5" /><Relationship Type="http://schemas.openxmlformats.org/officeDocument/2006/relationships/slide" Target="/ppt/slides/slide1.xml" Id="R14cd11270cb441e3" /><Relationship Type="http://schemas.openxmlformats.org/officeDocument/2006/relationships/slide" Target="/ppt/slides/slide2.xml" Id="Rb773007dec144f30" /><Relationship Type="http://schemas.openxmlformats.org/officeDocument/2006/relationships/slide" Target="/ppt/slides/slide3.xml" Id="R42439c6662fd4914" /><Relationship Type="http://schemas.openxmlformats.org/officeDocument/2006/relationships/slide" Target="/ppt/slides/slide4.xml" Id="Rc03e8df749ed4d3e" /><Relationship Type="http://schemas.openxmlformats.org/officeDocument/2006/relationships/slide" Target="/ppt/slides/slide5.xml" Id="Reee04afdddaf42fc" /><Relationship Type="http://schemas.openxmlformats.org/officeDocument/2006/relationships/slide" Target="/ppt/slides/slide6.xml" Id="R06682f3ac8474216" /><Relationship Type="http://schemas.openxmlformats.org/officeDocument/2006/relationships/slide" Target="/ppt/slides/slide7.xml" Id="Rd2a7e39780f647a2" /><Relationship Type="http://schemas.openxmlformats.org/officeDocument/2006/relationships/slide" Target="/ppt/slides/slide8.xml" Id="R8c04cb3b710741c1" /><Relationship Type="http://schemas.openxmlformats.org/officeDocument/2006/relationships/slide" Target="/ppt/slides/slide9.xml" Id="R026d7177de6d447f" /><Relationship Type="http://schemas.openxmlformats.org/officeDocument/2006/relationships/slide" Target="/ppt/slides/slide10.xml" Id="R46fd772f44d1479b" /><Relationship Type="http://schemas.openxmlformats.org/officeDocument/2006/relationships/slide" Target="/ppt/slides/slide11.xml" Id="R42a74f29f8b74d57" /><Relationship Type="http://schemas.openxmlformats.org/officeDocument/2006/relationships/slide" Target="/ppt/slides/slide12.xml" Id="R5e6387e9917e4b1b" /><Relationship Type="http://schemas.openxmlformats.org/officeDocument/2006/relationships/slide" Target="/ppt/slides/slide13.xml" Id="R5e695b64fcea45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aaf9d23a6647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6cffe589ef4f51" /><Relationship Type="http://schemas.openxmlformats.org/officeDocument/2006/relationships/notesMaster" Target="/ppt/notesMasters/notesMaster1.xml" Id="R74ebfed4077543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fbb6191da340c5" /><Relationship Type="http://schemas.openxmlformats.org/officeDocument/2006/relationships/notesMaster" Target="/ppt/notesMasters/notesMaster1.xml" Id="Rf3b1e5d2e2e14f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7aa690b3ba48fd" /><Relationship Type="http://schemas.openxmlformats.org/officeDocument/2006/relationships/notesMaster" Target="/ppt/notesMasters/notesMaster1.xml" Id="Rdfd08b30766b45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71dc6d521e493c" /><Relationship Type="http://schemas.openxmlformats.org/officeDocument/2006/relationships/notesMaster" Target="/ppt/notesMasters/notesMaster1.xml" Id="Rd4bc6a76f6f34c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f4b803317e49e0" /><Relationship Type="http://schemas.openxmlformats.org/officeDocument/2006/relationships/notesMaster" Target="/ppt/notesMasters/notesMaster1.xml" Id="Rc1e15eb8920a40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90fff9423f406d" /><Relationship Type="http://schemas.openxmlformats.org/officeDocument/2006/relationships/notesMaster" Target="/ppt/notesMasters/notesMaster1.xml" Id="Rc43a4db0969c46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b2d608f74a48c1" /><Relationship Type="http://schemas.openxmlformats.org/officeDocument/2006/relationships/notesMaster" Target="/ppt/notesMasters/notesMaster1.xml" Id="R72ce1958997c44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7e6d103677482f" /><Relationship Type="http://schemas.openxmlformats.org/officeDocument/2006/relationships/notesMaster" Target="/ppt/notesMasters/notesMaster1.xml" Id="Rc2ab2d869b8042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4f75bf06654ca9" /><Relationship Type="http://schemas.openxmlformats.org/officeDocument/2006/relationships/notesMaster" Target="/ppt/notesMasters/notesMaster1.xml" Id="R367520b2b0df4b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6e705e69f04557" /><Relationship Type="http://schemas.openxmlformats.org/officeDocument/2006/relationships/notesMaster" Target="/ppt/notesMasters/notesMaster1.xml" Id="R4ca9dc2a1ab34f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cf934d7d8745ad" /><Relationship Type="http://schemas.openxmlformats.org/officeDocument/2006/relationships/notesMaster" Target="/ppt/notesMasters/notesMaster1.xml" Id="R6d17026d22ae41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0fb05cb0344f7e" /><Relationship Type="http://schemas.openxmlformats.org/officeDocument/2006/relationships/notesMaster" Target="/ppt/notesMasters/notesMaster1.xml" Id="R0f49b0c9630e48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e76d79fa9e4c93" /><Relationship Type="http://schemas.openxmlformats.org/officeDocument/2006/relationships/notesMaster" Target="/ppt/notesMasters/notesMaster1.xml" Id="R0d7fd72f866545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 分钟。UNSEEN 探索家庭影像的持续呈现、原声讲述与回应。当前以实体设备和市场需求验证为重点。希望结合投资人或合作伙伴的资金、工程与渠道资源，明确下一阶段的成果和评估方式。合作形式与投入范围按实际资源共同商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封面图片：原有 R1 产品概念，独立相框为首版方向，灯座构型为后续选项。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分钟。获奖是项目已有成果，当前实体 Demo 以翻译笔为验证载体。独立设备运行指脱离开发电脑使用，具体联网和云端依赖按演示说明。展示已有能力，并说明仍在测试的部分。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[A1] 影石 Bold Maker 挑战赛收官报道</a:t>
            </a:r>
          </a:p>
          <a:p xmlns:a="http://schemas.openxmlformats.org/drawingml/2006/main">
            <a:r>
              <a:t>2026-09-26 发布 正文：9 月 24 日颁奖典礼；孵化与赛事支持段</a:t>
            </a:r>
          </a:p>
          <a:p xmlns:a="http://schemas.openxmlformats.org/drawingml/2006/main">
            <a:r>
              <a:t>https://news.jschina.com.cn/qy/202609/t20260926_s6ab7dfaee4b03e594b54bf26.shtml</a:t>
            </a:r>
          </a:p>
          <a:p xmlns:a="http://schemas.openxmlformats.org/drawingml/2006/main">
            <a:r>
              <a:t>核实颁奖日期为 2026-09-24。报道介绍孵化、技术验证与落地支持；具体可申请项目及资格仍需确认。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[P2] 项目成果与设备验证记录</a:t>
            </a:r>
          </a:p>
          <a:p xmlns:a="http://schemas.openxmlformats.org/drawingml/2006/main">
            <a:r>
              <a:t>截至 2026-10-13 团队项目记录</a:t>
            </a:r>
          </a:p>
          <a:p xmlns:a="http://schemas.openxmlformats.org/drawingml/2006/main">
            <a:r>
              <a:t>团队项目资料</a:t>
            </a:r>
          </a:p>
          <a:p xmlns:a="http://schemas.openxmlformats.org/drawingml/2006/main">
            <a:r>
              <a:t>影石 AI+社会公益赛道第一名为团队确认成果。当前通过翻译笔开展实体 Demo 验证，持续运行结果待设备测试确认。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产品验证与市场规划</a:t>
            </a:r>
          </a:p>
          <a:p xmlns:a="http://schemas.openxmlformats.org/drawingml/2006/main">
            <a:r>
              <a:t>2026-10-13 团队当前规划</a:t>
            </a:r>
          </a:p>
          <a:p xmlns:a="http://schemas.openxmlformats.org/drawingml/2006/main">
            <a:r>
              <a:t>团队项目资料</a:t>
            </a:r>
          </a:p>
          <a:p xmlns:a="http://schemas.openxmlformats.org/drawingml/2006/main">
            <a:r>
              <a:t>翻译笔验证、大屏样机、家庭试用、国内预售、公益采购与海外需求测试。样机数量和排期为讨论方案。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分钟。产品主线为家庭智能屏。原有 R1 外观方案以 A01 独立相框作为首版方向，B01 灯座构型作为后续备选。展示的产品图为已有设计概念。公益和海外分别是服务模式与市场方向，先共享产品能力，再按验证结果细分。5–10 台为计划建议。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[D1] UNSEEN 原有外观与结构方案</a:t>
            </a:r>
          </a:p>
          <a:p xmlns:a="http://schemas.openxmlformats.org/drawingml/2006/main">
            <a:r>
              <a:t>2026-10-08 R1 设计评审稿</a:t>
            </a:r>
          </a:p>
          <a:p xmlns:a="http://schemas.openxmlformats.org/drawingml/2006/main">
            <a:r>
              <a:t>团队项目资料</a:t>
            </a:r>
          </a:p>
          <a:p xmlns:a="http://schemas.openxmlformats.org/drawingml/2006/main">
            <a:r>
              <a:t>浅木色外框、暖白后壳、灰绿与陶土红双键。独立相框作为首版方向，灯座构型作为后续备选。图片为设计概念。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产品验证与市场规划</a:t>
            </a:r>
          </a:p>
          <a:p xmlns:a="http://schemas.openxmlformats.org/drawingml/2006/main">
            <a:r>
              <a:t>2026-10-13 团队当前规划</a:t>
            </a:r>
          </a:p>
          <a:p xmlns:a="http://schemas.openxmlformats.org/drawingml/2006/main">
            <a:r>
              <a:t>团队项目资料</a:t>
            </a:r>
          </a:p>
          <a:p xmlns:a="http://schemas.openxmlformats.org/drawingml/2006/main">
            <a:r>
              <a:t>翻译笔验证、大屏样机、家庭试用、国内预售、公益采购与海外需求测试。样机数量和排期为讨论方案。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 分钟。这是一版讨论用时间表，不是已经承诺的交货日。2026-10-13 起算，先两周设备验证，再四周大屏样机，再四周试用与内容反馈，再四周预售准备与小规模验证。每次进入下一阶段都看实际结果；延期要同步更新预售承诺。2027 年 1 月只是制造准备的最早讨论窗口，具体生产、验收和发货周期由选定工厂和资金状态决定。视频可以从现在开始记录，成熟后再集中传播。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产品验证与市场规划</a:t>
            </a:r>
          </a:p>
          <a:p xmlns:a="http://schemas.openxmlformats.org/drawingml/2006/main">
            <a:r>
              <a:t>2026-10-13 团队当前规划</a:t>
            </a:r>
          </a:p>
          <a:p xmlns:a="http://schemas.openxmlformats.org/drawingml/2006/main">
            <a:r>
              <a:t>团队项目资料</a:t>
            </a:r>
          </a:p>
          <a:p xmlns:a="http://schemas.openxmlformats.org/drawingml/2006/main">
            <a:r>
              <a:t>翻译笔验证、大屏样机、家庭试用、国内预售、公益采购与海外需求测试。样机数量和排期为讨论方案。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国内预售路径包括内容测试、意向登记、付费订单和交付。具体平台需核验类目准入、费用与资金结算。获得品牌或渠道授权后，可评估独家授权店，其范围、期限、运营、收款与售后责任由双方约定。资金规划只计实际可支取的预售净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产品验证与市场规划</a:t>
            </a:r>
          </a:p>
          <a:p xmlns:a="http://schemas.openxmlformats.org/drawingml/2006/main">
            <a:r>
              <a:t>2026-10-13 团队当前规划</a:t>
            </a:r>
          </a:p>
          <a:p xmlns:a="http://schemas.openxmlformats.org/drawingml/2006/main">
            <a:r>
              <a:t>团队项目资料</a:t>
            </a:r>
          </a:p>
          <a:p xmlns:a="http://schemas.openxmlformats.org/drawingml/2006/main">
            <a:r>
              <a:t>翻译笔验证、大屏样机、家庭试用、国内预售、公益采购与海外需求测试。样机数量和排期为讨论方案。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公益路径可作为组织采购与试点，不预设已经获得合作或背书。成本包含设备及约定服务，明确持续支持责任。影像记录单独获得同意，赠送不以参与宣传为条件。公益使用数据用于评估体验与服务，消费者购买意愿另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产品验证与市场规划</a:t>
            </a:r>
          </a:p>
          <a:p xmlns:a="http://schemas.openxmlformats.org/drawingml/2006/main">
            <a:r>
              <a:t>2026-10-13 团队当前规划</a:t>
            </a:r>
          </a:p>
          <a:p xmlns:a="http://schemas.openxmlformats.org/drawingml/2006/main">
            <a:r>
              <a:t>团队项目资料</a:t>
            </a:r>
          </a:p>
          <a:p xmlns:a="http://schemas.openxmlformats.org/drawingml/2006/main">
            <a:r>
              <a:t>翻译笔验证、大屏样机、家庭试用、国内预售、公益采购与海外需求测试。样机数量和排期为讨论方案。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分钟。海外市场尚未选定，以团队可触达和可服务的范围开展低成本验证。意向、付费订单与交付各自记录。涉及当地销售与付款前，核实适用的产品要求及实际成本。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产品验证与市场规划</a:t>
            </a:r>
          </a:p>
          <a:p xmlns:a="http://schemas.openxmlformats.org/drawingml/2006/main">
            <a:r>
              <a:t>2026-10-13 团队当前规划</a:t>
            </a:r>
          </a:p>
          <a:p xmlns:a="http://schemas.openxmlformats.org/drawingml/2006/main">
            <a:r>
              <a:t>团队项目资料</a:t>
            </a:r>
          </a:p>
          <a:p xmlns:a="http://schemas.openxmlformats.org/drawingml/2006/main">
            <a:r>
              <a:t>翻译笔验证、大屏样机、家庭试用、国内预售、公益采购与海外需求测试。样机数量和排期为讨论方案。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 分钟。合作模式面向任何合适的产业伙伴、孵化机构或投资人。产品共创优先用于补齐样机阶段的工程能力。渠道合作可以包括已获授权范围内的独家店铺。投资安排结合产品和订单信号推进。各模式可组合，股权、知识产权及独家期限须形成明确约定。团队在已有预算内也可继续推进基础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产品验证与市场规划</a:t>
            </a:r>
          </a:p>
          <a:p xmlns:a="http://schemas.openxmlformats.org/drawingml/2006/main">
            <a:r>
              <a:t>2026-10-13 团队当前规划</a:t>
            </a:r>
          </a:p>
          <a:p xmlns:a="http://schemas.openxmlformats.org/drawingml/2006/main">
            <a:r>
              <a:t>团队项目资料</a:t>
            </a:r>
          </a:p>
          <a:p xmlns:a="http://schemas.openxmlformats.org/drawingml/2006/main">
            <a:r>
              <a:t>翻译笔验证、大屏样机、家庭试用、国内预售、公益采购与海外需求测试。样机数量和排期为讨论方案。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获得开模支持后，还需要衔接工厂备料、订金、尾款、交付与售后。各项支持以实际覆盖范围进入预算。先明确模具和设计使用安排，再形成试产与付款计划。生产准备和渠道准备同时推进，交付承诺以已确认资源和排期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融资节奏可以结合证据积累安排，样机和试点预算在启动前明确。预算按付款时间列出研发、开模、工厂货款、物流和服务支出，再匹配已落实资金。预售净款的口径需统一，平台费用和退款准备只扣一次，交付成本单列。具体金额随工程报价、平台结算和试点范围测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产品验证与市场规划</a:t>
            </a:r>
          </a:p>
          <a:p xmlns:a="http://schemas.openxmlformats.org/drawingml/2006/main">
            <a:r>
              <a:t>2026-10-13 团队当前规划</a:t>
            </a:r>
          </a:p>
          <a:p xmlns:a="http://schemas.openxmlformats.org/drawingml/2006/main">
            <a:r>
              <a:t>团队项目资料</a:t>
            </a:r>
          </a:p>
          <a:p xmlns:a="http://schemas.openxmlformats.org/drawingml/2006/main">
            <a:r>
              <a:t>翻译笔验证、大屏样机、家庭试用、国内预售、公益采购与海外需求测试。样机数量和排期为讨论方案。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以支持、具体行动和可验证成果对齐期待。阶段成果是执行目标，实际结果通过记录和评审确认。对于采集端或影像品牌，家庭持续呈现与回应可能增加新的使用场景。对于投资人，样机、成本、使用和订单记录有助于评估后续投资。商业回报及股权权益按实际合作另行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产品验证与市场规划</a:t>
            </a:r>
          </a:p>
          <a:p xmlns:a="http://schemas.openxmlformats.org/drawingml/2006/main">
            <a:r>
              <a:t>2026-10-13 团队当前规划</a:t>
            </a:r>
          </a:p>
          <a:p xmlns:a="http://schemas.openxmlformats.org/drawingml/2006/main">
            <a:r>
              <a:t>团队项目资料</a:t>
            </a:r>
          </a:p>
          <a:p xmlns:a="http://schemas.openxmlformats.org/drawingml/2006/main">
            <a:r>
              <a:t>翻译笔验证、大屏样机、家庭试用、国内预售、公益采购与海外需求测试。样机数量和排期为讨论方案。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预留 6 分钟讨论，整场约 30 分钟。会议结束时明确下一阶段范围、负责人、投入和复盘日期。合作方式可结合实际资源选择。关于投资的讨论仍围绕资金用途、阶段目标及评估依据展开。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公开报道支持赛事颁奖日期。获奖归属沿用团队已确认记录。外观图复用 2026 年 10 月 8 日 R1 方案，并标明概念状态。排期和样机数量为规划建议，具体报价、渠道、合作及交付安排待确认。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86ea063db46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f9ef4b9d14d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486a7a11a44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08594b0dc4a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d53c113ea4a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2a6032aeb48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A35110-2240-4F76-A814-EFFBCE88B1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57A4FE-4AE3-4001-8260-1E2D1C2CBA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AB1716-D10A-4228-886A-B3EFBA044B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EE10F7-67D7-42BE-BA24-EA2CCDCD1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7C4B38-E58C-40AB-AC48-F1FD1F61E2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0DA4AC-6906-4F5F-92B3-AFB197C243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2A56DD-D4FA-44A8-A72A-74A371D43B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06EB53-D929-49CF-9DEF-C8F9607E1A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1ADC50-4D1A-4FE1-882C-567BEF3536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E384CB-2295-4906-B33F-76EB759CF8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92e2aed12d4608" /><Relationship Type="http://schemas.openxmlformats.org/officeDocument/2006/relationships/slideLayout" Target="/ppt/slideLayouts/slideLayout1.xml" Id="Racd82c0cbf7a49f6" /><Relationship Type="http://schemas.openxmlformats.org/officeDocument/2006/relationships/slideLayout" Target="/ppt/slideLayouts/slideLayout2.xml" Id="R3da27d9337e54fd1" /><Relationship Type="http://schemas.openxmlformats.org/officeDocument/2006/relationships/slideLayout" Target="/ppt/slideLayouts/slideLayout3.xml" Id="Re3ed6708ed1b4b6e" /><Relationship Type="http://schemas.openxmlformats.org/officeDocument/2006/relationships/slideLayout" Target="/ppt/slideLayouts/slideLayout4.xml" Id="R5619248096344678" /><Relationship Type="http://schemas.openxmlformats.org/officeDocument/2006/relationships/slideLayout" Target="/ppt/slideLayouts/slideLayout5.xml" Id="R27c37055a28743f0" /><Relationship Type="http://schemas.openxmlformats.org/officeDocument/2006/relationships/slideLayout" Target="/ppt/slideLayouts/slideLayout6.xml" Id="R41bcb9f04da14c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d82c0cbf7a49f6"/>
    <p:sldLayoutId xmlns:r="http://schemas.openxmlformats.org/officeDocument/2006/relationships" id="2147483650" r:id="R3da27d9337e54fd1"/>
    <p:sldLayoutId xmlns:r="http://schemas.openxmlformats.org/officeDocument/2006/relationships" id="2147483651" r:id="Re3ed6708ed1b4b6e"/>
    <p:sldLayoutId xmlns:r="http://schemas.openxmlformats.org/officeDocument/2006/relationships" id="2147483652" r:id="R5619248096344678"/>
    <p:sldLayoutId xmlns:r="http://schemas.openxmlformats.org/officeDocument/2006/relationships" id="2147483653" r:id="R27c37055a28743f0"/>
    <p:sldLayoutId xmlns:r="http://schemas.openxmlformats.org/officeDocument/2006/relationships" id="2147483654" r:id="R41bcb9f04da14c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cb9d702fd45c9" /><Relationship Type="http://schemas.openxmlformats.org/officeDocument/2006/relationships/image" Target="/ppt/media/image.png" Id="R3bbcc1aac6cd4bc5" /><Relationship Type="http://schemas.openxmlformats.org/officeDocument/2006/relationships/notesSlide" Target="/ppt/notesSlides/notesSlide1.xml" Id="R72108c6ad3df4d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341d5280f4094" /><Relationship Type="http://schemas.openxmlformats.org/officeDocument/2006/relationships/hyperlink" Target="https://news.jschina.com.cn/qy/202609/t20260926_s6ab7dfaee4b03e594b54bf26.shtml" TargetMode="External" Id="R797980e82bb94267" /><Relationship Type="http://schemas.openxmlformats.org/officeDocument/2006/relationships/notesSlide" Target="/ppt/notesSlides/notesSlide2.xml" Id="Rfc090208153e4f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4679d147fe4d81" /><Relationship Type="http://schemas.openxmlformats.org/officeDocument/2006/relationships/image" Target="/ppt/media/image2.png" Id="R50b784444af246aa" /><Relationship Type="http://schemas.openxmlformats.org/officeDocument/2006/relationships/notesSlide" Target="/ppt/notesSlides/notesSlide3.xml" Id="Rb205466ccc0d42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2db36a73248d5" /><Relationship Type="http://schemas.openxmlformats.org/officeDocument/2006/relationships/notesSlide" Target="/ppt/notesSlides/notesSlide4.xml" Id="Rd41bd022ab994d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1a74417b741a4" /><Relationship Type="http://schemas.openxmlformats.org/officeDocument/2006/relationships/notesSlide" Target="/ppt/notesSlides/notesSlide5.xml" Id="R5184c9d0b4d847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6ed73f06d240a7" /><Relationship Type="http://schemas.openxmlformats.org/officeDocument/2006/relationships/notesSlide" Target="/ppt/notesSlides/notesSlide6.xml" Id="Rb77f81094c8742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7dfe7bfb84a3c" /><Relationship Type="http://schemas.openxmlformats.org/officeDocument/2006/relationships/notesSlide" Target="/ppt/notesSlides/notesSlide7.xml" Id="Rb1edd06d327049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7d3db6cc243f3" /><Relationship Type="http://schemas.openxmlformats.org/officeDocument/2006/relationships/notesSlide" Target="/ppt/notesSlides/notesSlide8.xml" Id="R821bd39e0b8247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c6d3b74b64402" /><Relationship Type="http://schemas.openxmlformats.org/officeDocument/2006/relationships/notesSlide" Target="/ppt/notesSlides/notesSlide9.xml" Id="Rf6a3e98856cf49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802d4e32e4a73" /><Relationship Type="http://schemas.openxmlformats.org/officeDocument/2006/relationships/notesSlide" Target="/ppt/notesSlides/notesSlide10.xml" Id="R13b219c4018a4a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b1075f6e64fd9" /><Relationship Type="http://schemas.openxmlformats.org/officeDocument/2006/relationships/notesSlide" Target="/ppt/notesSlides/notesSlide11.xml" Id="Raa883728902f4c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eb3803af144ff" /><Relationship Type="http://schemas.openxmlformats.org/officeDocument/2006/relationships/notesSlide" Target="/ppt/notesSlides/notesSlide12.xml" Id="Rb74f3b7aa51b40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7f1c9d2d94c00" /><Relationship Type="http://schemas.openxmlformats.org/officeDocument/2006/relationships/hyperlink" Target="https://news.jschina.com.cn/qy/202609/t20260926_s6ab7dfaee4b03e594b54bf26.shtml" TargetMode="External" Id="Rc75c6d5c0d534edd" /><Relationship Type="http://schemas.openxmlformats.org/officeDocument/2006/relationships/notesSlide" Target="/ppt/notesSlides/notesSlide13.xml" Id="R282069efa3a14a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label">
            <a:extLst xmlns:a="http://schemas.openxmlformats.org/drawingml/2006/main">
              <a:ext uri="{FF2B5EF4-FFF2-40B4-BE49-F238E27FC236}">
                <a16:creationId xmlns:a16="http://schemas.microsoft.com/office/drawing/2014/main" id="{99F95215-89AF-44F1-AF10-301F8E3D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产品与合作规划</a:t>
            </a:r>
          </a:p>
        </p:txBody>
      </p:sp>
      <p:sp>
        <p:nvSpPr>
          <p:cNvPr id="2" name="wordmark">
            <a:extLst xmlns:a="http://schemas.openxmlformats.org/drawingml/2006/main">
              <a:ext uri="{FF2B5EF4-FFF2-40B4-BE49-F238E27FC236}">
                <a16:creationId xmlns:a16="http://schemas.microsoft.com/office/drawing/2014/main" id="{27765A9D-3D5C-4A51-AC52-68DE9B84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0" b="0">
                <a:solidFill>
                  <a:srgbClr val="293F3C"/>
                </a:solidFill>
                <a:latin typeface="Cormorant Garamond"/>
                <a:ea typeface="Cormorant Garamond"/>
                <a:cs typeface="Cormorant Garamond"/>
              </a:defRPr>
            </a:defPPr>
          </a:lstStyle>
          <a:p xmlns:a="http://schemas.openxmlformats.org/drawingml/2006/main">
            <a:pPr>
              <a:defRPr sz="7500" b="0">
                <a:solidFill>
                  <a:srgbClr val="293F3C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7500" b="0">
                <a:solidFill>
                  <a:srgbClr val="293F3C"/>
                </a:solidFill>
                <a:latin typeface="Cormorant Garamond"/>
                <a:ea typeface="Cormorant Garamond"/>
                <a:cs typeface="Cormorant Garamond"/>
              </a:rPr>
              <a:t>UNSEEN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D3E837A-4684-4ADC-A114-103C3A5B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905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40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40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家庭记忆</a:t>
            </a:r>
          </a:p>
          <a:p xmlns:a="http://schemas.openxmlformats.org/drawingml/2006/main">
            <a:pPr>
              <a:defRPr sz="40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40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智能屏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FEB3EBF-652F-4AFB-8995-2132DAC4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产品进展与市场验证</a:t>
            </a:r>
          </a:p>
          <a:p xmlns:a="http://schemas.openxmlformats.org/drawingml/2006/main">
            <a:pPr>
              <a:defRPr sz="1650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面向投资人与合作伙伴</a:t>
            </a:r>
          </a:p>
        </p:txBody>
      </p:sp>
      <p:sp>
        <p:nvSpPr>
          <p:cNvPr id="5" name="date">
            <a:extLst xmlns:a="http://schemas.openxmlformats.org/drawingml/2006/main">
              <a:ext uri="{FF2B5EF4-FFF2-40B4-BE49-F238E27FC236}">
                <a16:creationId xmlns:a16="http://schemas.microsoft.com/office/drawing/2014/main" id="{9F4D82C7-2C87-467D-8FCF-D2CB42A9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2026.10.13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4E95B-B27C-49A6-8E44-6B603ECDBD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cc1aac6cd4bc5"/>
          <a:stretch xmlns:a="http://schemas.openxmlformats.org/drawingml/2006/main"/>
        </p:blipFill>
        <p:spPr>
          <a:xfrm xmlns:a="http://schemas.openxmlformats.org/drawingml/2006/main">
            <a:off x="4591050" y="1296988"/>
            <a:ext cx="7239000" cy="4826000"/>
          </a:xfrm>
          <a:prstGeom xmlns:a="http://schemas.openxmlformats.org/drawingml/2006/main" prst="rect">
            <a:avLst/>
          </a:prstGeom>
        </p:spPr>
      </p:pic>
      <p:sp>
        <p:nvSpPr>
          <p:cNvPr id="7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43A43E3C-B0FC-47B7-8CAF-5CDD024C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912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原有产品概念：独立相框与灯座构型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EA22BD21-8359-477B-958B-457D0886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01 / 13</a:t>
            </a:r>
          </a:p>
        </p:txBody>
      </p:sp>
    </p:spTree>
    <p:extLst>
      <p:ext uri="{BB962C8B-B14F-4D97-AF65-F5344CB8AC3E}">
        <p14:creationId xmlns:p14="http://schemas.microsoft.com/office/powerpoint/2010/main" val="1655103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07078CB6-99B6-4FE2-9FB9-9805AA33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当前进度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D17B62-592B-43B3-B181-06AD1DA1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当前进展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B45E1D3-A076-44DF-8178-DFE5A437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已有软件与交互原型，正在推进第一代实体 Demo。</a:t>
            </a:r>
          </a:p>
        </p:txBody>
      </p:sp>
      <p:sp>
        <p:nvSpPr>
          <p:cNvPr id="4" name="current-label">
            <a:extLst xmlns:a="http://schemas.openxmlformats.org/drawingml/2006/main">
              <a:ext uri="{FF2B5EF4-FFF2-40B4-BE49-F238E27FC236}">
                <a16:creationId xmlns:a16="http://schemas.microsoft.com/office/drawing/2014/main" id="{63D0C04D-B994-42F7-BDA0-766E2827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当前阶段</a:t>
            </a:r>
          </a:p>
        </p:txBody>
      </p:sp>
      <p:sp>
        <p:nvSpPr>
          <p:cNvPr id="5" name="current-stage">
            <a:extLst xmlns:a="http://schemas.openxmlformats.org/drawingml/2006/main">
              <a:ext uri="{FF2B5EF4-FFF2-40B4-BE49-F238E27FC236}">
                <a16:creationId xmlns:a16="http://schemas.microsoft.com/office/drawing/2014/main" id="{31E9DEFA-1ADA-4CA8-A161-BBE1A47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实体</a:t>
            </a:r>
          </a:p>
          <a:p xmlns:a="http://schemas.openxmlformats.org/drawingml/2006/main">
            <a:pPr>
              <a:defRPr sz="33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Demo 验证</a:t>
            </a:r>
          </a:p>
        </p:txBody>
      </p:sp>
      <p:sp>
        <p:nvSpPr>
          <p:cNvPr id="6" name="current-carrier">
            <a:extLst xmlns:a="http://schemas.openxmlformats.org/drawingml/2006/main">
              <a:ext uri="{FF2B5EF4-FFF2-40B4-BE49-F238E27FC236}">
                <a16:creationId xmlns:a16="http://schemas.microsoft.com/office/drawing/2014/main" id="{FD579149-F891-4A6B-816F-FD087329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翻译笔作为验证载体</a:t>
            </a:r>
          </a:p>
        </p:txBody>
      </p:sp>
      <p:sp>
        <p:nvSpPr>
          <p:cNvPr id="7" name="label-0">
            <a:extLst xmlns:a="http://schemas.openxmlformats.org/drawingml/2006/main">
              <a:ext uri="{FF2B5EF4-FFF2-40B4-BE49-F238E27FC236}">
                <a16:creationId xmlns:a16="http://schemas.microsoft.com/office/drawing/2014/main" id="{6986EF24-0B15-49E2-96D6-98363D9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62200"/>
            <a:ext cx="1019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项目基础</a:t>
            </a:r>
          </a:p>
        </p:txBody>
      </p:sp>
      <p:sp>
        <p:nvSpPr>
          <p:cNvPr id="8" name="body-0">
            <a:extLst xmlns:a="http://schemas.openxmlformats.org/drawingml/2006/main">
              <a:ext uri="{FF2B5EF4-FFF2-40B4-BE49-F238E27FC236}">
                <a16:creationId xmlns:a16="http://schemas.microsoft.com/office/drawing/2014/main" id="{A436BADB-C8B7-4375-B9B9-3398957C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362200"/>
            <a:ext cx="65055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获影石 AI+社会公益赛道第一名，2026.09.24 颁奖。</a:t>
            </a:r>
          </a:p>
        </p:txBody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B6C1862B-F61E-427A-863C-D2ACA309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52775"/>
            <a:ext cx="1019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当前验证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2C2E9022-B54E-442E-A92E-AD4D8F6D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52775"/>
            <a:ext cx="65055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以翻译笔为载体，验证交互体验与独立设备运行。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3785A8FD-EAD4-4F34-B9FB-913892EF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1019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近期重点</a:t>
            </a:r>
          </a:p>
        </p:txBody>
      </p:sp>
      <p:sp>
        <p:nvSpPr>
          <p:cNvPr id="12" name="body-2">
            <a:extLst xmlns:a="http://schemas.openxmlformats.org/drawingml/2006/main">
              <a:ext uri="{FF2B5EF4-FFF2-40B4-BE49-F238E27FC236}">
                <a16:creationId xmlns:a16="http://schemas.microsoft.com/office/drawing/2014/main" id="{1E04059E-E92E-45A8-AA0B-724CC398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43350"/>
            <a:ext cx="65055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连续使用测试，记录启动、网络、音频和回复流程的表现。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808CC65E-9916-40EF-8322-E86C6BC7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33925"/>
            <a:ext cx="1019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下一阶段</a:t>
            </a:r>
          </a:p>
        </p:txBody>
      </p:sp>
      <p:sp>
        <p:nvSpPr>
          <p:cNvPr id="14" name="body-3">
            <a:extLst xmlns:a="http://schemas.openxmlformats.org/drawingml/2006/main">
              <a:ext uri="{FF2B5EF4-FFF2-40B4-BE49-F238E27FC236}">
                <a16:creationId xmlns:a16="http://schemas.microsoft.com/office/drawing/2014/main" id="{A18A1CE9-23BE-4389-9DED-B1ACE945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33925"/>
            <a:ext cx="65055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在验证基础上形成大屏方案，制作小批样机供家庭试用。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5D31259C-637F-4480-B124-68EF40D8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02 / 13</a:t>
            </a:r>
          </a:p>
        </p:txBody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CE0187D6-25D3-4EB0-830D-15B2D831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7" name="source-A1">
            <a:extLst xmlns:a="http://schemas.openxmlformats.org/drawingml/2006/main">
              <a:ext uri="{FF2B5EF4-FFF2-40B4-BE49-F238E27FC236}">
                <a16:creationId xmlns:a16="http://schemas.microsoft.com/office/drawing/2014/main" id="{A72FC887-B73E-43ED-89B1-62445801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797980e82bb94267"/>
              </a:rPr>
              <a:t>A1 ↗</a:t>
            </a:r>
          </a:p>
        </p:txBody>
      </p:sp>
      <p:sp>
        <p:nvSpPr>
          <p:cNvPr id="18" name="source-P2">
            <a:extLst xmlns:a="http://schemas.openxmlformats.org/drawingml/2006/main">
              <a:ext uri="{FF2B5EF4-FFF2-40B4-BE49-F238E27FC236}">
                <a16:creationId xmlns:a16="http://schemas.microsoft.com/office/drawing/2014/main" id="{97215DB9-C3FD-43F5-9F4A-2D3AAB4E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P2</a:t>
            </a:r>
          </a:p>
        </p:txBody>
      </p:sp>
      <p:sp>
        <p:nvSpPr>
          <p:cNvPr id="19" name="source-U3">
            <a:extLst xmlns:a="http://schemas.openxmlformats.org/drawingml/2006/main">
              <a:ext uri="{FF2B5EF4-FFF2-40B4-BE49-F238E27FC236}">
                <a16:creationId xmlns:a16="http://schemas.microsoft.com/office/drawing/2014/main" id="{A81CF388-B949-4225-A898-4406FAC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90AA340E-2461-4368-A81B-944F51AA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当前重点是实体体验与稳定性验证，设备与云端的能力边界随测试明确。</a:t>
            </a:r>
          </a:p>
        </p:txBody>
      </p:sp>
    </p:spTree>
    <p:extLst>
      <p:ext uri="{BB962C8B-B14F-4D97-AF65-F5344CB8AC3E}">
        <p14:creationId xmlns:p14="http://schemas.microsoft.com/office/powerpoint/2010/main" val="259222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">
            <a:extLst xmlns:a="http://schemas.openxmlformats.org/drawingml/2006/main">
              <a:ext uri="{FF2B5EF4-FFF2-40B4-BE49-F238E27FC236}">
                <a16:creationId xmlns:a16="http://schemas.microsoft.com/office/drawing/2014/main" id="{1A651C9B-6594-49E3-B139-52E115A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产品路线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D2C695-D8F2-41A0-9A27-17513C55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产品路线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7FEDCE97-8CCA-4D09-8009-D39EE6C0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以家庭智能屏为主线，按需求验证结果扩展服务与市场。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658D1-0CD4-4D8B-9B7B-F18F707183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784444af246aa"/>
          <a:stretch xmlns:a="http://schemas.openxmlformats.org/drawingml/2006/main"/>
        </p:blipFill>
        <p:spPr>
          <a:xfrm xmlns:a="http://schemas.openxmlformats.org/drawingml/2006/main">
            <a:off x="820016" y="2047875"/>
            <a:ext cx="4551218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prototype-caption">
            <a:extLst xmlns:a="http://schemas.openxmlformats.org/drawingml/2006/main">
              <a:ext uri="{FF2B5EF4-FFF2-40B4-BE49-F238E27FC236}">
                <a16:creationId xmlns:a16="http://schemas.microsoft.com/office/drawing/2014/main" id="{F1235783-1465-4DC4-9C62-F511860F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已有交互原型示意</a:t>
            </a:r>
          </a:p>
        </p:txBody>
      </p:sp>
      <p:sp>
        <p:nvSpPr>
          <p:cNvPr id="6" name="product-title-0">
            <a:extLst xmlns:a="http://schemas.openxmlformats.org/drawingml/2006/main">
              <a:ext uri="{FF2B5EF4-FFF2-40B4-BE49-F238E27FC236}">
                <a16:creationId xmlns:a16="http://schemas.microsoft.com/office/drawing/2014/main" id="{49E21A8E-C23C-4FC9-B4CD-2B30AD61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家庭智能屏</a:t>
            </a:r>
          </a:p>
        </p:txBody>
      </p:sp>
      <p:sp>
        <p:nvSpPr>
          <p:cNvPr id="7" name="product-0-0">
            <a:extLst xmlns:a="http://schemas.openxmlformats.org/drawingml/2006/main">
              <a:ext uri="{FF2B5EF4-FFF2-40B4-BE49-F238E27FC236}">
                <a16:creationId xmlns:a16="http://schemas.microsoft.com/office/drawing/2014/main" id="{8C861675-8758-45C5-959F-83E2CE9D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用照片、原声和回复连接家庭成员。</a:t>
            </a:r>
          </a:p>
        </p:txBody>
      </p:sp>
      <p:sp>
        <p:nvSpPr>
          <p:cNvPr id="8" name="product-0-1">
            <a:extLst xmlns:a="http://schemas.openxmlformats.org/drawingml/2006/main">
              <a:ext uri="{FF2B5EF4-FFF2-40B4-BE49-F238E27FC236}">
                <a16:creationId xmlns:a16="http://schemas.microsoft.com/office/drawing/2014/main" id="{27F3AA5B-8F30-4E48-B9F7-D88D1B90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沿用浅木色外框、大照片区与小双键设计。</a:t>
            </a:r>
          </a:p>
        </p:txBody>
      </p:sp>
      <p:sp>
        <p:nvSpPr>
          <p:cNvPr id="9" name="product-0-2">
            <a:extLst xmlns:a="http://schemas.openxmlformats.org/drawingml/2006/main">
              <a:ext uri="{FF2B5EF4-FFF2-40B4-BE49-F238E27FC236}">
                <a16:creationId xmlns:a16="http://schemas.microsoft.com/office/drawing/2014/main" id="{99F12ACA-A69B-4E3F-98E3-37AC5D47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计划制作 5–10 台大屏样机，数量随预算与工程方案</a:t>
            </a:r>
          </a:p>
          <a:p xmlns:a="http://schemas.openxmlformats.org/drawingml/2006/main">
            <a: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确认。</a:t>
            </a:r>
          </a:p>
        </p:txBody>
      </p:sp>
      <p:sp>
        <p:nvSpPr>
          <p:cNvPr id="10" name="product-title-1">
            <a:extLst xmlns:a="http://schemas.openxmlformats.org/drawingml/2006/main">
              <a:ext uri="{FF2B5EF4-FFF2-40B4-BE49-F238E27FC236}">
                <a16:creationId xmlns:a16="http://schemas.microsoft.com/office/drawing/2014/main" id="{07559DB2-7ACE-44B1-84FA-1DC7F157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后续扩展</a:t>
            </a:r>
          </a:p>
        </p:txBody>
      </p:sp>
      <p:sp>
        <p:nvSpPr>
          <p:cNvPr id="11" name="product-1-0">
            <a:extLst xmlns:a="http://schemas.openxmlformats.org/drawingml/2006/main">
              <a:ext uri="{FF2B5EF4-FFF2-40B4-BE49-F238E27FC236}">
                <a16:creationId xmlns:a16="http://schemas.microsoft.com/office/drawing/2014/main" id="{BCE728A0-F0FE-47EB-82B2-F6A889A7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公益与机构试点：配套安装、培训与集中支持。</a:t>
            </a:r>
          </a:p>
        </p:txBody>
      </p:sp>
      <p:sp>
        <p:nvSpPr>
          <p:cNvPr id="12" name="product-1-1">
            <a:extLst xmlns:a="http://schemas.openxmlformats.org/drawingml/2006/main">
              <a:ext uri="{FF2B5EF4-FFF2-40B4-BE49-F238E27FC236}">
                <a16:creationId xmlns:a16="http://schemas.microsoft.com/office/drawing/2014/main" id="{E3DFBEA7-163B-495D-BEC0-979789E8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海外家庭版本：逐步完善语言、支付与当地服务。</a:t>
            </a:r>
          </a:p>
        </p:txBody>
      </p:sp>
      <p:sp>
        <p:nvSpPr>
          <p:cNvPr id="13" name="product-1-2">
            <a:extLst xmlns:a="http://schemas.openxmlformats.org/drawingml/2006/main">
              <a:ext uri="{FF2B5EF4-FFF2-40B4-BE49-F238E27FC236}">
                <a16:creationId xmlns:a16="http://schemas.microsoft.com/office/drawing/2014/main" id="{94A0F3BD-FCEF-42AD-858C-E3A6ECBD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独立相框作为首版方向，灯座构型保留为后续选项。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7900AFDB-E889-4A43-88F2-9745DD6C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03 / 13</a:t>
            </a:r>
          </a:p>
        </p:txBody>
      </p:sp>
      <p:sp>
        <p:nvSpPr>
          <p:cNvPr id="15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87289CAC-65E2-443E-8590-3F672664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6" name="source-D1">
            <a:extLst xmlns:a="http://schemas.openxmlformats.org/drawingml/2006/main">
              <a:ext uri="{FF2B5EF4-FFF2-40B4-BE49-F238E27FC236}">
                <a16:creationId xmlns:a16="http://schemas.microsoft.com/office/drawing/2014/main" id="{1C4C748D-2017-4F70-8E52-9AE725D0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D1</a:t>
            </a:r>
          </a:p>
        </p:txBody>
      </p:sp>
      <p:sp>
        <p:nvSpPr>
          <p:cNvPr id="17" name="source-U3">
            <a:extLst xmlns:a="http://schemas.openxmlformats.org/drawingml/2006/main">
              <a:ext uri="{FF2B5EF4-FFF2-40B4-BE49-F238E27FC236}">
                <a16:creationId xmlns:a16="http://schemas.microsoft.com/office/drawing/2014/main" id="{C48BFE12-AD33-4348-9BA1-12712E7E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3EEAE4F7-DA34-4C03-8CF1-42748566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现有外观方案用于工程评审，具体器件与量产配置随验证确定。</a:t>
            </a:r>
          </a:p>
        </p:txBody>
      </p:sp>
    </p:spTree>
    <p:extLst>
      <p:ext uri="{BB962C8B-B14F-4D97-AF65-F5344CB8AC3E}">
        <p14:creationId xmlns:p14="http://schemas.microsoft.com/office/powerpoint/2010/main" val="562642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532EF39E-A73F-427B-8FCC-323F8466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路线图 · 4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E97F9E-8E15-4162-9CE9-A96B7880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阶段计划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6621E913-CFB3-47BE-820E-40245449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以 2026 年 10 月 13 日为起点，按阶段成果滚动调整。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E61D3-C8CB-4202-BD5F-021F656252FB}"/>
              </a:ext>
            </a:extLst>
          </p:cNvPr>
          <p:cNvGraphicFramePr/>
          <p:nvPr/>
        </p:nvGraphicFramePr>
        <p:xfrm>
          <a:off xmlns:a="http://schemas.openxmlformats.org/drawingml/2006/main" x="571500" y="21812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09800"/>
                <a:gridCol w="2209800"/>
                <a:gridCol w="2209800"/>
                <a:gridCol w="2209800"/>
                <a:gridCol w="2209800"/>
              </a:tblGrid>
              <a:tr h="619125">
                <a:tc>
                  <a:txBody>
                    <a:bodyPr wrap="square" lIns="0" tIns="0" rIns="171450" bIns="76200"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ACB7A2"/>
                          </a:solidFill>
                          <a:latin typeface="Cormorant Garamond"/>
                          <a:ea typeface="Cormorant Garamond"/>
                          <a:cs typeface="Cormorant Garamond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0" rIns="171450" bIns="76200"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ACB7A2"/>
                          </a:solidFill>
                          <a:latin typeface="Cormorant Garamond"/>
                          <a:ea typeface="Cormorant Garamond"/>
                          <a:cs typeface="Cormorant Garamond"/>
                        </a:rPr>
                        <a:t>02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0" rIns="171450" bIns="76200"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ACB7A2"/>
                          </a:solidFill>
                          <a:latin typeface="Cormorant Garamond"/>
                          <a:ea typeface="Cormorant Garamond"/>
                          <a:cs typeface="Cormorant Garamond"/>
                        </a:rPr>
                        <a:t>03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0" rIns="171450" bIns="76200"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ACB7A2"/>
                          </a:solidFill>
                          <a:latin typeface="Cormorant Garamond"/>
                          <a:ea typeface="Cormorant Garamond"/>
                          <a:cs typeface="Cormorant Garamond"/>
                        </a:rPr>
                        <a:t>04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0" rIns="171450" bIns="76200"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ACB7A2"/>
                          </a:solidFill>
                          <a:latin typeface="Cormorant Garamond"/>
                          <a:ea typeface="Cormorant Garamond"/>
                          <a:cs typeface="Cormorant Garamond"/>
                        </a:rPr>
                        <a:t>05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</a:tr>
              <a:tr h="790575"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10.13—10.26</a:t>
                      </a:r>
                    </a:p>
                    <a:p>
                      <a:r>
                        <a:rPr sz="1725" b="1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 2 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10.27—11.23</a:t>
                      </a:r>
                    </a:p>
                    <a:p>
                      <a:r>
                        <a:rPr sz="1725" b="1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 4 周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11.24—12.21</a:t>
                      </a:r>
                    </a:p>
                    <a:p>
                      <a:r>
                        <a:rPr sz="1725" b="1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 4 周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12.22—01.18</a:t>
                      </a:r>
                    </a:p>
                    <a:p>
                      <a:r>
                        <a:rPr sz="1725" b="1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 4 周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2027 年 1 月起</a:t>
                      </a:r>
                    </a:p>
                    <a:p>
                      <a:r>
                        <a:rPr sz="1725" b="1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按工厂确认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</a:tr>
              <a:tr h="1123950"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翻译笔独立使用测试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大屏方案与 5–10 台样机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家庭试用与公益对接，同步视频与意向测试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定价、渠道准备与小规模预售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试产验证后下单；分批质检与发货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</a:tr>
              <a:tr h="1143000"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69736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阶段成果</a:t>
                      </a:r>
                    </a:p>
                    <a:p>
                      <a:r>
                        <a:rPr sz="1425" b="0">
                          <a:solidFill>
                            <a:srgbClr val="69736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核心流程可重复；主要问题有记录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69736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阶段成果</a:t>
                      </a:r>
                    </a:p>
                    <a:p>
                      <a:r>
                        <a:rPr sz="1425" b="0">
                          <a:solidFill>
                            <a:srgbClr val="69736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可交给他人使用；初步成本清楚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69736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阶段成果</a:t>
                      </a:r>
                    </a:p>
                    <a:p>
                      <a:r>
                        <a:rPr sz="1425" b="0">
                          <a:solidFill>
                            <a:srgbClr val="69736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有实际使用反馈和可追踪需求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69736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阶段成果</a:t>
                      </a:r>
                    </a:p>
                    <a:p>
                      <a:r>
                        <a:rPr sz="1425" b="0">
                          <a:solidFill>
                            <a:srgbClr val="69736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样机、交期、退款与现金测算明确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0" tIns="76200" rIns="17145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69736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阶段成果</a:t>
                      </a:r>
                    </a:p>
                    <a:p>
                      <a:r>
                        <a:rPr sz="1425" b="0">
                          <a:solidFill>
                            <a:srgbClr val="69736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生产资金落实；试产与交付检查通过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CEEF99C-78C3-439E-8320-108F56FA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04 / 13</a:t>
            </a:r>
          </a:p>
        </p:txBody>
      </p:sp>
      <p:sp>
        <p:nvSpPr>
          <p:cNvPr id="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222DA291-1DCA-4E6E-8BD5-0A6893F4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7" name="source-U3">
            <a:extLst xmlns:a="http://schemas.openxmlformats.org/drawingml/2006/main">
              <a:ext uri="{FF2B5EF4-FFF2-40B4-BE49-F238E27FC236}">
                <a16:creationId xmlns:a16="http://schemas.microsoft.com/office/drawing/2014/main" id="{43A512E8-252A-4D0B-8F7D-D886DF64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C55CA233-3808-4CD2-873B-781B4BB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视频记录与海外意向测试可并行开展，生产交期结合工程进度和工厂排期确认。</a:t>
            </a:r>
          </a:p>
        </p:txBody>
      </p:sp>
    </p:spTree>
    <p:extLst>
      <p:ext uri="{BB962C8B-B14F-4D97-AF65-F5344CB8AC3E}">
        <p14:creationId xmlns:p14="http://schemas.microsoft.com/office/powerpoint/2010/main" val="1514220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">
            <a:extLst xmlns:a="http://schemas.openxmlformats.org/drawingml/2006/main">
              <a:ext uri="{FF2B5EF4-FFF2-40B4-BE49-F238E27FC236}">
                <a16:creationId xmlns:a16="http://schemas.microsoft.com/office/drawing/2014/main" id="{07670878-E535-4A26-B70F-80FC838B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市场进入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87229F-27B7-4C7F-9EA1-B644665E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国内预售路径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9FA30BFF-6CC1-45AF-B3B5-8B7A5DF0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以内容和试用积累意向，以付费订单评估首批生产规模。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B9756C9B-BD9F-4680-9EA3-70F2DACF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rPr>
              <a:t>01</a:t>
            </a:r>
          </a:p>
        </p:txBody>
      </p:sp>
      <p:sp>
        <p:nvSpPr>
          <p:cNvPr id="5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79104F04-4E51-40B4-B587-B43D4E05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042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内容与意向</a:t>
            </a:r>
          </a:p>
        </p:txBody>
      </p:sp>
      <p:sp>
        <p:nvSpPr>
          <p:cNvPr id="6" name="step-body-0">
            <a:extLst xmlns:a="http://schemas.openxmlformats.org/drawingml/2006/main">
              <a:ext uri="{FF2B5EF4-FFF2-40B4-BE49-F238E27FC236}">
                <a16:creationId xmlns:a16="http://schemas.microsoft.com/office/drawing/2014/main" id="{062651F8-F15D-4F35-B777-6CDE19F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发布真实演示，收集</a:t>
            </a:r>
          </a:p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使用场景、价格反馈</a:t>
            </a:r>
          </a:p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与购买意向。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E9BA44C4-82E7-4A0B-9DA0-A09FA679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0507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rPr>
              <a:t>02</a:t>
            </a:r>
          </a:p>
        </p:txBody>
      </p:sp>
      <p:sp>
        <p:nvSpPr>
          <p:cNvPr id="8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0F9C93C9-6E96-4183-9128-289F4961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0042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渠道准备</a:t>
            </a:r>
          </a:p>
        </p:txBody>
      </p:sp>
      <p:sp>
        <p:nvSpPr>
          <p:cNvPr id="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98984E4-50D2-4D2E-86D6-8048D6C1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002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评估国内预售平台及</a:t>
            </a:r>
          </a:p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品牌授权店，明确收</a:t>
            </a:r>
          </a:p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款、结算与售后安排。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E81B150B-6CCD-460A-98E3-E26B3CE5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rPr>
              <a:t>03</a:t>
            </a:r>
          </a:p>
        </p:txBody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86BAAB1F-AEB8-45B4-BC1F-A9D1CC0C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小规模预售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7C8E4803-5C49-4F5A-92C1-2F3AF668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在样机、定价和交付</a:t>
            </a:r>
          </a:p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方案明确后，启动限</a:t>
            </a:r>
          </a:p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量预售。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013C12CD-6E74-4C1A-AEA0-997880E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0507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00" b="0">
                <a:solidFill>
                  <a:srgbClr val="ADBAA5"/>
                </a:solidFill>
                <a:latin typeface="Cormorant Garamond"/>
                <a:ea typeface="Cormorant Garamond"/>
                <a:cs typeface="Cormorant Garamond"/>
              </a:rPr>
              <a:t>04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FAE65E30-C171-45FB-B7D9-EFA451D7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0042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生产与交付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C06D7BB7-02FB-490F-B07B-679F9669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1002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依据有效订单和可用</a:t>
            </a:r>
          </a:p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资金安排首批数量，</a:t>
            </a:r>
          </a:p>
          <a:p xmlns:a="http://schemas.openxmlformats.org/drawingml/2006/main">
            <a:pPr>
              <a:def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完成质检与交付。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AC965EAE-10AB-4F23-8BAA-BBD8FA9A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05 / 13</a:t>
            </a:r>
          </a:p>
        </p:txBody>
      </p:sp>
      <p:sp>
        <p:nvSpPr>
          <p:cNvPr id="17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904F8C33-F983-400D-A31A-0C217236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8" name="source-U3">
            <a:extLst xmlns:a="http://schemas.openxmlformats.org/drawingml/2006/main">
              <a:ext uri="{FF2B5EF4-FFF2-40B4-BE49-F238E27FC236}">
                <a16:creationId xmlns:a16="http://schemas.microsoft.com/office/drawing/2014/main" id="{0464A1F1-E914-4BBE-9101-EC492473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D71DDAEB-FF58-42E2-B924-5321D922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预售形成订单与预付款，股权投资按独立的融资安排推进。</a:t>
            </a:r>
          </a:p>
        </p:txBody>
      </p:sp>
    </p:spTree>
    <p:extLst>
      <p:ext uri="{BB962C8B-B14F-4D97-AF65-F5344CB8AC3E}">
        <p14:creationId xmlns:p14="http://schemas.microsoft.com/office/powerpoint/2010/main" val="61736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4DAB2E55-DF90-4ACF-8142-E78779C3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市场进入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0ED410-3DC3-47A0-ACDB-AF677978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公益采购与试点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C02E0F97-BE7E-4EE5-AE92-367CC4EB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由公益资金方或企业采购设备，合作组织协助定向赠送与服务。</a:t>
            </a:r>
          </a:p>
        </p:txBody>
      </p:sp>
      <p:sp>
        <p:nvSpPr>
          <p:cNvPr id="4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1D823BF-089A-4A71-AF27-B952EE86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实施方式</a:t>
            </a:r>
          </a:p>
        </p:txBody>
      </p:sp>
      <p:sp>
        <p:nvSpPr>
          <p:cNvPr id="5" name="col-0-0">
            <a:extLst xmlns:a="http://schemas.openxmlformats.org/drawingml/2006/main">
              <a:ext uri="{FF2B5EF4-FFF2-40B4-BE49-F238E27FC236}">
                <a16:creationId xmlns:a16="http://schemas.microsoft.com/office/drawing/2014/main" id="{17735E44-AD74-4B81-AB50-64B5EE6A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对接公益机构、企业公益项目或社区。</a:t>
            </a:r>
          </a:p>
        </p:txBody>
      </p:sp>
      <p:sp>
        <p:nvSpPr>
          <p:cNvPr id="6" name="col-0-1">
            <a:extLst xmlns:a="http://schemas.openxmlformats.org/drawingml/2006/main">
              <a:ext uri="{FF2B5EF4-FFF2-40B4-BE49-F238E27FC236}">
                <a16:creationId xmlns:a16="http://schemas.microsoft.com/office/drawing/2014/main" id="{CB208491-EA04-4A24-9493-437F2869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按约定成本核算设备、安装和服务，由资金</a:t>
            </a:r>
          </a:p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方承担采购。</a:t>
            </a:r>
          </a:p>
        </p:txBody>
      </p:sp>
      <p:sp>
        <p:nvSpPr>
          <p:cNvPr id="7" name="col-0-2">
            <a:extLst xmlns:a="http://schemas.openxmlformats.org/drawingml/2006/main">
              <a:ext uri="{FF2B5EF4-FFF2-40B4-BE49-F238E27FC236}">
                <a16:creationId xmlns:a16="http://schemas.microsoft.com/office/drawing/2014/main" id="{4A084DE6-2A1D-4E3C-A2A7-A27744E6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团队交付设备，合作组织协调受赠与使用支</a:t>
            </a:r>
          </a:p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持。</a:t>
            </a:r>
          </a:p>
        </p:txBody>
      </p:sp>
      <p:sp>
        <p:nvSpPr>
          <p:cNvPr id="8" name="col-title-1">
            <a:extLst xmlns:a="http://schemas.openxmlformats.org/drawingml/2006/main">
              <a:ext uri="{FF2B5EF4-FFF2-40B4-BE49-F238E27FC236}">
                <a16:creationId xmlns:a16="http://schemas.microsoft.com/office/drawing/2014/main" id="{06F4645A-4720-40E6-87C3-CB936F78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43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预期成果</a:t>
            </a:r>
          </a:p>
        </p:txBody>
      </p:sp>
      <p:sp>
        <p:nvSpPr>
          <p:cNvPr id="9" name="col-1-0">
            <a:extLst xmlns:a="http://schemas.openxmlformats.org/drawingml/2006/main">
              <a:ext uri="{FF2B5EF4-FFF2-40B4-BE49-F238E27FC236}">
                <a16:creationId xmlns:a16="http://schemas.microsoft.com/office/drawing/2014/main" id="{A50F80F2-617C-4C08-979F-8B842206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2895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了解真实家庭的观看、讲述和沟通体验。</a:t>
            </a:r>
          </a:p>
        </p:txBody>
      </p:sp>
      <p:sp>
        <p:nvSpPr>
          <p:cNvPr id="10" name="col-1-1">
            <a:extLst xmlns:a="http://schemas.openxmlformats.org/drawingml/2006/main">
              <a:ext uri="{FF2B5EF4-FFF2-40B4-BE49-F238E27FC236}">
                <a16:creationId xmlns:a16="http://schemas.microsoft.com/office/drawing/2014/main" id="{E2EE59D2-E01E-49DA-A767-B1F056A4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95725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经参与者同意，形成可复用的案例与演示内</a:t>
            </a:r>
          </a:p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容。</a:t>
            </a:r>
          </a:p>
        </p:txBody>
      </p:sp>
      <p:sp>
        <p:nvSpPr>
          <p:cNvPr id="11" name="col-1-2">
            <a:extLst xmlns:a="http://schemas.openxmlformats.org/drawingml/2006/main">
              <a:ext uri="{FF2B5EF4-FFF2-40B4-BE49-F238E27FC236}">
                <a16:creationId xmlns:a16="http://schemas.microsoft.com/office/drawing/2014/main" id="{7D0EC583-2E8B-4357-937F-1A12BF97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6250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以使用反馈评估产品价值，以服务记录完善</a:t>
            </a:r>
          </a:p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交付方案。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B61C0526-F7E0-4AA0-8EE1-72B35861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06 / 13</a:t>
            </a:r>
          </a:p>
        </p:txBody>
      </p:sp>
      <p:sp>
        <p:nvSpPr>
          <p:cNvPr id="13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EF1620D8-024F-4E4A-A8FC-E98D170A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4" name="source-U3">
            <a:extLst xmlns:a="http://schemas.openxmlformats.org/drawingml/2006/main">
              <a:ext uri="{FF2B5EF4-FFF2-40B4-BE49-F238E27FC236}">
                <a16:creationId xmlns:a16="http://schemas.microsoft.com/office/drawing/2014/main" id="{0D58783A-12DF-4526-BB29-3DECDF78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E1DD0D50-1F90-414A-9A40-D7D1C906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机构采购与消费者自费订单分别统计，合作名称及背书按协议使用。</a:t>
            </a:r>
          </a:p>
        </p:txBody>
      </p:sp>
    </p:spTree>
    <p:extLst>
      <p:ext uri="{BB962C8B-B14F-4D97-AF65-F5344CB8AC3E}">
        <p14:creationId xmlns:p14="http://schemas.microsoft.com/office/powerpoint/2010/main" val="1506449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3639D0D3-EB41-49FE-BA4D-F3B357E2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市场进入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6D4227-384F-4A19-BB96-43CDF53B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海外需求验证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5DEC8463-A471-49DD-A35F-37C1F2DA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选择团队能够触达的市场，先用小规模测试评估需求。</a:t>
            </a:r>
          </a:p>
        </p:txBody>
      </p:sp>
      <p:sp>
        <p:nvSpPr>
          <p:cNvPr id="4" name="col-title-0">
            <a:extLst xmlns:a="http://schemas.openxmlformats.org/drawingml/2006/main">
              <a:ext uri="{FF2B5EF4-FFF2-40B4-BE49-F238E27FC236}">
                <a16:creationId xmlns:a16="http://schemas.microsoft.com/office/drawing/2014/main" id="{612E28EF-803A-4137-B0D4-0464AB51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477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4775E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B4775E"/>
                </a:solidFill>
                <a:latin typeface="Noto Sans SC"/>
                <a:ea typeface="Noto Sans SC"/>
                <a:cs typeface="Noto Sans SC"/>
              </a:rPr>
              <a:t>需求测试</a:t>
            </a:r>
          </a:p>
        </p:txBody>
      </p:sp>
      <p:sp>
        <p:nvSpPr>
          <p:cNvPr id="5" name="col-0-0">
            <a:extLst xmlns:a="http://schemas.openxmlformats.org/drawingml/2006/main">
              <a:ext uri="{FF2B5EF4-FFF2-40B4-BE49-F238E27FC236}">
                <a16:creationId xmlns:a16="http://schemas.microsoft.com/office/drawing/2014/main" id="{375FBCFF-8DB0-4F3B-A0D4-6296F306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制作目标语言的产品演示。</a:t>
            </a:r>
          </a:p>
        </p:txBody>
      </p:sp>
      <p:sp>
        <p:nvSpPr>
          <p:cNvPr id="6" name="col-0-1">
            <a:extLst xmlns:a="http://schemas.openxmlformats.org/drawingml/2006/main">
              <a:ext uri="{FF2B5EF4-FFF2-40B4-BE49-F238E27FC236}">
                <a16:creationId xmlns:a16="http://schemas.microsoft.com/office/drawing/2014/main" id="{01229232-F63D-45F8-BFF4-EBF91D0A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建立意向页，记录咨询、使用场景与价格反</a:t>
            </a:r>
          </a:p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馈。</a:t>
            </a:r>
          </a:p>
        </p:txBody>
      </p:sp>
      <p:sp>
        <p:nvSpPr>
          <p:cNvPr id="7" name="col-0-2">
            <a:extLst xmlns:a="http://schemas.openxmlformats.org/drawingml/2006/main">
              <a:ext uri="{FF2B5EF4-FFF2-40B4-BE49-F238E27FC236}">
                <a16:creationId xmlns:a16="http://schemas.microsoft.com/office/drawing/2014/main" id="{D597EF70-8AB7-418B-81A3-2EA757C2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优先安排能够直接支持的家庭试用。</a:t>
            </a:r>
          </a:p>
        </p:txBody>
      </p:sp>
      <p:sp>
        <p:nvSpPr>
          <p:cNvPr id="8" name="col-title-1">
            <a:extLst xmlns:a="http://schemas.openxmlformats.org/drawingml/2006/main">
              <a:ext uri="{FF2B5EF4-FFF2-40B4-BE49-F238E27FC236}">
                <a16:creationId xmlns:a16="http://schemas.microsoft.com/office/drawing/2014/main" id="{C1A28B13-E234-4FF9-973D-E926B105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43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477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4775E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B4775E"/>
                </a:solidFill>
                <a:latin typeface="Noto Sans SC"/>
                <a:ea typeface="Noto Sans SC"/>
                <a:cs typeface="Noto Sans SC"/>
              </a:rPr>
              <a:t>商业化准备</a:t>
            </a:r>
          </a:p>
        </p:txBody>
      </p:sp>
      <p:sp>
        <p:nvSpPr>
          <p:cNvPr id="9" name="col-1-0">
            <a:extLst xmlns:a="http://schemas.openxmlformats.org/drawingml/2006/main">
              <a:ext uri="{FF2B5EF4-FFF2-40B4-BE49-F238E27FC236}">
                <a16:creationId xmlns:a16="http://schemas.microsoft.com/office/drawing/2014/main" id="{AF4F90AF-676D-4DD1-BBC1-246423A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2895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核算物流、税费、支付与售后成本。</a:t>
            </a:r>
          </a:p>
        </p:txBody>
      </p:sp>
      <p:sp>
        <p:nvSpPr>
          <p:cNvPr id="10" name="col-1-1">
            <a:extLst xmlns:a="http://schemas.openxmlformats.org/drawingml/2006/main">
              <a:ext uri="{FF2B5EF4-FFF2-40B4-BE49-F238E27FC236}">
                <a16:creationId xmlns:a16="http://schemas.microsoft.com/office/drawing/2014/main" id="{8D2BC7BA-65D2-4DAB-AAD1-C117BA9A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95725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确认当地产品要求与服务方式。</a:t>
            </a:r>
          </a:p>
        </p:txBody>
      </p:sp>
      <p:sp>
        <p:nvSpPr>
          <p:cNvPr id="11" name="col-1-2">
            <a:extLst xmlns:a="http://schemas.openxmlformats.org/drawingml/2006/main">
              <a:ext uri="{FF2B5EF4-FFF2-40B4-BE49-F238E27FC236}">
                <a16:creationId xmlns:a16="http://schemas.microsoft.com/office/drawing/2014/main" id="{E46B2B36-2101-4008-ADDB-677AB39E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6250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结合国内验证结果，评估当地渠道和预售方</a:t>
            </a:r>
          </a:p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案。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15396B9B-2737-4320-B47C-2AC38F12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07 / 13</a:t>
            </a:r>
          </a:p>
        </p:txBody>
      </p:sp>
      <p:sp>
        <p:nvSpPr>
          <p:cNvPr id="13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DE63A042-97FE-4AC0-ACF1-C95EEDAE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4" name="source-U3">
            <a:extLst xmlns:a="http://schemas.openxmlformats.org/drawingml/2006/main">
              <a:ext uri="{FF2B5EF4-FFF2-40B4-BE49-F238E27FC236}">
                <a16:creationId xmlns:a16="http://schemas.microsoft.com/office/drawing/2014/main" id="{BA3C82DA-FD1A-4F0B-B84A-A18F8849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F33A1290-6464-4735-8032-6C5033C5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先形成目标市场的需求证据，再确定投入规模与上线安排。</a:t>
            </a:r>
          </a:p>
        </p:txBody>
      </p:sp>
    </p:spTree>
    <p:extLst>
      <p:ext uri="{BB962C8B-B14F-4D97-AF65-F5344CB8AC3E}">
        <p14:creationId xmlns:p14="http://schemas.microsoft.com/office/powerpoint/2010/main" val="1799144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10535390-B7D4-4BBD-B597-F18745BB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合作路径 · 3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D76F4D-E2A5-48A6-865E-95F12ADA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合作模式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B7BB6A08-3768-4C23-8932-1128E197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不同资源对应不同合作方式，按阶段约定投入与成果。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70E42-A6DE-42B3-AF9E-67C296AA32A7}"/>
              </a:ext>
            </a:extLst>
          </p:cNvPr>
          <p:cNvGraphicFramePr/>
          <p:nvPr/>
        </p:nvGraphicFramePr>
        <p:xfrm>
          <a:off xmlns:a="http://schemas.openxmlformats.org/drawingml/2006/main" x="571500" y="2152650"/>
          <a:ext xmlns:a="http://schemas.openxmlformats.org/drawingml/2006/main" cx="11049000" cy="3543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4400550"/>
                <a:gridCol w="4600575"/>
              </a:tblGrid>
              <a:tr h="419100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6F826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合作方式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6F826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支持内容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6F826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团队工作与阶段成果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81050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产品共创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工程资源、硬件方案与样机经费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产品体验与试用验证，形成样机及成本依据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81050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孵化支持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设备、场地、试点经费与创业辅导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按里程碑推进验证，建立持续运营能力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81050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渠道合作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销售渠道、品牌授权与推广资源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配套产品和服务，形成订单及交付记录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81050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股权投资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与阶段目标相匹配的资金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按约定计划研发和拓展，定期报告经营进展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D8F7503-6188-4CD4-96E5-7B1182C6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08 / 13</a:t>
            </a:r>
          </a:p>
        </p:txBody>
      </p:sp>
      <p:sp>
        <p:nvSpPr>
          <p:cNvPr id="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965D763D-AC98-4297-8B9D-1A35765C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7" name="source-U3">
            <a:extLst xmlns:a="http://schemas.openxmlformats.org/drawingml/2006/main">
              <a:ext uri="{FF2B5EF4-FFF2-40B4-BE49-F238E27FC236}">
                <a16:creationId xmlns:a16="http://schemas.microsoft.com/office/drawing/2014/main" id="{2B38A134-C67C-44DA-BD36-16A0AB5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9B16B365-573F-4407-B19A-F7CE01C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合作方可参与新场景验证，具体权益、品牌与知识产权安排另行约定。</a:t>
            </a:r>
          </a:p>
        </p:txBody>
      </p:sp>
    </p:spTree>
    <p:extLst>
      <p:ext uri="{BB962C8B-B14F-4D97-AF65-F5344CB8AC3E}">
        <p14:creationId xmlns:p14="http://schemas.microsoft.com/office/powerpoint/2010/main" val="12693549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CA2BD8C6-0A35-41B2-BD9E-776B667D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产品化安排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2FB4446-DFA9-4F0A-AC13-8064430A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工程支持与量产衔接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A7D2EBE4-803F-4F29-9284-AC3F96B8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获得设计或开模支持后，可推进试产准备，并同步落实生产与服务安排。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F0031-3540-4958-8228-849D736E4931}"/>
              </a:ext>
            </a:extLst>
          </p:cNvPr>
          <p:cNvGraphicFramePr/>
          <p:nvPr/>
        </p:nvGraphicFramePr>
        <p:xfrm>
          <a:off xmlns:a="http://schemas.openxmlformats.org/drawingml/2006/main" x="571500" y="2152650"/>
          <a:ext xmlns:a="http://schemas.openxmlformats.org/drawingml/2006/main" cx="11049000" cy="3543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4400550"/>
                <a:gridCol w="4600575"/>
              </a:tblGrid>
              <a:tr h="419100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6F826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工作环节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6F826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需要明确的内容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6F826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预期形成的成果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81050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设计与模具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模具费用、所有权、修改与使用范围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通过评审的设计与明确的模具安排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81050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工厂与货款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供应商、起订量、付款节点和质检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可执行的试产计划与付款计划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81050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渠道与订单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授权范围、收款、平台结算与退款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明确的交易主体与订单规则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81050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交付与售后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物流、退换、维修与持续服务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服务负责人及相应预算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C6EE5A7-CBDF-4597-8D7E-BC00C16B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09 / 13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D359526C-4848-4B2A-AFF5-9B7DA7BE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工程支持、首批生产与售后资金按环节核算，并对应明确的责任主体。</a:t>
            </a:r>
          </a:p>
        </p:txBody>
      </p:sp>
    </p:spTree>
    <p:extLst>
      <p:ext uri="{BB962C8B-B14F-4D97-AF65-F5344CB8AC3E}">
        <p14:creationId xmlns:p14="http://schemas.microsoft.com/office/powerpoint/2010/main" val="16905854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F19A7038-516F-4686-A387-77C9EB43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资金与融资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77A911-DC5B-4B50-B7B5-E55C9C3F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阶段资金安排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7974529B-C29D-4761-971F-FAC5A7F9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资金与里程碑相匹配，按实际付款节点测算需求。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1443063C-3227-448B-91EA-45469E4D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样机验证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8704D07F-BBAA-4E4A-A987-B8621684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05050"/>
            <a:ext cx="919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结合已有预算、共创经费或孵化支持，覆盖小批样机。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B9A33F34-BC1C-440A-BF3E-FE91435C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家庭试点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7B2D0FFA-61A6-4DDC-B32F-0FCCC803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24200"/>
            <a:ext cx="919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采购或试点经费覆盖约定设备与服务，形成使用和成本记录。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AB58CEDB-C8F0-4792-B675-2D129D3F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预售交付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39D9EBA4-1B25-45F5-82D1-166324A5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43350"/>
            <a:ext cx="919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计入可支取的预售净款，单列平台费用、退款准备和交付成本。</a:t>
            </a:r>
          </a:p>
        </p:txBody>
      </p:sp>
      <p:sp>
        <p:nvSpPr>
          <p:cNvPr id="10" name="label-3">
            <a:extLst xmlns:a="http://schemas.openxmlformats.org/drawingml/2006/main">
              <a:ext uri="{FF2B5EF4-FFF2-40B4-BE49-F238E27FC236}">
                <a16:creationId xmlns:a16="http://schemas.microsoft.com/office/drawing/2014/main" id="{CA54EB70-BB98-43CB-B205-71C10298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后续融资</a:t>
            </a:r>
          </a:p>
        </p:txBody>
      </p:sp>
      <p:sp>
        <p:nvSpPr>
          <p:cNvPr id="11" name="body-3">
            <a:extLst xmlns:a="http://schemas.openxmlformats.org/drawingml/2006/main">
              <a:ext uri="{FF2B5EF4-FFF2-40B4-BE49-F238E27FC236}">
                <a16:creationId xmlns:a16="http://schemas.microsoft.com/office/drawing/2014/main" id="{7074FAED-EDCC-4B0C-9101-E106F6A7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62500"/>
            <a:ext cx="919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结合产品、试用与初步订单信号，评估融资规模及资金用途。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DD36639D-976D-49E8-A982-5A0D36D2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10 / 13</a:t>
            </a:r>
          </a:p>
        </p:txBody>
      </p:sp>
      <p:sp>
        <p:nvSpPr>
          <p:cNvPr id="13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E831773B-CB12-4F63-BF48-C85A7E56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4" name="source-U3">
            <a:extLst xmlns:a="http://schemas.openxmlformats.org/drawingml/2006/main">
              <a:ext uri="{FF2B5EF4-FFF2-40B4-BE49-F238E27FC236}">
                <a16:creationId xmlns:a16="http://schemas.microsoft.com/office/drawing/2014/main" id="{89CA4EB2-CE7B-44D2-B76D-FB76C4FC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1B3EAE6C-D1FD-492C-9EAA-122CBCF4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阶段支出减去已落实支持及可支取订单资金，得到需要补足的资金。</a:t>
            </a:r>
          </a:p>
        </p:txBody>
      </p:sp>
    </p:spTree>
    <p:extLst>
      <p:ext uri="{BB962C8B-B14F-4D97-AF65-F5344CB8AC3E}">
        <p14:creationId xmlns:p14="http://schemas.microsoft.com/office/powerpoint/2010/main" val="684550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B2637E36-8DE8-4C21-B463-ABDE26EB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合作价值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1E3214-33ED-4CA6-A412-275BE34E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资源支持与阶段成果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930967E5-291D-41DF-B29A-63D4FAA1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支持投入转化为可检查的产品、市场与经营成果。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6F022-6BDA-4FBE-BF22-00C56BB1E01A}"/>
              </a:ext>
            </a:extLst>
          </p:cNvPr>
          <p:cNvGraphicFramePr/>
          <p:nvPr/>
        </p:nvGraphicFramePr>
        <p:xfrm>
          <a:off xmlns:a="http://schemas.openxmlformats.org/drawingml/2006/main" x="571500" y="2228850"/>
          <a:ext xmlns:a="http://schemas.openxmlformats.org/drawingml/2006/main" cx="11049000" cy="3419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09800"/>
                <a:gridCol w="3381375"/>
                <a:gridCol w="5457825"/>
              </a:tblGrid>
              <a:tr h="409575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6F826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支持投入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6F826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可推进的工作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6F826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预期形成的成果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52475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工程资源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大屏样机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器件方案、成本依据与稳定性记录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52475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试点资源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真实家庭使用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体验反馈与服务案例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52475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渠道资源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预售与销售测试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购买意愿、订单与交付数据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7620">
                      <a:solidFill>
                        <a:srgbClr val="D8D9CE"/>
                      </a:solidFill>
                    </a:lnB>
                    <a:solidFill>
                      <a:srgbClr val="FAF8F3"/>
                    </a:solidFill>
                  </a:tcPr>
                </a:tc>
              </a:tr>
              <a:tr h="752475">
                <a:tc>
                  <a:txBody>
                    <a:bodyPr wrap="square" lIns="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阶段资金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研发与试产计划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wrap="square" lIns="152400" tIns="76200" rIns="1524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3F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下一轮投入的评估依据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5BB133C-2588-43E2-9102-A1A389FB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11 / 13</a:t>
            </a:r>
          </a:p>
        </p:txBody>
      </p:sp>
      <p:sp>
        <p:nvSpPr>
          <p:cNvPr id="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98881031-C156-41EC-A9BA-8A76574D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7" name="source-U3">
            <a:extLst xmlns:a="http://schemas.openxmlformats.org/drawingml/2006/main">
              <a:ext uri="{FF2B5EF4-FFF2-40B4-BE49-F238E27FC236}">
                <a16:creationId xmlns:a16="http://schemas.microsoft.com/office/drawing/2014/main" id="{35664A78-59E1-4815-BC34-E4F36B0C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579B79E3-E6D1-4685-8C4A-52DDD2F4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产业伙伴获得新使用场景的验证机会，投资人获得更清晰的阶段进展与决策依据。</a:t>
            </a:r>
          </a:p>
        </p:txBody>
      </p:sp>
    </p:spTree>
    <p:extLst>
      <p:ext uri="{BB962C8B-B14F-4D97-AF65-F5344CB8AC3E}">
        <p14:creationId xmlns:p14="http://schemas.microsoft.com/office/powerpoint/2010/main" val="15966792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9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15BEC63C-0E9F-46B2-980E-49F6AA10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共同讨论 · 6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CF1EF6-7E0A-4B0B-B08C-45296C06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下一阶段的合作议题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43CE6257-836A-4538-A3DD-E2BF803E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围绕当前资源与阶段目标，确定双方可以推进的工作。</a:t>
            </a:r>
          </a:p>
        </p:txBody>
      </p:sp>
      <p:sp>
        <p:nvSpPr>
          <p:cNvPr id="4" name="discussion-title-0">
            <a:extLst xmlns:a="http://schemas.openxmlformats.org/drawingml/2006/main">
              <a:ext uri="{FF2B5EF4-FFF2-40B4-BE49-F238E27FC236}">
                <a16:creationId xmlns:a16="http://schemas.microsoft.com/office/drawing/2014/main" id="{D0D54222-E288-4119-8831-E53DF104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合作方式</a:t>
            </a:r>
          </a:p>
        </p:txBody>
      </p:sp>
      <p:sp>
        <p:nvSpPr>
          <p:cNvPr id="5" name="discussion-body-0">
            <a:extLst xmlns:a="http://schemas.openxmlformats.org/drawingml/2006/main">
              <a:ext uri="{FF2B5EF4-FFF2-40B4-BE49-F238E27FC236}">
                <a16:creationId xmlns:a16="http://schemas.microsoft.com/office/drawing/2014/main" id="{96A7CCC8-C837-441A-825C-10BDCFA2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优先采用产品共创、孵化、渠道合作或投资</a:t>
            </a:r>
          </a:p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中的哪种方式？</a:t>
            </a:r>
          </a:p>
        </p:txBody>
      </p:sp>
      <p:sp>
        <p:nvSpPr>
          <p:cNvPr id="6" name="discussion-title-1">
            <a:extLst xmlns:a="http://schemas.openxmlformats.org/drawingml/2006/main">
              <a:ext uri="{FF2B5EF4-FFF2-40B4-BE49-F238E27FC236}">
                <a16:creationId xmlns:a16="http://schemas.microsoft.com/office/drawing/2014/main" id="{424410FF-FC42-47B3-84CD-4E665EE5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145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工作范围</a:t>
            </a:r>
          </a:p>
        </p:txBody>
      </p:sp>
      <p:sp>
        <p:nvSpPr>
          <p:cNvPr id="7" name="discussion-body-1">
            <a:extLst xmlns:a="http://schemas.openxmlformats.org/drawingml/2006/main">
              <a:ext uri="{FF2B5EF4-FFF2-40B4-BE49-F238E27FC236}">
                <a16:creationId xmlns:a16="http://schemas.microsoft.com/office/drawing/2014/main" id="{B70812DF-1797-4819-81DA-CB913B20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765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首批样机的数量、核心体验与试用范围如何</a:t>
            </a:r>
          </a:p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确定？</a:t>
            </a:r>
          </a:p>
        </p:txBody>
      </p:sp>
      <p:sp>
        <p:nvSpPr>
          <p:cNvPr id="8" name="discussion-title-2">
            <a:extLst xmlns:a="http://schemas.openxmlformats.org/drawingml/2006/main">
              <a:ext uri="{FF2B5EF4-FFF2-40B4-BE49-F238E27FC236}">
                <a16:creationId xmlns:a16="http://schemas.microsoft.com/office/drawing/2014/main" id="{87643C6A-73F0-4F22-A2DC-A86777C7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投入安排</a:t>
            </a:r>
          </a:p>
        </p:txBody>
      </p:sp>
      <p:sp>
        <p:nvSpPr>
          <p:cNvPr id="9" name="discussion-body-2">
            <a:extLst xmlns:a="http://schemas.openxmlformats.org/drawingml/2006/main">
              <a:ext uri="{FF2B5EF4-FFF2-40B4-BE49-F238E27FC236}">
                <a16:creationId xmlns:a16="http://schemas.microsoft.com/office/drawing/2014/main" id="{503F52F8-309B-4399-9AE4-394CB384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62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工程、试点、生产与服务需要哪些资源，分</a:t>
            </a:r>
          </a:p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别如何落实？</a:t>
            </a:r>
          </a:p>
        </p:txBody>
      </p:sp>
      <p:sp>
        <p:nvSpPr>
          <p:cNvPr id="10" name="discussion-title-3">
            <a:extLst xmlns:a="http://schemas.openxmlformats.org/drawingml/2006/main">
              <a:ext uri="{FF2B5EF4-FFF2-40B4-BE49-F238E27FC236}">
                <a16:creationId xmlns:a16="http://schemas.microsoft.com/office/drawing/2014/main" id="{7872A276-3504-4498-BBD1-92F7978F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00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评估节点</a:t>
            </a:r>
          </a:p>
        </p:txBody>
      </p:sp>
      <p:sp>
        <p:nvSpPr>
          <p:cNvPr id="11" name="discussion-body-3">
            <a:extLst xmlns:a="http://schemas.openxmlformats.org/drawingml/2006/main">
              <a:ext uri="{FF2B5EF4-FFF2-40B4-BE49-F238E27FC236}">
                <a16:creationId xmlns:a16="http://schemas.microsoft.com/office/drawing/2014/main" id="{C59FDA57-8CF6-40CF-859E-E0E28893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62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以哪些使用、成本和订单记录评估进展，何</a:t>
            </a:r>
          </a:p>
          <a:p xmlns:a="http://schemas.openxmlformats.org/drawingml/2006/main">
            <a:pPr>
              <a:def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时再次讨论？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15E9CDAD-5E1F-4332-9CB7-170C95E9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12 / 13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7ADB7442-74AB-4CBB-BDC5-0FF2D65D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下一步以明确的工作范围、负责人和评估时间推进。</a:t>
            </a:r>
          </a:p>
        </p:txBody>
      </p:sp>
    </p:spTree>
    <p:extLst>
      <p:ext uri="{BB962C8B-B14F-4D97-AF65-F5344CB8AC3E}">
        <p14:creationId xmlns:p14="http://schemas.microsoft.com/office/powerpoint/2010/main" val="13925292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E63126A1-0084-4CB7-8348-91859DA8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参考资料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2AAE19-7642-40FD-8627-1F46D092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资料来源与规划依据</a:t>
            </a:r>
          </a:p>
        </p:txBody>
      </p:sp>
      <p:sp>
        <p:nvSpPr>
          <p:cNvPr id="3" name="source-key-A1">
            <a:extLst xmlns:a="http://schemas.openxmlformats.org/drawingml/2006/main">
              <a:ext uri="{FF2B5EF4-FFF2-40B4-BE49-F238E27FC236}">
                <a16:creationId xmlns:a16="http://schemas.microsoft.com/office/drawing/2014/main" id="{73F77C3A-B737-428F-8622-91C233B8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A1</a:t>
            </a:r>
          </a:p>
        </p:txBody>
      </p:sp>
      <p:sp>
        <p:nvSpPr>
          <p:cNvPr id="4" name="source-title-A1">
            <a:extLst xmlns:a="http://schemas.openxmlformats.org/drawingml/2006/main">
              <a:ext uri="{FF2B5EF4-FFF2-40B4-BE49-F238E27FC236}">
                <a16:creationId xmlns:a16="http://schemas.microsoft.com/office/drawing/2014/main" id="{B47188A6-A4EC-44BC-ADE8-29FF983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9775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c75c6d5c0d534edd"/>
              </a:rPr>
              <a:t>影石 Bold Maker 挑战赛收官报道 ↗</a:t>
            </a:r>
          </a:p>
        </p:txBody>
      </p:sp>
      <p:sp>
        <p:nvSpPr>
          <p:cNvPr id="5" name="source-meta-A1">
            <a:extLst xmlns:a="http://schemas.openxmlformats.org/drawingml/2006/main">
              <a:ext uri="{FF2B5EF4-FFF2-40B4-BE49-F238E27FC236}">
                <a16:creationId xmlns:a16="http://schemas.microsoft.com/office/drawing/2014/main" id="{4F333B96-5777-4098-B6D6-E0F2B717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2026-09-26 发布 · 正文：9 月 24 日颁奖典礼；孵化与赛事支持段</a:t>
            </a:r>
          </a:p>
        </p:txBody>
      </p:sp>
      <p:sp>
        <p:nvSpPr>
          <p:cNvPr id="6" name="source-summary-A1">
            <a:extLst xmlns:a="http://schemas.openxmlformats.org/drawingml/2006/main">
              <a:ext uri="{FF2B5EF4-FFF2-40B4-BE49-F238E27FC236}">
                <a16:creationId xmlns:a16="http://schemas.microsoft.com/office/drawing/2014/main" id="{157CCFAA-08E6-4C01-92AD-13D50032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核实颁奖日期为 2026-09-24。报道介绍孵化、技术验证</a:t>
            </a:r>
          </a:p>
          <a:p xmlns:a="http://schemas.openxmlformats.org/drawingml/2006/main">
            <a: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与落地支持；具体可申请项目及资格仍需确认。</a:t>
            </a:r>
          </a:p>
        </p:txBody>
      </p:sp>
      <p:sp>
        <p:nvSpPr>
          <p:cNvPr id="7" name="source-key-P2">
            <a:extLst xmlns:a="http://schemas.openxmlformats.org/drawingml/2006/main">
              <a:ext uri="{FF2B5EF4-FFF2-40B4-BE49-F238E27FC236}">
                <a16:creationId xmlns:a16="http://schemas.microsoft.com/office/drawing/2014/main" id="{F95F292D-B8D8-4C96-B477-D6CF0249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P2</a:t>
            </a:r>
          </a:p>
        </p:txBody>
      </p:sp>
      <p:sp>
        <p:nvSpPr>
          <p:cNvPr id="8" name="source-title-P2">
            <a:extLst xmlns:a="http://schemas.openxmlformats.org/drawingml/2006/main">
              <a:ext uri="{FF2B5EF4-FFF2-40B4-BE49-F238E27FC236}">
                <a16:creationId xmlns:a16="http://schemas.microsoft.com/office/drawing/2014/main" id="{20C68268-A445-4428-B1DE-0DBB7F8F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9775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项目成果与设备验证记录</a:t>
            </a:r>
          </a:p>
        </p:txBody>
      </p:sp>
      <p:sp>
        <p:nvSpPr>
          <p:cNvPr id="9" name="source-meta-P2">
            <a:extLst xmlns:a="http://schemas.openxmlformats.org/drawingml/2006/main">
              <a:ext uri="{FF2B5EF4-FFF2-40B4-BE49-F238E27FC236}">
                <a16:creationId xmlns:a16="http://schemas.microsoft.com/office/drawing/2014/main" id="{6E6C0680-FA7C-4B72-922F-CDF4202D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28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截至 2026-10-13 · 团队项目记录</a:t>
            </a:r>
          </a:p>
        </p:txBody>
      </p:sp>
      <p:sp>
        <p:nvSpPr>
          <p:cNvPr id="10" name="source-summary-P2">
            <a:extLst xmlns:a="http://schemas.openxmlformats.org/drawingml/2006/main">
              <a:ext uri="{FF2B5EF4-FFF2-40B4-BE49-F238E27FC236}">
                <a16:creationId xmlns:a16="http://schemas.microsoft.com/office/drawing/2014/main" id="{DA0E4406-30BB-4355-BA4A-795376AE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575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影石 AI+社会公益赛道第一名为团队确认成果。当前通过</a:t>
            </a:r>
          </a:p>
          <a:p xmlns:a="http://schemas.openxmlformats.org/drawingml/2006/main">
            <a: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翻译笔开展实体 Demo 验证，持续运行结果待设备测试确</a:t>
            </a:r>
          </a:p>
          <a:p xmlns:a="http://schemas.openxmlformats.org/drawingml/2006/main">
            <a: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认。</a:t>
            </a:r>
          </a:p>
        </p:txBody>
      </p:sp>
      <p:sp>
        <p:nvSpPr>
          <p:cNvPr id="11" name="source-key-D1">
            <a:extLst xmlns:a="http://schemas.openxmlformats.org/drawingml/2006/main">
              <a:ext uri="{FF2B5EF4-FFF2-40B4-BE49-F238E27FC236}">
                <a16:creationId xmlns:a16="http://schemas.microsoft.com/office/drawing/2014/main" id="{8CB70D0C-E95D-457B-9FC0-C0A953F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D1</a:t>
            </a:r>
          </a:p>
        </p:txBody>
      </p:sp>
      <p:sp>
        <p:nvSpPr>
          <p:cNvPr id="12" name="source-title-D1">
            <a:extLst xmlns:a="http://schemas.openxmlformats.org/drawingml/2006/main">
              <a:ext uri="{FF2B5EF4-FFF2-40B4-BE49-F238E27FC236}">
                <a16:creationId xmlns:a16="http://schemas.microsoft.com/office/drawing/2014/main" id="{00E094F1-E3FE-4F3E-9A4D-A5CB7F98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UNSEEN 原有外观与结构方案</a:t>
            </a:r>
          </a:p>
        </p:txBody>
      </p:sp>
      <p:sp>
        <p:nvSpPr>
          <p:cNvPr id="13" name="source-meta-D1">
            <a:extLst xmlns:a="http://schemas.openxmlformats.org/drawingml/2006/main">
              <a:ext uri="{FF2B5EF4-FFF2-40B4-BE49-F238E27FC236}">
                <a16:creationId xmlns:a16="http://schemas.microsoft.com/office/drawing/2014/main" id="{17226A72-9E3D-4406-A6EB-1F1DBF73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434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2026-10-08 · R1 设计评审稿</a:t>
            </a:r>
          </a:p>
        </p:txBody>
      </p:sp>
      <p:sp>
        <p:nvSpPr>
          <p:cNvPr id="14" name="source-summary-D1">
            <a:extLst xmlns:a="http://schemas.openxmlformats.org/drawingml/2006/main">
              <a:ext uri="{FF2B5EF4-FFF2-40B4-BE49-F238E27FC236}">
                <a16:creationId xmlns:a16="http://schemas.microsoft.com/office/drawing/2014/main" id="{D9CEE4B0-77AA-424E-A3C6-85D3B5F3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浅木色外框、暖白后壳、灰绿与陶土红双键。独立相框作</a:t>
            </a:r>
          </a:p>
          <a:p xmlns:a="http://schemas.openxmlformats.org/drawingml/2006/main">
            <a: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为首版方向，灯座构型作为后续备选。图片为设计概念。</a:t>
            </a:r>
          </a:p>
        </p:txBody>
      </p:sp>
      <p:sp>
        <p:nvSpPr>
          <p:cNvPr id="15" name="source-key-U3">
            <a:extLst xmlns:a="http://schemas.openxmlformats.org/drawingml/2006/main">
              <a:ext uri="{FF2B5EF4-FFF2-40B4-BE49-F238E27FC236}">
                <a16:creationId xmlns:a16="http://schemas.microsoft.com/office/drawing/2014/main" id="{00271204-A719-42D1-B1FA-BF2A6B58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16" name="source-title-U3">
            <a:extLst xmlns:a="http://schemas.openxmlformats.org/drawingml/2006/main">
              <a:ext uri="{FF2B5EF4-FFF2-40B4-BE49-F238E27FC236}">
                <a16:creationId xmlns:a16="http://schemas.microsoft.com/office/drawing/2014/main" id="{3558E3E5-44C2-47FF-9E4D-F3E1285C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24300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93F3C"/>
                </a:solidFill>
                <a:latin typeface="Noto Sans SC"/>
                <a:ea typeface="Noto Sans SC"/>
                <a:cs typeface="Noto Sans SC"/>
              </a:rPr>
              <a:t>产品验证与市场规划</a:t>
            </a:r>
          </a:p>
        </p:txBody>
      </p:sp>
      <p:sp>
        <p:nvSpPr>
          <p:cNvPr id="17" name="source-meta-U3">
            <a:extLst xmlns:a="http://schemas.openxmlformats.org/drawingml/2006/main">
              <a:ext uri="{FF2B5EF4-FFF2-40B4-BE49-F238E27FC236}">
                <a16:creationId xmlns:a16="http://schemas.microsoft.com/office/drawing/2014/main" id="{FFCA48B1-9C59-42CB-A51E-6812EF6A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434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2026-10-13 · 团队当前规划</a:t>
            </a:r>
          </a:p>
        </p:txBody>
      </p:sp>
      <p:sp>
        <p:nvSpPr>
          <p:cNvPr id="18" name="source-summary-U3">
            <a:extLst xmlns:a="http://schemas.openxmlformats.org/drawingml/2006/main">
              <a:ext uri="{FF2B5EF4-FFF2-40B4-BE49-F238E27FC236}">
                <a16:creationId xmlns:a16="http://schemas.microsoft.com/office/drawing/2014/main" id="{275BB5F6-AF35-4AD4-8FC1-DCF7147A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720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翻译笔验证、大屏样机、家庭试用、国内预售、公益采购</a:t>
            </a:r>
          </a:p>
          <a:p xmlns:a="http://schemas.openxmlformats.org/drawingml/2006/main">
            <a:pPr>
              <a:def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与海外需求测试。样机数量和排期为讨论方案。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1A626EF1-142C-4EDE-BCE0-2A6F1776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9736A"/>
                </a:solidFill>
                <a:latin typeface="Noto Sans SC"/>
                <a:ea typeface="Noto Sans SC"/>
                <a:cs typeface="Noto Sans SC"/>
              </a:rPr>
              <a:t>13 / 13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CA68D7F-1072-4D41-B465-6A9BE104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F826D"/>
                </a:solidFill>
                <a:latin typeface="Noto Sans SC"/>
                <a:ea typeface="Noto Sans SC"/>
                <a:cs typeface="Noto Sans SC"/>
              </a:rPr>
              <a:t>外观图为设计概念，产品配置、阶段计划与合作安排随验证和协商更新。</a:t>
            </a:r>
          </a:p>
        </p:txBody>
      </p:sp>
    </p:spTree>
    <p:extLst>
      <p:ext uri="{BB962C8B-B14F-4D97-AF65-F5344CB8AC3E}">
        <p14:creationId xmlns:p14="http://schemas.microsoft.com/office/powerpoint/2010/main" val="25953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2026-10-13T01:45:14.3660000Z</dcterms:created>
  <dcterms:modified xsi:type="dcterms:W3CDTF">2026-10-13T01:45:14.3660000Z</dcterms:modified>
</coreProperties>
</file>
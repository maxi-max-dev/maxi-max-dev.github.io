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6436db49444647" /><Relationship Type="http://schemas.openxmlformats.org/officeDocument/2006/relationships/extended-properties" Target="/docProps/app.xml" Id="Rb7c192661d0e4501" /><Relationship Type="http://schemas.openxmlformats.org/officeDocument/2006/relationships/officeDocument" Target="/ppt/presentation.xml" Id="R74fd4b1fbee049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1e9243c5264cf1"/>
  </p:sldMasterIdLst>
  <p:notesMasterIdLst>
    <p:notesMasterId xmlns:r="http://schemas.openxmlformats.org/officeDocument/2006/relationships" r:id="Rb5145b09ce7447d8"/>
  </p:notesMasterIdLst>
  <p:sldIdLst>
    <p:sldId xmlns:r="http://schemas.openxmlformats.org/officeDocument/2006/relationships" id="256" r:id="Redd4676a411049fd"/>
    <p:sldId xmlns:r="http://schemas.openxmlformats.org/officeDocument/2006/relationships" id="257" r:id="Rf0cb04ea7ce94b5f"/>
    <p:sldId xmlns:r="http://schemas.openxmlformats.org/officeDocument/2006/relationships" id="258" r:id="R6586af6f570b4a43"/>
    <p:sldId xmlns:r="http://schemas.openxmlformats.org/officeDocument/2006/relationships" id="259" r:id="Re149d09524da4353"/>
    <p:sldId xmlns:r="http://schemas.openxmlformats.org/officeDocument/2006/relationships" id="260" r:id="Rbfef53cccd4b440d"/>
    <p:sldId xmlns:r="http://schemas.openxmlformats.org/officeDocument/2006/relationships" id="261" r:id="Rb39d6524a69347b2"/>
    <p:sldId xmlns:r="http://schemas.openxmlformats.org/officeDocument/2006/relationships" id="262" r:id="R43fc566d09514307"/>
    <p:sldId xmlns:r="http://schemas.openxmlformats.org/officeDocument/2006/relationships" id="263" r:id="R1ee515ecb0204ff7"/>
    <p:sldId xmlns:r="http://schemas.openxmlformats.org/officeDocument/2006/relationships" id="264" r:id="Rfd2c606378d94f27"/>
    <p:sldId xmlns:r="http://schemas.openxmlformats.org/officeDocument/2006/relationships" id="265" r:id="Re2c73e41e9234f50"/>
    <p:sldId xmlns:r="http://schemas.openxmlformats.org/officeDocument/2006/relationships" id="266" r:id="R9afab322b25f4740"/>
    <p:sldId xmlns:r="http://schemas.openxmlformats.org/officeDocument/2006/relationships" id="267" r:id="Rf6189e28db294a5e"/>
    <p:sldId xmlns:r="http://schemas.openxmlformats.org/officeDocument/2006/relationships" id="268" r:id="Rd7dfa82e273a4330"/>
    <p:sldId xmlns:r="http://schemas.openxmlformats.org/officeDocument/2006/relationships" id="269" r:id="R6fba31454047491f"/>
    <p:sldId xmlns:r="http://schemas.openxmlformats.org/officeDocument/2006/relationships" id="270" r:id="Rbac0457eeb4e46fa"/>
    <p:sldId xmlns:r="http://schemas.openxmlformats.org/officeDocument/2006/relationships" id="271" r:id="R60905ff9de394224"/>
    <p:sldId xmlns:r="http://schemas.openxmlformats.org/officeDocument/2006/relationships" id="272" r:id="R8fc3412ac231414b"/>
    <p:sldId xmlns:r="http://schemas.openxmlformats.org/officeDocument/2006/relationships" id="273" r:id="R8f836ec1b8e74626"/>
    <p:sldId xmlns:r="http://schemas.openxmlformats.org/officeDocument/2006/relationships" id="274" r:id="R921eb3f7b47c4d8c"/>
    <p:sldId xmlns:r="http://schemas.openxmlformats.org/officeDocument/2006/relationships" id="275" r:id="R8d99cd9715964b77"/>
    <p:sldId xmlns:r="http://schemas.openxmlformats.org/officeDocument/2006/relationships" id="276" r:id="R78babcab5b134d9f"/>
    <p:sldId xmlns:r="http://schemas.openxmlformats.org/officeDocument/2006/relationships" id="277" r:id="R6cad9bab05ba4a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1b2335ddd04f3e" /><Relationship Type="http://schemas.openxmlformats.org/officeDocument/2006/relationships/slideMaster" Target="/ppt/slideMasters/slideMaster1.xml" Id="Rb51e9243c5264cf1" /><Relationship Type="http://schemas.openxmlformats.org/officeDocument/2006/relationships/notesMaster" Target="/ppt/notesMasters/notesMaster1.xml" Id="Rb5145b09ce7447d8" /><Relationship Type="http://schemas.openxmlformats.org/officeDocument/2006/relationships/presProps" Target="/ppt/presProps.xml" Id="R501c4ccba3b94cd7" /><Relationship Type="http://schemas.openxmlformats.org/officeDocument/2006/relationships/tableStyles" Target="/ppt/tableStyles.xml" Id="Rd87ab23f64d84778" /><Relationship Type="http://schemas.openxmlformats.org/officeDocument/2006/relationships/slide" Target="/ppt/slides/slide1.xml" Id="Redd4676a411049fd" /><Relationship Type="http://schemas.openxmlformats.org/officeDocument/2006/relationships/slide" Target="/ppt/slides/slide2.xml" Id="Rf0cb04ea7ce94b5f" /><Relationship Type="http://schemas.openxmlformats.org/officeDocument/2006/relationships/slide" Target="/ppt/slides/slide3.xml" Id="R6586af6f570b4a43" /><Relationship Type="http://schemas.openxmlformats.org/officeDocument/2006/relationships/slide" Target="/ppt/slides/slide4.xml" Id="Re149d09524da4353" /><Relationship Type="http://schemas.openxmlformats.org/officeDocument/2006/relationships/slide" Target="/ppt/slides/slide5.xml" Id="Rbfef53cccd4b440d" /><Relationship Type="http://schemas.openxmlformats.org/officeDocument/2006/relationships/slide" Target="/ppt/slides/slide6.xml" Id="Rb39d6524a69347b2" /><Relationship Type="http://schemas.openxmlformats.org/officeDocument/2006/relationships/slide" Target="/ppt/slides/slide7.xml" Id="R43fc566d09514307" /><Relationship Type="http://schemas.openxmlformats.org/officeDocument/2006/relationships/slide" Target="/ppt/slides/slide8.xml" Id="R1ee515ecb0204ff7" /><Relationship Type="http://schemas.openxmlformats.org/officeDocument/2006/relationships/slide" Target="/ppt/slides/slide9.xml" Id="Rfd2c606378d94f27" /><Relationship Type="http://schemas.openxmlformats.org/officeDocument/2006/relationships/slide" Target="/ppt/slides/slide10.xml" Id="Re2c73e41e9234f50" /><Relationship Type="http://schemas.openxmlformats.org/officeDocument/2006/relationships/slide" Target="/ppt/slides/slide11.xml" Id="R9afab322b25f4740" /><Relationship Type="http://schemas.openxmlformats.org/officeDocument/2006/relationships/slide" Target="/ppt/slides/slide12.xml" Id="Rf6189e28db294a5e" /><Relationship Type="http://schemas.openxmlformats.org/officeDocument/2006/relationships/slide" Target="/ppt/slides/slide13.xml" Id="Rd7dfa82e273a4330" /><Relationship Type="http://schemas.openxmlformats.org/officeDocument/2006/relationships/slide" Target="/ppt/slides/slide14.xml" Id="R6fba31454047491f" /><Relationship Type="http://schemas.openxmlformats.org/officeDocument/2006/relationships/slide" Target="/ppt/slides/slide15.xml" Id="Rbac0457eeb4e46fa" /><Relationship Type="http://schemas.openxmlformats.org/officeDocument/2006/relationships/slide" Target="/ppt/slides/slide16.xml" Id="R60905ff9de394224" /><Relationship Type="http://schemas.openxmlformats.org/officeDocument/2006/relationships/slide" Target="/ppt/slides/slide17.xml" Id="R8fc3412ac231414b" /><Relationship Type="http://schemas.openxmlformats.org/officeDocument/2006/relationships/slide" Target="/ppt/slides/slide18.xml" Id="R8f836ec1b8e74626" /><Relationship Type="http://schemas.openxmlformats.org/officeDocument/2006/relationships/slide" Target="/ppt/slides/slide19.xml" Id="R921eb3f7b47c4d8c" /><Relationship Type="http://schemas.openxmlformats.org/officeDocument/2006/relationships/slide" Target="/ppt/slides/slide20.xml" Id="R8d99cd9715964b77" /><Relationship Type="http://schemas.openxmlformats.org/officeDocument/2006/relationships/slide" Target="/ppt/slides/slide21.xml" Id="R78babcab5b134d9f" /><Relationship Type="http://schemas.openxmlformats.org/officeDocument/2006/relationships/slide" Target="/ppt/slides/slide22.xml" Id="R6cad9bab05ba4a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a2e0b170334a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0147569d564ef8" /><Relationship Type="http://schemas.openxmlformats.org/officeDocument/2006/relationships/notesMaster" Target="/ppt/notesMasters/notesMaster1.xml" Id="Ra09d0b4a8b99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c3a5f832c43c0" /><Relationship Type="http://schemas.openxmlformats.org/officeDocument/2006/relationships/notesMaster" Target="/ppt/notesMasters/notesMaster1.xml" Id="R5987616270fb46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aa53510c647f9" /><Relationship Type="http://schemas.openxmlformats.org/officeDocument/2006/relationships/notesMaster" Target="/ppt/notesMasters/notesMaster1.xml" Id="Rf0251752394a4c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9f1abe45a84b49" /><Relationship Type="http://schemas.openxmlformats.org/officeDocument/2006/relationships/notesMaster" Target="/ppt/notesMasters/notesMaster1.xml" Id="Rabc243134fc3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7b1a7eee024b2a" /><Relationship Type="http://schemas.openxmlformats.org/officeDocument/2006/relationships/notesMaster" Target="/ppt/notesMasters/notesMaster1.xml" Id="R6075ee36bb81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aedcce1e004561" /><Relationship Type="http://schemas.openxmlformats.org/officeDocument/2006/relationships/notesMaster" Target="/ppt/notesMasters/notesMaster1.xml" Id="Ra6bbbee1fece41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37dd49cba47f7" /><Relationship Type="http://schemas.openxmlformats.org/officeDocument/2006/relationships/notesMaster" Target="/ppt/notesMasters/notesMaster1.xml" Id="Rbd037585b7844c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816ca8b4854f03" /><Relationship Type="http://schemas.openxmlformats.org/officeDocument/2006/relationships/notesMaster" Target="/ppt/notesMasters/notesMaster1.xml" Id="Rfce35266d07744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94462b6f234260" /><Relationship Type="http://schemas.openxmlformats.org/officeDocument/2006/relationships/notesMaster" Target="/ppt/notesMasters/notesMaster1.xml" Id="R5d58582d579e47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eb9ac232b34ce3" /><Relationship Type="http://schemas.openxmlformats.org/officeDocument/2006/relationships/notesMaster" Target="/ppt/notesMasters/notesMaster1.xml" Id="R69479b278a2247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c9734e314643f2" /><Relationship Type="http://schemas.openxmlformats.org/officeDocument/2006/relationships/notesMaster" Target="/ppt/notesMasters/notesMaster1.xml" Id="Raac761330ddc4d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fb869f93414ab0" /><Relationship Type="http://schemas.openxmlformats.org/officeDocument/2006/relationships/notesMaster" Target="/ppt/notesMasters/notesMaster1.xml" Id="Rae81c5768bfb49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8d3bcf1407491f" /><Relationship Type="http://schemas.openxmlformats.org/officeDocument/2006/relationships/notesMaster" Target="/ppt/notesMasters/notesMaster1.xml" Id="Rb2e478e107e747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7a9e1e2d494b04" /><Relationship Type="http://schemas.openxmlformats.org/officeDocument/2006/relationships/notesMaster" Target="/ppt/notesMasters/notesMaster1.xml" Id="R20a9f9d3a48748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8740b863ae4b87" /><Relationship Type="http://schemas.openxmlformats.org/officeDocument/2006/relationships/notesMaster" Target="/ppt/notesMasters/notesMaster1.xml" Id="Rf82ac27329154c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cd20ba36064915" /><Relationship Type="http://schemas.openxmlformats.org/officeDocument/2006/relationships/notesMaster" Target="/ppt/notesMasters/notesMaster1.xml" Id="R9fbbe6fdcd7d4d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45e4f0ce7d4efc" /><Relationship Type="http://schemas.openxmlformats.org/officeDocument/2006/relationships/notesMaster" Target="/ppt/notesMasters/notesMaster1.xml" Id="Rc47ef07612ef44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6c9c14c0d04173" /><Relationship Type="http://schemas.openxmlformats.org/officeDocument/2006/relationships/notesMaster" Target="/ppt/notesMasters/notesMaster1.xml" Id="R31b4be32fafc42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c75722063941c4" /><Relationship Type="http://schemas.openxmlformats.org/officeDocument/2006/relationships/notesMaster" Target="/ppt/notesMasters/notesMaster1.xml" Id="Raa064e3fb86d4a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5dfa98386845dd" /><Relationship Type="http://schemas.openxmlformats.org/officeDocument/2006/relationships/notesMaster" Target="/ppt/notesMasters/notesMaster1.xml" Id="Rfb5c2f560e504e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db973e547b4338" /><Relationship Type="http://schemas.openxmlformats.org/officeDocument/2006/relationships/notesMaster" Target="/ppt/notesMasters/notesMaster1.xml" Id="R3d87317441b14d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dfaf28687a44d0" /><Relationship Type="http://schemas.openxmlformats.org/officeDocument/2006/relationships/notesMaster" Target="/ppt/notesMasters/notesMaster1.xml" Id="R57d065f62c9e46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这份材料服务内部讨论。融资是用户明确的核心目标；观点不代表影石意向。GitHub Pages 链接可公开访问，内部讨论标识不构成访问控制。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以上是讨论建议。当前没有影石已受理、承诺投资或提供资源的证据。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Max 2026-10-12 最新补充为准。产品基线包含真实三维空间、AI 语音和实体操作探索，但本稿不把需求列表等同于全部已完成。软件集成与部署记录可支持原型存在，不能替代设备实际使用证据。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[U1] Max 本轮补充：硬件探索 | 2026-10-12 | 本次讨论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有尝试着用别的设备，完整地做成一个单机能跑出来的东西。此处记录探索方向，不自动认定已经完成整机验收。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[P1] 项目产品基线与交付记录 | 2026-09-25 至 2026-10-12 | 本次核读的产品基线、集成交接与部署记录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“脱离开发电脑”是本稿为讨论提出的工作定义，需要 Max 校准。独立设备日常使用并不必然要求所有 AI 运算在设备端执行。不能由服务部署成功推定设备脱机依赖已经解除。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[U1] Max 本轮补充：硬件探索 | 2026-10-12 | 本次讨论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有尝试着用别的设备，完整地做成一个单机能跑出来的东西。此处记录探索方向，不自动认定已经完成整机验收。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[P1] 项目产品基线与交付记录 | 2026-09-25 至 2026-10-12 | 本次核读的产品基线、集成交接与部署记录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历史职务不等于现任职务；AVT 署名不证明其主导研究。贾顺是另一位人员，不混同。只使用与本次业务交流相关的公开职业材料。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[U2] 用户提供的 BP 联系线索 | 2026-10-12 收到 | 用户提供的截图文字；原始发布时间未知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贾老师／总裁办／高级业务助理。当前职务未获得独立公开佐证；不发布原始聊天截图。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南京大学：影石研究院来访交流 | 2025-02-21 | 正文：2025-02-19 来访与合作交流段</a:t>
            </a:r>
          </a:p>
          <a:p xmlns:a="http://schemas.openxmlformats.org/drawingml/2006/main">
            <a:r>
              <a:t>https://is.nju.edu.cn/5b/c5/c57162a744389/page.htm</a:t>
            </a:r>
          </a:p>
          <a:p xmlns:a="http://schemas.openxmlformats.org/drawingml/2006/main">
            <a:r>
              <a:t>贾配洋以研究院经理身份出席，介绍产品业务，讨论外部研究与影石产品研发结合。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AVT 作者项目与公开邮箱 | 论文首次提交 2024-12 | README：作者、单位、邮箱与任务介绍</a:t>
            </a:r>
          </a:p>
          <a:p xmlns:a="http://schemas.openxmlformats.org/drawingml/2006/main">
            <a:r>
              <a:t>https://github.com/ylingfeng/AVT</a:t>
            </a:r>
          </a:p>
          <a:p xmlns:a="http://schemas.openxmlformats.org/drawingml/2006/main">
            <a:r>
              <a:t>Peiyang Jia 的署名单位为 Insta360，邮箱与联系线索精确匹配；不能据署名推断本人主导或具体分工。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上市战略配售核查文件 | 2025-05-29 | PDF 第 9 页；页内编号 6-1-8；第 12 行</a:t>
            </a:r>
          </a:p>
          <a:p xmlns:a="http://schemas.openxmlformats.org/drawingml/2006/main">
            <a:r>
              <a:t>https://static.cninfo.com.cn/finalpage/2025-05-29/1223714700.PDF</a:t>
            </a:r>
          </a:p>
          <a:p xmlns:a="http://schemas.openxmlformats.org/drawingml/2006/main">
            <a:r>
              <a:t>列示贾配洋／研究院经理／核心员工。仅用于职业身份核查。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公开检索覆盖中文姓名、英文姓名、邮箱及站点限定搜索，未完成全部登录态和历史内容核查。ResearchGate 有未认领的作者条目，不能当作个人账号。未找到不等于不存在；每日听很多项目是合理情境假设，没有量化证据。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南京大学：影石研究院来访交流 | 2025-02-21 | 正文：2025-02-19 来访与合作交流段</a:t>
            </a:r>
          </a:p>
          <a:p xmlns:a="http://schemas.openxmlformats.org/drawingml/2006/main">
            <a:r>
              <a:t>https://is.nju.edu.cn/5b/c5/c57162a744389/page.htm</a:t>
            </a:r>
          </a:p>
          <a:p xmlns:a="http://schemas.openxmlformats.org/drawingml/2006/main">
            <a:r>
              <a:t>贾配洋以研究院经理身份出席，介绍产品业务，讨论外部研究与影石产品研发结合。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AVT 作者项目与公开邮箱 | 论文首次提交 2024-12 | README：作者、单位、邮箱与任务介绍</a:t>
            </a:r>
          </a:p>
          <a:p xmlns:a="http://schemas.openxmlformats.org/drawingml/2006/main">
            <a:r>
              <a:t>https://github.com/ylingfeng/AVT</a:t>
            </a:r>
          </a:p>
          <a:p xmlns:a="http://schemas.openxmlformats.org/drawingml/2006/main">
            <a:r>
              <a:t>Peiyang Jia 的署名单位为 Insta360，邮箱与联系线索精确匹配；不能据署名推断本人主导或具体分工。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上市战略配售核查文件 | 2025-05-29 | PDF 第 9 页；页内编号 6-1-8；第 12 行</a:t>
            </a:r>
          </a:p>
          <a:p xmlns:a="http://schemas.openxmlformats.org/drawingml/2006/main">
            <a:r>
              <a:t>https://static.cninfo.com.cn/finalpage/2025-05-29/1223714700.PDF</a:t>
            </a:r>
          </a:p>
          <a:p xmlns:a="http://schemas.openxmlformats.org/drawingml/2006/main">
            <a:r>
              <a:t>列示贾配洋／研究院经理／核心员工。仅用于职业身份核查。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ResearchGate：AVT 论文作者条目 | 2026-10-12 查阅 | Peiyang Jia 作者条目及认领提示</a:t>
            </a:r>
          </a:p>
          <a:p xmlns:a="http://schemas.openxmlformats.org/drawingml/2006/main">
            <a:r>
              <a:t>https://www.researchgate.net/publication/387053780_Agent-based_Video_Trimming</a:t>
            </a:r>
          </a:p>
          <a:p xmlns:a="http://schemas.openxmlformats.org/drawingml/2006/main">
            <a:r>
              <a:t>页面提示作者不在平台或未认领研究，不能将该条目当作本人运营的账号。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这页是基于公开经历与用户提供职位的建议，不是对其真实 KPI 的陈述。目标是让材料可判断、可转述，并降低转交后的解释成本。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南京大学：影石研究院来访交流 | 2025-02-21 | 正文：2025-02-19 来访与合作交流段</a:t>
            </a:r>
          </a:p>
          <a:p xmlns:a="http://schemas.openxmlformats.org/drawingml/2006/main">
            <a:r>
              <a:t>https://is.nju.edu.cn/5b/c5/c57162a744389/page.htm</a:t>
            </a:r>
          </a:p>
          <a:p xmlns:a="http://schemas.openxmlformats.org/drawingml/2006/main">
            <a:r>
              <a:t>贾配洋以研究院经理身份出席，介绍产品业务，讨论外部研究与影石产品研发结合。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[U2] 用户提供的 BP 联系线索 | 2026-10-12 收到 | 用户提供的截图文字；原始发布时间未知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贾老师／总裁办／高级业务助理。当前职务未获得独立公开佐证；不发布原始聊天截图。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公司直接投资只是待确认的可能路径，尚未发现本次项目适用的明确内部投决机制。关联基金存在公开拟出资公告，但不能据此认定贾配洋对其有决策权。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影石：参与设立投资基金公告（2026-022） | 2026-06-19 | PDF 第 1、3、9–12、14 页</a:t>
            </a:r>
          </a:p>
          <a:p xmlns:a="http://schemas.openxmlformats.org/drawingml/2006/main">
            <a:r>
              <a:t>https://static.cninfo.com.cn/finalpage/2026-06-19/1225378370.PDF</a:t>
            </a:r>
          </a:p>
          <a:p xmlns:a="http://schemas.openxmlformats.org/drawingml/2006/main">
            <a:r>
              <a:t>拟认缴金额、LP/GP 关系、投委会安排、投资阶段与领域。公告时点的拟设立状态不能当作 10 月现状。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基金暂定全称：深圳峰瑞影佳创业投资中心（有限合伙）；GP／管理人全称：深圳瑞宏股权投资合伙企业。S1 定位：第 1、3、9–12、14 页。认缴不是已实缴或可用余额。8 月报告搜索索引出现签约进展线索，原表未完整回读，不纳入确认结论。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影石：参与设立投资基金公告（2026-022） | 2026-06-19 | PDF 第 1、3、9–12、14 页</a:t>
            </a:r>
          </a:p>
          <a:p xmlns:a="http://schemas.openxmlformats.org/drawingml/2006/main">
            <a:r>
              <a:t>https://static.cninfo.com.cn/finalpage/2026-06-19/1225378370.PDF</a:t>
            </a:r>
          </a:p>
          <a:p xmlns:a="http://schemas.openxmlformats.org/drawingml/2006/main">
            <a:r>
              <a:t>拟认缴金额、LP/GP 关系、投委会安排、投资阶段与领域。公告时点的拟设立状态不能当作 10 月现状。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2026 年半年度报告（进展线索） | 2026-08-28 | 待回读：投资基金相关表格</a:t>
            </a:r>
          </a:p>
          <a:p xmlns:a="http://schemas.openxmlformats.org/drawingml/2006/main">
            <a:r>
              <a:t>https://static.cninfo.com.cn/finalpage/2026-08-28/1225521108.PDF</a:t>
            </a:r>
          </a:p>
          <a:p xmlns:a="http://schemas.openxmlformats.org/drawingml/2006/main">
            <a:r>
              <a:t>搜索索引出现 2026-08-24 协议签署线索，原表未完整回读；不据此判断基金已设立、备案或开始投资。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左侧为官方公开功能与产品表述，本次没有做功能效果实测。右侧不能表述为影石必然缺失的能力，也不能表述为已验证增长。空间体验可作为展示内容，但不应仅用 3DGS 技术名词证明壁垒。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影石官方手册：AI 导演 | 2026-10-12 查阅 | 功能介绍</a:t>
            </a:r>
          </a:p>
          <a:p xmlns:a="http://schemas.openxmlformats.org/drawingml/2006/main">
            <a:r>
              <a:t>https://onlinemanual.insta360.com/app/zh-cn/operation_tutorial/edit_function/director</a:t>
            </a:r>
          </a:p>
          <a:p xmlns:a="http://schemas.openxmlformats.org/drawingml/2006/main">
            <a:r>
              <a:t>已有素材筛选、自动剪辑等能力。基础 AI 整理不宜作为影石缺失能力来推介。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影石官网：公司与产品介绍 | 2026-10-12 查阅 | Insta360+ 与 X6 产品段落</a:t>
            </a:r>
          </a:p>
          <a:p xmlns:a="http://schemas.openxmlformats.org/drawingml/2006/main">
            <a:r>
              <a:t>https://www.insta360.com/cn/about</a:t>
            </a:r>
          </a:p>
          <a:p xmlns:a="http://schemas.openxmlformats.org/drawingml/2006/main">
            <a:r>
              <a:t>官网介绍云存储、分享、播放与编辑；亦提及 3DGS、PanoMind 和空间重建。为厂商说明，未做功能实测。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这页为战略价值假设。不能把家庭照片或用户数据当作交换资源；素材接入与反馈研究都需按实际用户授权和产品权限设计。已有原型是可提供的基础，不代表所有对接能力已经完成。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融资是 Max 明确的主线。资源请求应与阶段计划相连，避免泛泛要求品牌、流量、供应链与资金全部到位。品牌背书、独家合作与知识产权安排如被提出，应作为单独商业条件讨论。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本页为内部问题清单，尚未形成用户选择。硬件改造适合验证，但量产路线、认证、售后责任与渠道费用均需要后续测算。这里不提供未经核实的市场规模或硬件成本数值。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[U1] Max 本轮补充：硬件探索 | 2026-10-12 | 本次讨论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有尝试着用别的设备，完整地做成一个单机能跑出来的东西。此处记录探索方向，不自动认定已经完成整机验收。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[P1] 项目产品基线与交付记录 | 2026-09-25 至 2026-10-12 | 本次核读的产品基线、集成交接与部署记录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 秒是演示长度建议，并非已有视频。不要为准备融资重复已经验收的技术工作；优先整理现有证据、补最影响判断的缺口。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[P1] 项目产品基线与交付记录 | 2026-09-25 至 2026-10-12 | 本次核读的产品基线、集成交接与部署记录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4–6 周和约 10 个家庭只是内部讨论起点，不是已批准计划或代表性市场样本。指标可包括周内有效观看、主动回应、持续使用、付费意愿与故障情况。不要把报价意愿等同于真实付费。预算、主体、股权和团队分工待拍板。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不必逐页向对方展示本内部稿。对外应浓缩为具体机会、产品证据和融资请求。首次会谈的可验证收获是负责人、标准和下一步，而不是泛泛的积极评价。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建议话术，尚未发送。不要暗示已建立私人关系、认真阅读全文或知道本人具体研究贡献。避免只聊技术兴趣而遗漏融资目标。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南京大学：影石研究院来访交流 | 2025-02-21 | 正文：2025-02-19 来访与合作交流段</a:t>
            </a:r>
          </a:p>
          <a:p xmlns:a="http://schemas.openxmlformats.org/drawingml/2006/main">
            <a:r>
              <a:t>https://is.nju.edu.cn/5b/c5/c57162a744389/page.htm</a:t>
            </a:r>
          </a:p>
          <a:p xmlns:a="http://schemas.openxmlformats.org/drawingml/2006/main">
            <a:r>
              <a:t>贾配洋以研究院经理身份出席，介绍产品业务，讨论外部研究与影石产品研发结合。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AVT 作者项目与公开邮箱 | 论文首次提交 2024-12 | README：作者、单位、邮箱与任务介绍</a:t>
            </a:r>
          </a:p>
          <a:p xmlns:a="http://schemas.openxmlformats.org/drawingml/2006/main">
            <a:r>
              <a:t>https://github.com/ylingfeng/AVT</a:t>
            </a:r>
          </a:p>
          <a:p xmlns:a="http://schemas.openxmlformats.org/drawingml/2006/main">
            <a:r>
              <a:t>Peiyang Jia 的署名单位为 Insta360，邮箱与联系线索精确匹配；不能据署名推断本人主导或具体分工。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论文：Agent-based Video Trimming | 2024-12 | 摘要与作者名单</a:t>
            </a:r>
          </a:p>
          <a:p xmlns:a="http://schemas.openxmlformats.org/drawingml/2006/main">
            <a:r>
              <a:t>https://arxiv.org/abs/2412.09513</a:t>
            </a:r>
          </a:p>
          <a:p xmlns:a="http://schemas.openxmlformats.org/drawingml/2006/main">
            <a:r>
              <a:t>研究从长视频中选取片段并组织成有叙事连贯性的短片。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没有提出应当预先让渡独家或知识产权。若出现此类条件，先评估与投入的对价，不在本稿中替团队做承诺。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这是供 Max 和团队讨论的决策清单。没有替用户填入金额、估值、股权比例、硬件采购或融资承诺。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[U1] Max 本轮补充：硬件探索 | 2026-10-12 | 本次讨论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有尝试着用别的设备，完整地做成一个单机能跑出来的东西。此处记录探索方向，不自动认定已经完成整机验收。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 为本稿基金事实的主要依据。S7 不支撑任何“已正式开始投资”的结论。没有核实当前基金业协会登记或项目实际受理，也没有联系基金。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影石：参与设立投资基金公告（2026-022）</a:t>
            </a:r>
          </a:p>
          <a:p xmlns:a="http://schemas.openxmlformats.org/drawingml/2006/main">
            <a:r>
              <a:t>https://static.cninfo.com.cn/finalpage/2026-06-19/1225378370.PDF</a:t>
            </a:r>
          </a:p>
          <a:p xmlns:a="http://schemas.openxmlformats.org/drawingml/2006/main">
            <a:r>
              <a:t>2026-06-19 | PDF 第 1、3、9–12、14 页</a:t>
            </a:r>
          </a:p>
          <a:p xmlns:a="http://schemas.openxmlformats.org/drawingml/2006/main">
            <a:r>
              <a:t>拟认缴金额、LP/GP 关系、投委会安排、投资阶段与领域。公告时点的拟设立状态不能当作 10 月现状。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2026 年半年度报告（进展线索）</a:t>
            </a:r>
          </a:p>
          <a:p xmlns:a="http://schemas.openxmlformats.org/drawingml/2006/main">
            <a:r>
              <a:t>https://static.cninfo.com.cn/finalpage/2026-08-28/1225521108.PDF</a:t>
            </a:r>
          </a:p>
          <a:p xmlns:a="http://schemas.openxmlformats.org/drawingml/2006/main">
            <a:r>
              <a:t>2026-08-28 | 待回读：投资基金相关表格</a:t>
            </a:r>
          </a:p>
          <a:p xmlns:a="http://schemas.openxmlformats.org/drawingml/2006/main">
            <a:r>
              <a:t>搜索索引出现 2026-08-24 协议签署线索，原表未完整回读；不据此判断基金已设立、备案或开始投资。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本稿不发布原始聊天截图或与业务无关的个人信息。社交账号查无可靠匹配是本轮覆盖范围下的结果，不能作为不存在账号的结论。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南京大学：影石研究院来访交流</a:t>
            </a:r>
          </a:p>
          <a:p xmlns:a="http://schemas.openxmlformats.org/drawingml/2006/main">
            <a:r>
              <a:t>https://is.nju.edu.cn/5b/c5/c57162a744389/page.htm</a:t>
            </a:r>
          </a:p>
          <a:p xmlns:a="http://schemas.openxmlformats.org/drawingml/2006/main">
            <a:r>
              <a:t>2025-02-21 | 正文：2025-02-19 来访与合作交流段</a:t>
            </a:r>
          </a:p>
          <a:p xmlns:a="http://schemas.openxmlformats.org/drawingml/2006/main">
            <a:r>
              <a:t>贾配洋以研究院经理身份出席，介绍产品业务，讨论外部研究与影石产品研发结合。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AVT 作者项目与公开邮箱</a:t>
            </a:r>
          </a:p>
          <a:p xmlns:a="http://schemas.openxmlformats.org/drawingml/2006/main">
            <a:r>
              <a:t>https://github.com/ylingfeng/AVT</a:t>
            </a:r>
          </a:p>
          <a:p xmlns:a="http://schemas.openxmlformats.org/drawingml/2006/main">
            <a:r>
              <a:t>论文首次提交 2024-12 | README：作者、单位、邮箱与任务介绍</a:t>
            </a:r>
          </a:p>
          <a:p xmlns:a="http://schemas.openxmlformats.org/drawingml/2006/main">
            <a:r>
              <a:t>Peiyang Jia 的署名单位为 Insta360，邮箱与联系线索精确匹配；不能据署名推断本人主导或具体分工。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上市战略配售核查文件</a:t>
            </a:r>
          </a:p>
          <a:p xmlns:a="http://schemas.openxmlformats.org/drawingml/2006/main">
            <a:r>
              <a:t>https://static.cninfo.com.cn/finalpage/2025-05-29/1223714700.PDF</a:t>
            </a:r>
          </a:p>
          <a:p xmlns:a="http://schemas.openxmlformats.org/drawingml/2006/main">
            <a:r>
              <a:t>2025-05-29 | PDF 第 9 页；页内编号 6-1-8；第 12 行</a:t>
            </a:r>
          </a:p>
          <a:p xmlns:a="http://schemas.openxmlformats.org/drawingml/2006/main">
            <a:r>
              <a:t>列示贾配洋／研究院经理／核心员工。仅用于职业身份核查。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论文：Agent-based Video Trimming</a:t>
            </a:r>
          </a:p>
          <a:p xmlns:a="http://schemas.openxmlformats.org/drawingml/2006/main">
            <a:r>
              <a:t>https://arxiv.org/abs/2412.09513</a:t>
            </a:r>
          </a:p>
          <a:p xmlns:a="http://schemas.openxmlformats.org/drawingml/2006/main">
            <a:r>
              <a:t>2024-12 | 摘要与作者名单</a:t>
            </a:r>
          </a:p>
          <a:p xmlns:a="http://schemas.openxmlformats.org/drawingml/2006/main">
            <a:r>
              <a:t>研究从长视频中选取片段并组织成有叙事连贯性的短片。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ResearchGate：AVT 论文作者条目</a:t>
            </a:r>
          </a:p>
          <a:p xmlns:a="http://schemas.openxmlformats.org/drawingml/2006/main">
            <a:r>
              <a:t>https://www.researchgate.net/publication/387053780_Agent-based_Video_Trimming</a:t>
            </a:r>
          </a:p>
          <a:p xmlns:a="http://schemas.openxmlformats.org/drawingml/2006/main">
            <a:r>
              <a:t>2026-10-12 查阅 | Peiyang Jia 作者条目及认领提示</a:t>
            </a:r>
          </a:p>
          <a:p xmlns:a="http://schemas.openxmlformats.org/drawingml/2006/main">
            <a:r>
              <a:t>页面提示作者不在平台或未认领研究，不能将该条目当作本人运营的账号。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用户输入和项目内部交付记录没有公开原始链接。本稿只给可公开的状态摘要，不嵌入内部路径、测试账号、私有服务地址或设备标识。建议与假设均未自动升级为用户决定。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影石官方手册：AI 导演</a:t>
            </a:r>
          </a:p>
          <a:p xmlns:a="http://schemas.openxmlformats.org/drawingml/2006/main">
            <a:r>
              <a:t>https://onlinemanual.insta360.com/app/zh-cn/operation_tutorial/edit_function/director</a:t>
            </a:r>
          </a:p>
          <a:p xmlns:a="http://schemas.openxmlformats.org/drawingml/2006/main">
            <a:r>
              <a:t>2026-10-12 查阅 | 功能介绍</a:t>
            </a:r>
          </a:p>
          <a:p xmlns:a="http://schemas.openxmlformats.org/drawingml/2006/main">
            <a:r>
              <a:t>已有素材筛选、自动剪辑等能力。基础 AI 整理不宜作为影石缺失能力来推介。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影石官网：公司与产品介绍</a:t>
            </a:r>
          </a:p>
          <a:p xmlns:a="http://schemas.openxmlformats.org/drawingml/2006/main">
            <a:r>
              <a:t>https://www.insta360.com/cn/about</a:t>
            </a:r>
          </a:p>
          <a:p xmlns:a="http://schemas.openxmlformats.org/drawingml/2006/main">
            <a:r>
              <a:t>2026-10-12 查阅 | Insta360+ 与 X6 产品段落</a:t>
            </a:r>
          </a:p>
          <a:p xmlns:a="http://schemas.openxmlformats.org/drawingml/2006/main">
            <a:r>
              <a:t>官网介绍云存储、分享、播放与编辑；亦提及 3DGS、PanoMind 和空间重建。为厂商说明，未做功能实测。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[U1] Max 本轮补充：硬件探索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2026-10-12 | 本次讨论</a:t>
            </a:r>
          </a:p>
          <a:p xmlns:a="http://schemas.openxmlformats.org/drawingml/2006/main">
            <a:r>
              <a:t>有尝试着用别的设备，完整地做成一个单机能跑出来的东西。此处记录探索方向，不自动认定已经完成整机验收。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[P1] 项目产品基线与交付记录</a:t>
            </a:r>
          </a:p>
          <a:p xmlns:a="http://schemas.openxmlformats.org/drawingml/2006/main">
            <a:r>
              <a:t>用户提供／项目内部记录</a:t>
            </a:r>
          </a:p>
          <a:p xmlns:a="http://schemas.openxmlformats.org/drawingml/2006/main">
            <a:r>
              <a:t>2026-09-25 至 2026-10-12 | 本次核读的产品基线、集成交接与部署记录</a:t>
            </a:r>
          </a:p>
          <a:p xmlns:a="http://schemas.openxmlformats.org/drawingml/2006/main">
            <a: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74d3cd3aa47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9d0ca20ae41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aeed7721443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b1788da4041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f4c0a309a4c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34de84efc43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F3F852-59BC-4137-B4E0-DABF0E456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25F5A-B530-45BD-BB89-FA27F5C955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6DA2B0-2211-411D-AFEB-42F1DA965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03AF15-6C19-4C4B-83C3-D1ADB62984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B906FA-92D6-4AA7-84CF-905495C9C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0EC86B-0C4C-482E-B012-CA7751884D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CB9A4A-23CC-416B-8E65-C5D70F59E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83F5A2-C367-417C-AF9A-8866185D73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96DD81-0B88-4A11-AE3A-0B8ECFBB8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C911-A796-4D65-B24A-750EE6F065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085ca6929483b" /><Relationship Type="http://schemas.openxmlformats.org/officeDocument/2006/relationships/slideLayout" Target="/ppt/slideLayouts/slideLayout1.xml" Id="Ree3715913c2b44a2" /><Relationship Type="http://schemas.openxmlformats.org/officeDocument/2006/relationships/slideLayout" Target="/ppt/slideLayouts/slideLayout2.xml" Id="Rdcca40640e5b45ff" /><Relationship Type="http://schemas.openxmlformats.org/officeDocument/2006/relationships/slideLayout" Target="/ppt/slideLayouts/slideLayout3.xml" Id="Rba57adb3713141cc" /><Relationship Type="http://schemas.openxmlformats.org/officeDocument/2006/relationships/slideLayout" Target="/ppt/slideLayouts/slideLayout4.xml" Id="Rb5d8d7814e9148d7" /><Relationship Type="http://schemas.openxmlformats.org/officeDocument/2006/relationships/slideLayout" Target="/ppt/slideLayouts/slideLayout5.xml" Id="Ra262eeb0fcbb44c0" /><Relationship Type="http://schemas.openxmlformats.org/officeDocument/2006/relationships/slideLayout" Target="/ppt/slideLayouts/slideLayout6.xml" Id="Rf075ab897b8f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3715913c2b44a2"/>
    <p:sldLayoutId xmlns:r="http://schemas.openxmlformats.org/officeDocument/2006/relationships" id="2147483650" r:id="Rdcca40640e5b45ff"/>
    <p:sldLayoutId xmlns:r="http://schemas.openxmlformats.org/officeDocument/2006/relationships" id="2147483651" r:id="Rba57adb3713141cc"/>
    <p:sldLayoutId xmlns:r="http://schemas.openxmlformats.org/officeDocument/2006/relationships" id="2147483652" r:id="Rb5d8d7814e9148d7"/>
    <p:sldLayoutId xmlns:r="http://schemas.openxmlformats.org/officeDocument/2006/relationships" id="2147483653" r:id="Ra262eeb0fcbb44c0"/>
    <p:sldLayoutId xmlns:r="http://schemas.openxmlformats.org/officeDocument/2006/relationships" id="2147483654" r:id="Rf075ab897b8f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d283ec74144b0" /><Relationship Type="http://schemas.openxmlformats.org/officeDocument/2006/relationships/notesSlide" Target="/ppt/notesSlides/notesSlide1.xml" Id="Rff5b56fb6f4546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58050359f4ae1" /><Relationship Type="http://schemas.openxmlformats.org/officeDocument/2006/relationships/notesSlide" Target="/ppt/notesSlides/notesSlide2.xml" Id="Rc9836562312242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e2ac5762c48d4" /><Relationship Type="http://schemas.openxmlformats.org/officeDocument/2006/relationships/notesSlide" Target="/ppt/notesSlides/notesSlide3.xml" Id="R6fc546ba58fc4e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5e05cf2984f51" /><Relationship Type="http://schemas.openxmlformats.org/officeDocument/2006/relationships/notesSlide" Target="/ppt/notesSlides/notesSlide4.xml" Id="R2c4427f19ac148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55f85c0234421" /><Relationship Type="http://schemas.openxmlformats.org/officeDocument/2006/relationships/hyperlink" Target="https://is.nju.edu.cn/5b/c5/c57162a744389/page.htm" TargetMode="External" Id="R4a5a5ab3ee6b4e7b" /><Relationship Type="http://schemas.openxmlformats.org/officeDocument/2006/relationships/hyperlink" Target="https://github.com/ylingfeng/AVT" TargetMode="External" Id="R90ebe26f6f28478e" /><Relationship Type="http://schemas.openxmlformats.org/officeDocument/2006/relationships/hyperlink" Target="https://static.cninfo.com.cn/finalpage/2025-05-29/1223714700.PDF" TargetMode="External" Id="R15eee6dae9344e2f" /><Relationship Type="http://schemas.openxmlformats.org/officeDocument/2006/relationships/notesSlide" Target="/ppt/notesSlides/notesSlide5.xml" Id="R80ac168ca87746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80791314aa4dff" /><Relationship Type="http://schemas.openxmlformats.org/officeDocument/2006/relationships/hyperlink" Target="https://is.nju.edu.cn/5b/c5/c57162a744389/page.htm" TargetMode="External" Id="Rabfd2fec9985407c" /><Relationship Type="http://schemas.openxmlformats.org/officeDocument/2006/relationships/hyperlink" Target="https://github.com/ylingfeng/AVT" TargetMode="External" Id="R872d52aec8c84c58" /><Relationship Type="http://schemas.openxmlformats.org/officeDocument/2006/relationships/hyperlink" Target="https://static.cninfo.com.cn/finalpage/2025-05-29/1223714700.PDF" TargetMode="External" Id="R678d49ed95ad4e3c" /><Relationship Type="http://schemas.openxmlformats.org/officeDocument/2006/relationships/hyperlink" Target="https://www.researchgate.net/publication/387053780_Agent-based_Video_Trimming" TargetMode="External" Id="R0bcda9ef71b34d09" /><Relationship Type="http://schemas.openxmlformats.org/officeDocument/2006/relationships/notesSlide" Target="/ppt/notesSlides/notesSlide6.xml" Id="R3935807780c6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54442de20244c6" /><Relationship Type="http://schemas.openxmlformats.org/officeDocument/2006/relationships/hyperlink" Target="https://is.nju.edu.cn/5b/c5/c57162a744389/page.htm" TargetMode="External" Id="Rb82e940437714ca8" /><Relationship Type="http://schemas.openxmlformats.org/officeDocument/2006/relationships/notesSlide" Target="/ppt/notesSlides/notesSlide7.xml" Id="R7702e53485f540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403af9f9a495e" /><Relationship Type="http://schemas.openxmlformats.org/officeDocument/2006/relationships/hyperlink" Target="https://static.cninfo.com.cn/finalpage/2026-06-19/1225378370.PDF" TargetMode="External" Id="Re7a4dbfe6eee42a0" /><Relationship Type="http://schemas.openxmlformats.org/officeDocument/2006/relationships/notesSlide" Target="/ppt/notesSlides/notesSlide8.xml" Id="R7b2d04df78f14d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7d962f93945df" /><Relationship Type="http://schemas.openxmlformats.org/officeDocument/2006/relationships/hyperlink" Target="https://static.cninfo.com.cn/finalpage/2026-06-19/1225378370.PDF" TargetMode="External" Id="R5d08c9fc624f4a0d" /><Relationship Type="http://schemas.openxmlformats.org/officeDocument/2006/relationships/hyperlink" Target="https://static.cninfo.com.cn/finalpage/2026-08-28/1225521108.PDF" TargetMode="External" Id="R42af573bef4b42c1" /><Relationship Type="http://schemas.openxmlformats.org/officeDocument/2006/relationships/notesSlide" Target="/ppt/notesSlides/notesSlide9.xml" Id="R9154d66b039e4a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bd11cc6ba45ef" /><Relationship Type="http://schemas.openxmlformats.org/officeDocument/2006/relationships/hyperlink" Target="https://onlinemanual.insta360.com/app/zh-cn/operation_tutorial/edit_function/director" TargetMode="External" Id="R357fd56626684087" /><Relationship Type="http://schemas.openxmlformats.org/officeDocument/2006/relationships/hyperlink" Target="https://www.insta360.com/cn/about" TargetMode="External" Id="Rdb170c3074254f48" /><Relationship Type="http://schemas.openxmlformats.org/officeDocument/2006/relationships/notesSlide" Target="/ppt/notesSlides/notesSlide10.xml" Id="Rf5eb936ddd4649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b34fe4e3a42e1" /><Relationship Type="http://schemas.openxmlformats.org/officeDocument/2006/relationships/notesSlide" Target="/ppt/notesSlides/notesSlide11.xml" Id="Rbc8a261a4e524e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a9ec19d684c49" /><Relationship Type="http://schemas.openxmlformats.org/officeDocument/2006/relationships/notesSlide" Target="/ppt/notesSlides/notesSlide12.xml" Id="R39eae511389a44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8e5af55db4248" /><Relationship Type="http://schemas.openxmlformats.org/officeDocument/2006/relationships/notesSlide" Target="/ppt/notesSlides/notesSlide13.xml" Id="R3678d4e47abd40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25c1460594558" /><Relationship Type="http://schemas.openxmlformats.org/officeDocument/2006/relationships/notesSlide" Target="/ppt/notesSlides/notesSlide14.xml" Id="Rc9605638753e48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607ed89ee46bd" /><Relationship Type="http://schemas.openxmlformats.org/officeDocument/2006/relationships/notesSlide" Target="/ppt/notesSlides/notesSlide15.xml" Id="R1a52f41b41a64a6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8a24a8add45c1" /><Relationship Type="http://schemas.openxmlformats.org/officeDocument/2006/relationships/notesSlide" Target="/ppt/notesSlides/notesSlide16.xml" Id="R89bc958eceb644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6f8d292db45c6" /><Relationship Type="http://schemas.openxmlformats.org/officeDocument/2006/relationships/hyperlink" Target="https://is.nju.edu.cn/5b/c5/c57162a744389/page.htm" TargetMode="External" Id="Rae37bd78b4904de7" /><Relationship Type="http://schemas.openxmlformats.org/officeDocument/2006/relationships/hyperlink" Target="https://github.com/ylingfeng/AVT" TargetMode="External" Id="R8deee04b10994c6d" /><Relationship Type="http://schemas.openxmlformats.org/officeDocument/2006/relationships/hyperlink" Target="https://arxiv.org/abs/2412.09513" TargetMode="External" Id="R0db41cc989da4b1f" /><Relationship Type="http://schemas.openxmlformats.org/officeDocument/2006/relationships/notesSlide" Target="/ppt/notesSlides/notesSlide17.xml" Id="R8c2c43196d82499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c2bbe804b4fa8" /><Relationship Type="http://schemas.openxmlformats.org/officeDocument/2006/relationships/notesSlide" Target="/ppt/notesSlides/notesSlide18.xml" Id="Rdc617b805a9144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6a8447225409c" /><Relationship Type="http://schemas.openxmlformats.org/officeDocument/2006/relationships/notesSlide" Target="/ppt/notesSlides/notesSlide19.xml" Id="Rae94f51017b944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c64289f8e4301" /><Relationship Type="http://schemas.openxmlformats.org/officeDocument/2006/relationships/hyperlink" Target="https://static.cninfo.com.cn/finalpage/2026-06-19/1225378370.PDF" TargetMode="External" Id="R022babd3b9ac4698" /><Relationship Type="http://schemas.openxmlformats.org/officeDocument/2006/relationships/hyperlink" Target="https://static.cninfo.com.cn/finalpage/2026-08-28/1225521108.PDF" TargetMode="External" Id="Rd35023181c014032" /><Relationship Type="http://schemas.openxmlformats.org/officeDocument/2006/relationships/notesSlide" Target="/ppt/notesSlides/notesSlide20.xml" Id="Re965043cf4b447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01fc68d3754494" /><Relationship Type="http://schemas.openxmlformats.org/officeDocument/2006/relationships/hyperlink" Target="https://is.nju.edu.cn/5b/c5/c57162a744389/page.htm" TargetMode="External" Id="Ref74b590fee14455" /><Relationship Type="http://schemas.openxmlformats.org/officeDocument/2006/relationships/hyperlink" Target="https://github.com/ylingfeng/AVT" TargetMode="External" Id="Rf581b46c9ad146cc" /><Relationship Type="http://schemas.openxmlformats.org/officeDocument/2006/relationships/hyperlink" Target="https://static.cninfo.com.cn/finalpage/2025-05-29/1223714700.PDF" TargetMode="External" Id="R8e39fa68075848a3" /><Relationship Type="http://schemas.openxmlformats.org/officeDocument/2006/relationships/hyperlink" Target="https://arxiv.org/abs/2412.09513" TargetMode="External" Id="Rd2f89a2527db48da" /><Relationship Type="http://schemas.openxmlformats.org/officeDocument/2006/relationships/hyperlink" Target="https://www.researchgate.net/publication/387053780_Agent-based_Video_Trimming" TargetMode="External" Id="R9ad113fe7f1042e9" /><Relationship Type="http://schemas.openxmlformats.org/officeDocument/2006/relationships/notesSlide" Target="/ppt/notesSlides/notesSlide21.xml" Id="Rcbd9c0b1dcb84f3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d060cdcb341cd" /><Relationship Type="http://schemas.openxmlformats.org/officeDocument/2006/relationships/hyperlink" Target="https://onlinemanual.insta360.com/app/zh-cn/operation_tutorial/edit_function/director" TargetMode="External" Id="Rb252fb12778840c5" /><Relationship Type="http://schemas.openxmlformats.org/officeDocument/2006/relationships/hyperlink" Target="https://www.insta360.com/cn/about" TargetMode="External" Id="Rb373368525ce47a5" /><Relationship Type="http://schemas.openxmlformats.org/officeDocument/2006/relationships/notesSlide" Target="/ppt/notesSlides/notesSlide22.xml" Id="Rdcb9da2238ad4c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label">
            <a:extLst xmlns:a="http://schemas.openxmlformats.org/drawingml/2006/main">
              <a:ext uri="{FF2B5EF4-FFF2-40B4-BE49-F238E27FC236}">
                <a16:creationId xmlns:a16="http://schemas.microsoft.com/office/drawing/2014/main" id="{F8DB7E1F-2D28-49E9-8FD8-596F0D3E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6C5D4"/>
                </a:solidFill>
                <a:latin typeface="Noto Sans SC"/>
                <a:ea typeface="Noto Sans SC"/>
                <a:cs typeface="Noto Sans SC"/>
              </a:rPr>
              <a:t>内部讨论稿 · 2026-10-12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CFF7235-4C12-48DA-AF41-47AC6B7E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defRPr>
            </a:pPr>
            <a:r>
              <a:rPr sz="5100" b="0">
                <a:solidFill>
                  <a:srgbClr val="F6FAFC"/>
                </a:solidFill>
                <a:latin typeface="Noto Sans SC"/>
                <a:ea typeface="Noto Sans SC"/>
                <a:cs typeface="Noto Sans SC"/>
              </a:rPr>
              <a:t>UNSEEN × 影石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243F561-86C4-4E09-9755-94A6C890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704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rPr>
              <a:t>AI 家庭智能屏</a:t>
            </a:r>
          </a:p>
          <a:p xmlns:a="http://schemas.openxmlformats.org/drawingml/2006/main">
            <a:pPr>
              <a:def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0">
                <a:solidFill>
                  <a:srgbClr val="C5DAE5"/>
                </a:solidFill>
                <a:latin typeface="Noto Sans SC"/>
                <a:ea typeface="Noto Sans SC"/>
                <a:cs typeface="Noto Sans SC"/>
              </a:rPr>
              <a:t>融资与合作机会梳理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318DF8B3-BC95-4D49-ADE3-3480352E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3857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rPr>
              <a:t>我们能给影石什么？</a:t>
            </a:r>
          </a:p>
          <a:p xmlns:a="http://schemas.openxmlformats.org/drawingml/2006/main">
            <a:pPr>
              <a:def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E8F3F7"/>
                </a:solidFill>
                <a:latin typeface="Noto Sans SC"/>
                <a:ea typeface="Noto Sans SC"/>
                <a:cs typeface="Noto Sans SC"/>
              </a:rPr>
              <a:t>影石能给我们什么？</a:t>
            </a:r>
          </a:p>
        </p:txBody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2A89EB6C-A1FF-45B4-BF4A-07BE6529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B3CBD9"/>
                </a:solidFill>
                <a:latin typeface="Noto Sans SC"/>
                <a:ea typeface="Noto Sans SC"/>
                <a:cs typeface="Noto Sans SC"/>
              </a:rPr>
              <a:t>本稿供我们讨论、取舍与补证；内容截至 2026.10.12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63D78A40-0719-40C2-A5BA-11800359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97B8CA"/>
                </a:solidFill>
                <a:latin typeface="Noto Sans SC"/>
                <a:ea typeface="Noto Sans SC"/>
                <a:cs typeface="Noto Sans SC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1782314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06519E6B-46F2-48F8-8657-29D0F812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讨论起点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64F66F-9AB8-480F-A875-45FECD1D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这次沟通的核心目标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3BEF38C-6867-4610-92B5-6BBB43FF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争取进入早期投资评估，并把下一步落实到具体负责人。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22979A0A-18BD-478E-A03F-14C23ADB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我们要讲清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C0A7FE02-5A59-49B6-BB53-199BF03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家庭智能屏解决什么问题，为什么值得做。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E3CB528F-6243-4AFD-B149-98BE32D7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影石参与后能得到什么，团队已做到哪一步。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E91458B1-9A59-4F7E-BDB5-0677AFA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需要多少钱、用于什么、换来哪些可验证的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进展。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114BF420-A885-42C9-A67A-1B6EFA18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我们要带回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67FACF3F-9FED-4011-ABCF-46403A50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走影石内部战略路径，还是转关联基金。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8D0ADC53-717C-46DB-8B58-A21102BD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谁评估、需要哪些证据、何时再次沟通。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4ADDC226-1615-4F79-8AA4-18338BA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若先合作验证，什么结果会触发投资讨论。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9F9BE10C-B58B-48C5-B218-5044B170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判断：设备或渠道支持可以帮助推进；融资目标仍应明确保留。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1DAF628E-1AD0-4595-9067-9E6EA33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1220548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3C32438A-6A70-4ACF-ABBA-9FBB466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项目现状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F78944-9FBF-4A3E-BB1C-6F1BF139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智能屏正在探索独立运行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3872886-BE44-4F72-9D34-4DF1C00E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最新补充：尝试用其他设备，做出完整、单机能跑的产品。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1E06E05D-00E2-4BDD-8D48-E9939566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产品方向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2DF2A25D-8618-4BB3-A007-D091C75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家人发送照片、文字与原声；屏端接收、播放、讲述与回复。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32767796-A7C6-40D3-A54E-B4AAC87F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8C5407EA-F88C-4210-AA59-58B5034F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已有软件原型、设备适配与集成探索；可以围绕实际演示讨论。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366DF73-971F-4E3B-B3E8-29D6174C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硬件方向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CB3DF7BC-6042-4495-AFE3-35F07129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先借用现有设备验证完整体验；具体系统、尺寸与整机方案仍待收敛。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B098A6BC-FBF2-4CF7-A1CB-B62683C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表述边界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AF80E670-1F72-4119-AFDB-3E17C98A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目前是探索与验证阶段；不能写成量产就绪、稳定家庭留存或成熟商业化。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5A0A7FA5-CDB1-4765-B851-061A2F7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建议对外表达：我们正在把 AI 家庭影像体验做成可独立日常使用的智能屏。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14DF8539-D87E-4E40-A80E-7106EA65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03 / 22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0DD674CC-8137-4008-82D0-B67DFEE1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1">
            <a:extLst xmlns:a="http://schemas.openxmlformats.org/drawingml/2006/main">
              <a:ext uri="{FF2B5EF4-FFF2-40B4-BE49-F238E27FC236}">
                <a16:creationId xmlns:a16="http://schemas.microsoft.com/office/drawing/2014/main" id="{565202C2-2065-4D69-9B68-B535FEA5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U1</a:t>
            </a:r>
          </a:p>
        </p:txBody>
      </p:sp>
      <p:sp>
        <p:nvSpPr>
          <p:cNvPr id="16" name="source-P1">
            <a:extLst xmlns:a="http://schemas.openxmlformats.org/drawingml/2006/main">
              <a:ext uri="{FF2B5EF4-FFF2-40B4-BE49-F238E27FC236}">
                <a16:creationId xmlns:a16="http://schemas.microsoft.com/office/drawing/2014/main" id="{378EC7BB-C681-46B6-AB13-248FEFFA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1631799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0E72410F-0B5D-4390-9805-5295442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项目现状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B8AA62-7A2F-4EAF-A32E-ECBE85C5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“单机能跑”的验收范围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54AB6B6-6E91-4EFC-AEE7-7A084A42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先对齐设备能独立工作到哪一层，再讨论硬件投入。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794C9-2F37-461F-A82B-BEBAEE77533E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需要说明或展示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当前口径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运行依赖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脱离开发电脑后仍能启动、联网与接收内容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本轮探索目标；待实际演示确认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核心体验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查看内容、拾音、外放、回复与返回主界面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逐项标明可用、受限、待验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异常恢复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断网重连、重启恢复、长时间放置后的表现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需要设备上的记录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离线与本地 AI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哪些功能离线可用，哪些依赖云端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尚未确认；不等同于全部离线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4B3AD683-98A7-40E3-B70F-68CE138E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建议：先展示一个能完整走通的家庭使用流程，再讨论更多功能。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048E11B-88DE-44FB-8DEC-83076188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04 / 22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1CEA6583-B7C6-430D-8E24-AF97AE97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U1">
            <a:extLst xmlns:a="http://schemas.openxmlformats.org/drawingml/2006/main">
              <a:ext uri="{FF2B5EF4-FFF2-40B4-BE49-F238E27FC236}">
                <a16:creationId xmlns:a16="http://schemas.microsoft.com/office/drawing/2014/main" id="{26D08C6F-E76F-41C8-A169-1DF59B3F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U1</a:t>
            </a:r>
          </a:p>
        </p:txBody>
      </p:sp>
      <p:sp>
        <p:nvSpPr>
          <p:cNvPr id="9" name="source-P1">
            <a:extLst xmlns:a="http://schemas.openxmlformats.org/drawingml/2006/main">
              <a:ext uri="{FF2B5EF4-FFF2-40B4-BE49-F238E27FC236}">
                <a16:creationId xmlns:a16="http://schemas.microsoft.com/office/drawing/2014/main" id="{6EC599F0-121A-43A0-817C-26F94243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2140944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1E9DE594-431D-45CB-8BCE-33E81C01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联系人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1EA081-D5AD-47BC-A256-9746EEAB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贾配洋：身份与职业记录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54C3D771-5170-4528-B9BF-5A0E1692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截图联系人与贾配洋（Peiyang Jia）高度匹配，最强依据是邮箱一致。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6B553084-944F-4D83-BE58-1B76E754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联系线索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5761EF57-5D89-4920-A239-3F38FBD6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贾老师／总裁办／高级业务助理；这一现任头衔来自用户提供材料。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A0849B8-3A07-4970-9597-93FF4A98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公开职业记录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26BED9D1-4FA1-4EBD-8BBB-9F9817E0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南京大学 2025 年交流报道、上市配售核查文件均列其为研究院经理。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435E2C0E-14C6-4B36-8DA7-A1B15757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研究记录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06E6AF43-693D-4882-AEDD-CC4F8CDA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署名 Agent-based Video Trimming，单位为 Insta360。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CF08C4DB-7C0D-400D-B916-A3F3D0DB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身份连接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864B0057-DD75-4852-9962-30572F7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公开项目邮箱 jiapeiyang@insta360.com 与联系线索精确匹配。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F965BC2A-1520-4E3F-BF3B-8150F81E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准备方向：把他视为有研发合作背景的内部项目入口；实际职责与权限需在会谈确认。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70312AE-1FDE-4966-994B-55A19FD6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05 / 22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BB5C01CF-0A48-4960-BE43-3F1C817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2">
            <a:extLst xmlns:a="http://schemas.openxmlformats.org/drawingml/2006/main">
              <a:ext uri="{FF2B5EF4-FFF2-40B4-BE49-F238E27FC236}">
                <a16:creationId xmlns:a16="http://schemas.microsoft.com/office/drawing/2014/main" id="{6C40A55A-28B3-459F-8801-E5A83CEA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U2</a:t>
            </a:r>
          </a:p>
        </p:txBody>
      </p:sp>
      <p:sp>
        <p:nvSpPr>
          <p:cNvPr id="16" name="source-S2">
            <a:extLst xmlns:a="http://schemas.openxmlformats.org/drawingml/2006/main">
              <a:ext uri="{FF2B5EF4-FFF2-40B4-BE49-F238E27FC236}">
                <a16:creationId xmlns:a16="http://schemas.microsoft.com/office/drawing/2014/main" id="{6FFD8B75-117D-4029-B16E-E7965C6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4a5a5ab3ee6b4e7b"/>
              </a:rPr>
              <a:t>S2 ↗</a:t>
            </a:r>
          </a:p>
        </p:txBody>
      </p:sp>
      <p:sp>
        <p:nvSpPr>
          <p:cNvPr id="17" name="source-S3">
            <a:extLst xmlns:a="http://schemas.openxmlformats.org/drawingml/2006/main">
              <a:ext uri="{FF2B5EF4-FFF2-40B4-BE49-F238E27FC236}">
                <a16:creationId xmlns:a16="http://schemas.microsoft.com/office/drawing/2014/main" id="{DA2CB9C2-02B5-4DDC-825E-D7E7CA28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90ebe26f6f28478e"/>
              </a:rPr>
              <a:t>S3 ↗</a:t>
            </a:r>
          </a:p>
        </p:txBody>
      </p:sp>
      <p:sp>
        <p:nvSpPr>
          <p:cNvPr id="18" name="source-S4">
            <a:extLst xmlns:a="http://schemas.openxmlformats.org/drawingml/2006/main">
              <a:ext uri="{FF2B5EF4-FFF2-40B4-BE49-F238E27FC236}">
                <a16:creationId xmlns:a16="http://schemas.microsoft.com/office/drawing/2014/main" id="{318597D1-18F4-4FFB-B6E9-0271A66C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15eee6dae9344e2f"/>
              </a:rPr>
              <a:t>S4 ↗</a:t>
            </a:r>
          </a:p>
        </p:txBody>
      </p:sp>
    </p:spTree>
    <p:extLst>
      <p:ext uri="{BB962C8B-B14F-4D97-AF65-F5344CB8AC3E}">
        <p14:creationId xmlns:p14="http://schemas.microsoft.com/office/powerpoint/2010/main" val="970647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">
            <a:extLst xmlns:a="http://schemas.openxmlformats.org/drawingml/2006/main">
              <a:ext uri="{FF2B5EF4-FFF2-40B4-BE49-F238E27FC236}">
                <a16:creationId xmlns:a16="http://schemas.microsoft.com/office/drawing/2014/main" id="{E03D53B5-5721-4A59-99BA-0CA788C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联系人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94C37D-5905-4517-8245-E10083E8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官网与社交媒体查到了什么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9980BF06-FD9C-4A78-A5E4-5BB96B46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目前没有可靠的个人社交账号，也没有找到影石官网上的个人任职介绍。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3FF1B255-3E54-48D0-96A3-1B3F2F77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有依据的职业线索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8287F1D2-489A-41F7-ADD8-C3150F2F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高校官网与上市文件可核查历史职务。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006FA855-CDD2-47C1-AC11-2A02E41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作者项目与论文可核查影像 AI 研究署名。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319BB2F7-B3BF-4F2B-846B-9C785B1A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有外部研究与影石产品研发交流的经历。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012A19AB-4FE4-4FBC-9EF4-7B980EB0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仍然未知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A73926ED-EC20-4E58-8F8E-7372578A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当前职责、投资权限，以及是否对接关联基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金。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2EE135D3-F23F-4BE6-A464-C83123B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日常 BP 数量、岗位考核与个人投资偏好。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DE82A684-F268-4B54-862A-ED1834C0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本人运营的 LinkedIn、微博、知乎、小红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书等账号。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FE70686E-6A0F-4095-AC6E-F4A137FD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检索限制：主要覆盖公开索引；小红书搜索受登录限制，微博有访问限制。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342F1E69-B7A3-4DE5-B42F-1703BAC5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06 / 22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FA04698A-C81C-416E-8FB3-54D0BC7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S2">
            <a:extLst xmlns:a="http://schemas.openxmlformats.org/drawingml/2006/main">
              <a:ext uri="{FF2B5EF4-FFF2-40B4-BE49-F238E27FC236}">
                <a16:creationId xmlns:a16="http://schemas.microsoft.com/office/drawing/2014/main" id="{33F8C986-0164-4630-A93D-18A69876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abfd2fec9985407c"/>
              </a:rPr>
              <a:t>S2 ↗</a:t>
            </a:r>
          </a:p>
        </p:txBody>
      </p:sp>
      <p:sp>
        <p:nvSpPr>
          <p:cNvPr id="16" name="source-S3">
            <a:extLst xmlns:a="http://schemas.openxmlformats.org/drawingml/2006/main">
              <a:ext uri="{FF2B5EF4-FFF2-40B4-BE49-F238E27FC236}">
                <a16:creationId xmlns:a16="http://schemas.microsoft.com/office/drawing/2014/main" id="{B3B331B3-7D1B-4D57-8043-7789115C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72d52aec8c84c58"/>
              </a:rPr>
              <a:t>S3 ↗</a:t>
            </a:r>
          </a:p>
        </p:txBody>
      </p:sp>
      <p:sp>
        <p:nvSpPr>
          <p:cNvPr id="17" name="source-S4">
            <a:extLst xmlns:a="http://schemas.openxmlformats.org/drawingml/2006/main">
              <a:ext uri="{FF2B5EF4-FFF2-40B4-BE49-F238E27FC236}">
                <a16:creationId xmlns:a16="http://schemas.microsoft.com/office/drawing/2014/main" id="{C45C65D9-9CCB-4A4B-8EDA-4AA02B5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678d49ed95ad4e3c"/>
              </a:rPr>
              <a:t>S4 ↗</a:t>
            </a:r>
          </a:p>
        </p:txBody>
      </p:sp>
      <p:sp>
        <p:nvSpPr>
          <p:cNvPr id="18" name="source-S8">
            <a:extLst xmlns:a="http://schemas.openxmlformats.org/drawingml/2006/main">
              <a:ext uri="{FF2B5EF4-FFF2-40B4-BE49-F238E27FC236}">
                <a16:creationId xmlns:a16="http://schemas.microsoft.com/office/drawing/2014/main" id="{DF9F0AC4-3F86-40BA-AD30-DAE3C408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bcda9ef71b34d09"/>
              </a:rPr>
              <a:t>S8 ↗</a:t>
            </a:r>
          </a:p>
        </p:txBody>
      </p:sp>
    </p:spTree>
    <p:extLst>
      <p:ext uri="{BB962C8B-B14F-4D97-AF65-F5344CB8AC3E}">
        <p14:creationId xmlns:p14="http://schemas.microsoft.com/office/powerpoint/2010/main" val="67483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">
            <a:extLst xmlns:a="http://schemas.openxmlformats.org/drawingml/2006/main">
              <a:ext uri="{FF2B5EF4-FFF2-40B4-BE49-F238E27FC236}">
                <a16:creationId xmlns:a16="http://schemas.microsoft.com/office/drawing/2014/main" id="{81459882-E76D-4AC5-8C6C-9F79023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沟通针对性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0CA212-1673-4BF1-BEDC-3F0FE21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让他有理由向内部推荐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6B76B6B-C192-4A43-9280-BFB5E6C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建议按他的判断任务准备材料，而不是猜测个人喜好。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39964-FB2C-494C-8545-B19D6D035658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他需要判断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我们给什么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推荐时可以怎么说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与影石有什么关系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家庭持续观看与回应的具体场景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拍摄后的影像还有家庭使用机会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为何值得支持外部团队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实际原型、场景洞察与执行分工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团队能承担一段清楚的验证工作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支持后如何判断成效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预算、里程碑与继续投入条件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投入对应可检查的进展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下一步该交给谁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明确融资诉求与希望评估的议题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请产品或投资负责人进一步判断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399CF2D1-8F7A-4C19-A2B0-EB0FE1D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岗位推断：他可能承担筛选、协调或转交；这些职责尚未得到本人确认。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4A46E628-3C6A-4A17-A13E-7A78FC8B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07 / 22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5F872B40-3375-4945-BC75-8882F4A5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S2">
            <a:extLst xmlns:a="http://schemas.openxmlformats.org/drawingml/2006/main">
              <a:ext uri="{FF2B5EF4-FFF2-40B4-BE49-F238E27FC236}">
                <a16:creationId xmlns:a16="http://schemas.microsoft.com/office/drawing/2014/main" id="{4D398C0F-3BF0-4E4B-B97A-B4C7A09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82e940437714ca8"/>
              </a:rPr>
              <a:t>S2 ↗</a:t>
            </a:r>
          </a:p>
        </p:txBody>
      </p:sp>
      <p:sp>
        <p:nvSpPr>
          <p:cNvPr id="9" name="source-U2">
            <a:extLst xmlns:a="http://schemas.openxmlformats.org/drawingml/2006/main">
              <a:ext uri="{FF2B5EF4-FFF2-40B4-BE49-F238E27FC236}">
                <a16:creationId xmlns:a16="http://schemas.microsoft.com/office/drawing/2014/main" id="{5E02D9C8-7A32-4FD6-AF0C-54CA5987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U2</a:t>
            </a:r>
          </a:p>
        </p:txBody>
      </p:sp>
    </p:spTree>
    <p:extLst>
      <p:ext uri="{BB962C8B-B14F-4D97-AF65-F5344CB8AC3E}">
        <p14:creationId xmlns:p14="http://schemas.microsoft.com/office/powerpoint/2010/main" val="1570382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3985D900-619B-42C6-A61F-2CF6FD7E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融资路径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A4B721-8F2E-48C7-AAF0-D5B4751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两条入口，分别推进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E4623F2-4BD1-4BD8-9D5E-2BBFCCD6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影石公司内部支持，与影石参与的基金，是不同的判断链条。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4EF27-6BD3-48E8-84AF-B3EDA4E24273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影石战略／业务路径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关联基金投资路径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看重什么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产品布局、影像使用场景与业务价值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团队、需求、成长性与投资回报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我们怎么讲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家庭智能屏与影石的具体合作假设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一家独立公司为何值得早期投资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请联系人做什么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引荐有明确职责的产品／战略负责人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确认实际投资团队与项目接收入口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是否有预算、评估权与直接投资机制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基金进展、投资条件及受理状态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5162572E-3F6F-41C4-AFE8-700536F0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“专业基金”不自动等于纯财务投资；产业与其他投资约束仍需确认。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7512090-8118-463F-921B-FF2C633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08 / 22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45120582-6EC1-40B8-B6A4-664F986D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S1">
            <a:extLst xmlns:a="http://schemas.openxmlformats.org/drawingml/2006/main">
              <a:ext uri="{FF2B5EF4-FFF2-40B4-BE49-F238E27FC236}">
                <a16:creationId xmlns:a16="http://schemas.microsoft.com/office/drawing/2014/main" id="{56B08628-ACB4-49D9-87E4-343EA4F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7a4dbfe6eee42a0"/>
              </a:rPr>
              <a:t>S1 ↗</a:t>
            </a:r>
          </a:p>
        </p:txBody>
      </p:sp>
    </p:spTree>
    <p:extLst>
      <p:ext uri="{BB962C8B-B14F-4D97-AF65-F5344CB8AC3E}">
        <p14:creationId xmlns:p14="http://schemas.microsoft.com/office/powerpoint/2010/main" val="2057334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EDCF8A17-8E36-497C-B5D1-DC15BE9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融资路径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DF795D-EAB2-4D30-AB4E-FEF85054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关联基金的公开线索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DBAC9895-E7B0-4189-82D6-82320E5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 年 6 月公告：影石全资子公司拟参与峰瑞影佳基金。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DC1DAD69-E61E-4B4D-94FF-18666B8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1 亿元</a:t>
            </a:r>
          </a:p>
        </p:txBody>
      </p:sp>
      <p:sp>
        <p:nvSpPr>
          <p:cNvPr id="5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93B2BFB-F210-4F44-8471-7F134C5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一路高飞拟认缴</a:t>
            </a:r>
          </a:p>
        </p:txBody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E0DD530B-87C7-4A1F-9DFB-E17C533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02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27.50%</a:t>
            </a:r>
          </a:p>
        </p:txBody>
      </p:sp>
      <p:sp>
        <p:nvSpPr>
          <p:cNvPr id="7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71EFB697-B843-4890-9F26-8715A9CC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拟占首期认缴比例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CC56C851-2E73-46A3-890B-79B1D988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5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约 3.64 亿元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0A70F1CF-CB21-4E38-949D-4492B16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基金拟定首期规模</a:t>
            </a:r>
          </a:p>
        </p:txBody>
      </p:sp>
      <p:sp>
        <p:nvSpPr>
          <p:cNvPr id="10" name="row-label-0">
            <a:extLst xmlns:a="http://schemas.openxmlformats.org/drawingml/2006/main">
              <a:ext uri="{FF2B5EF4-FFF2-40B4-BE49-F238E27FC236}">
                <a16:creationId xmlns:a16="http://schemas.microsoft.com/office/drawing/2014/main" id="{81F70AFA-B550-4BF9-84B4-C238DE2F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主体关系</a:t>
            </a:r>
          </a:p>
        </p:txBody>
      </p:sp>
      <p:sp>
        <p:nvSpPr>
          <p:cNvPr id="11" name="row-body-0">
            <a:extLst xmlns:a="http://schemas.openxmlformats.org/drawingml/2006/main">
              <a:ext uri="{FF2B5EF4-FFF2-40B4-BE49-F238E27FC236}">
                <a16:creationId xmlns:a16="http://schemas.microsoft.com/office/drawing/2014/main" id="{98A7C326-15CD-4B1D-AB93-A526115C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933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一路高飞（深圳）科技有限公司为 LP；深圳瑞宏为 GP／管理人。</a:t>
            </a:r>
          </a:p>
        </p:txBody>
      </p:sp>
      <p:sp>
        <p:nvSpPr>
          <p:cNvPr id="12" name="row-label-1">
            <a:extLst xmlns:a="http://schemas.openxmlformats.org/drawingml/2006/main">
              <a:ext uri="{FF2B5EF4-FFF2-40B4-BE49-F238E27FC236}">
                <a16:creationId xmlns:a16="http://schemas.microsoft.com/office/drawing/2014/main" id="{A8673D76-565A-4D4E-AC53-95617580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投资方向</a:t>
            </a:r>
          </a:p>
        </p:txBody>
      </p:sp>
      <p:sp>
        <p:nvSpPr>
          <p:cNvPr id="13" name="row-body-1">
            <a:extLst xmlns:a="http://schemas.openxmlformats.org/drawingml/2006/main">
              <a:ext uri="{FF2B5EF4-FFF2-40B4-BE49-F238E27FC236}">
                <a16:creationId xmlns:a16="http://schemas.microsoft.com/office/drawing/2014/main" id="{EE9C71A6-C5C0-43EA-AC08-42513FC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933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种子期、初创期；聚焦 AI 及智能硬件上下游。</a:t>
            </a:r>
          </a:p>
        </p:txBody>
      </p:sp>
      <p:sp>
        <p:nvSpPr>
          <p:cNvPr id="14" name="row-label-2">
            <a:extLst xmlns:a="http://schemas.openxmlformats.org/drawingml/2006/main">
              <a:ext uri="{FF2B5EF4-FFF2-40B4-BE49-F238E27FC236}">
                <a16:creationId xmlns:a16="http://schemas.microsoft.com/office/drawing/2014/main" id="{6FB800D6-6BEA-4CD6-BC40-5CE83302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决策关系</a:t>
            </a:r>
          </a:p>
        </p:txBody>
      </p:sp>
      <p:sp>
        <p:nvSpPr>
          <p:cNvPr id="15" name="row-body-2">
            <a:extLst xmlns:a="http://schemas.openxmlformats.org/drawingml/2006/main">
              <a:ext uri="{FF2B5EF4-FFF2-40B4-BE49-F238E27FC236}">
                <a16:creationId xmlns:a16="http://schemas.microsoft.com/office/drawing/2014/main" id="{868E990C-47C1-4F90-8141-30DD81D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14900"/>
            <a:ext cx="9334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投委会成员由执行事务合伙人任命；不能称影石独资或直接管理的基金。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38D38E7C-72AC-4282-975C-F0822B7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这是历史披露的拟认缴安排；当前设立、备案与项目受理状态仍需确认。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0F72538D-18D3-4220-BA2B-9FA65C19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09 / 22</a:t>
            </a:r>
          </a:p>
        </p:txBody>
      </p:sp>
      <p:sp>
        <p:nvSpPr>
          <p:cNvPr id="18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722AA8B5-D45A-4460-96F3-F0654BEC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9" name="source-S1">
            <a:extLst xmlns:a="http://schemas.openxmlformats.org/drawingml/2006/main">
              <a:ext uri="{FF2B5EF4-FFF2-40B4-BE49-F238E27FC236}">
                <a16:creationId xmlns:a16="http://schemas.microsoft.com/office/drawing/2014/main" id="{17BA3AF4-700D-42CB-969E-6ED420E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5d08c9fc624f4a0d"/>
              </a:rPr>
              <a:t>S1 ↗</a:t>
            </a:r>
          </a:p>
        </p:txBody>
      </p:sp>
      <p:sp>
        <p:nvSpPr>
          <p:cNvPr id="20" name="source-S7">
            <a:extLst xmlns:a="http://schemas.openxmlformats.org/drawingml/2006/main">
              <a:ext uri="{FF2B5EF4-FFF2-40B4-BE49-F238E27FC236}">
                <a16:creationId xmlns:a16="http://schemas.microsoft.com/office/drawing/2014/main" id="{1643351D-38A8-4204-B5EE-92D9BB0D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42af573bef4b42c1"/>
              </a:rPr>
              <a:t>S7 ↗</a:t>
            </a:r>
          </a:p>
        </p:txBody>
      </p:sp>
    </p:spTree>
    <p:extLst>
      <p:ext uri="{BB962C8B-B14F-4D97-AF65-F5344CB8AC3E}">
        <p14:creationId xmlns:p14="http://schemas.microsoft.com/office/powerpoint/2010/main" val="292391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18D67E32-B701-4BEC-9A0D-4542DBBD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双方价值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0A8286-E02F-4FB3-9FEC-601C797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影石已有能力与我们的切入点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7D915DF8-DDF2-4AD1-83D9-A21D2D1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基础 AI 整理、自动剪辑或 3D 技术名称，本身不足以构成合作价值。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0E36F281-06C3-4951-8ED1-8C44F693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官方已有介绍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790B9B97-9010-4C70-A95C-8347069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AI 导演：素材筛选与自动剪辑。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DEFD1743-6541-455B-ACEF-72441772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Insta360+：云存储、分享、播放与编辑。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7B2E2D8C-6540-4A74-83DA-D5615B03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X6 产品介绍：3DGS、PanoMind 与空间重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建。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479C8549-3946-45BA-AECB-520FBAB7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我们要验证的机会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708859B3-436F-44B8-A177-8C27F3E8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拍摄者之外的家人，是否愿意持续观看。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D3BCFC5A-1B23-4607-9603-97657F2C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智能屏能否降低打开、查看与回应的负担。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DE79B2CF-154C-49A7-A7B3-0228807D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影像讲述与回应，是否形成家庭使用习惯。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F93B9C77-2EB3-452C-B2E0-116A4DFE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判断：差异化应落在家庭使用效果；右侧目前是业务假设。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E7570A9-B2D4-44B5-B975-D2C1578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10 / 22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F3FC02F1-4C0D-451F-B9BC-43E0149A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S5">
            <a:extLst xmlns:a="http://schemas.openxmlformats.org/drawingml/2006/main">
              <a:ext uri="{FF2B5EF4-FFF2-40B4-BE49-F238E27FC236}">
                <a16:creationId xmlns:a16="http://schemas.microsoft.com/office/drawing/2014/main" id="{F19DF225-E369-436B-91E9-8D1EF353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357fd56626684087"/>
              </a:rPr>
              <a:t>S5 ↗</a:t>
            </a:r>
          </a:p>
        </p:txBody>
      </p:sp>
      <p:sp>
        <p:nvSpPr>
          <p:cNvPr id="16" name="source-S6">
            <a:extLst xmlns:a="http://schemas.openxmlformats.org/drawingml/2006/main">
              <a:ext uri="{FF2B5EF4-FFF2-40B4-BE49-F238E27FC236}">
                <a16:creationId xmlns:a16="http://schemas.microsoft.com/office/drawing/2014/main" id="{1DD6FE9A-27D7-4093-A243-6F782D3D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b170c3074254f48"/>
              </a:rPr>
              <a:t>S6 ↗</a:t>
            </a:r>
          </a:p>
        </p:txBody>
      </p:sp>
    </p:spTree>
    <p:extLst>
      <p:ext uri="{BB962C8B-B14F-4D97-AF65-F5344CB8AC3E}">
        <p14:creationId xmlns:p14="http://schemas.microsoft.com/office/powerpoint/2010/main" val="2100096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5315019A-515D-4DE2-AA1A-BADA60A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双方价值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96E0BE-F0AB-4575-B93D-35250967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我们可能给影石的价值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1ADF53D-DD43-4510-A07B-6BFA7DF8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现阶段能提供的是原型与验证能力；业务收益要通过使用证据证明。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06D7DED5-BF66-41A6-8EB2-44E79085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家庭观看场景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2303BA5D-5334-42D3-9D9A-E566B2F8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把拍摄后的影像带到家庭空间，观察非拍摄者如何参与。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C0475AD6-4316-4E1A-A9E8-39F91F35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轻量验证团队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4D147932-DE54-4B2A-9062-73C7ABBC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由我们承担原型迭代、试用组织和体验反馈，形成可判断的结果。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2AA89E22-FB43-4D94-A1A9-9B83F99C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产品合作选项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F6E7E500-0E16-4843-8510-9BD6981A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探索素材导入、家庭播放与讲述；技术接口及合作条件待确认。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1F392BF9-7133-44C9-9126-7367768D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潜在投资机会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DB5B7499-23C7-4B89-A420-9553608E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如果需求与商业模式成立，影石可评估早期参与的价值。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0DFD364C-4C4C-480B-B5AD-20B80013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尚不能承诺：新增硬件销量、付费转化、大规模用户、独家技术或渠道收益。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23CBE5A9-712C-4937-A77A-FFE0CD64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047907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AC50C26D-6C7A-458B-A370-DC9D10A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双方价值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F25D91-B503-49A6-BF3D-BCF1007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我们希望从影石得到什么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1071B5F-B3BF-4430-B458-9BBD4102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优先级建议：资金与评估路径在前，资源支持服务于具体里程碑。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A9A32-C58F-4F6A-8504-88F44470CE35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优先级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诉求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需要讲具体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早期资金／进入投资评估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金额、资金用途、周期与阶段目标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内部负责人或基金团队引荐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由谁接手、需补什么、下次何时沟通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硬件经验、供应链及设备支持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希望解决的系统、音频或整机问题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技术对接与试点渠道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可开放的接口、参与人员与评估范围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13C14950-BAED-4CAE-8797-8600B788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以上均是希望争取的支持，不代表影石已承诺或一定具备可开放资源。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288A6EF-95C0-420F-9517-BD44F92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21057620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1984FE47-0B73-43BC-B8B4-C4E75F7C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投资判断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6E7D9A-1814-4954-9861-C115A1DA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我们自己的商业问题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393EBF5-1A71-485B-8CAA-C161077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即使获得影石支持，独立需求与经营逻辑仍需要成立。</a:t>
            </a:r>
          </a:p>
        </p:txBody>
      </p:sp>
      <p:sp>
        <p:nvSpPr>
          <p:cNvPr id="4" name="col-0-title">
            <a:extLst xmlns:a="http://schemas.openxmlformats.org/drawingml/2006/main">
              <a:ext uri="{FF2B5EF4-FFF2-40B4-BE49-F238E27FC236}">
                <a16:creationId xmlns:a16="http://schemas.microsoft.com/office/drawing/2014/main" id="{2494FD8F-07CA-4ED6-A2E7-8750E537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需求与付费</a:t>
            </a:r>
          </a:p>
        </p:txBody>
      </p:sp>
      <p:sp>
        <p:nvSpPr>
          <p:cNvPr id="5" name="col-0-0">
            <a:extLst xmlns:a="http://schemas.openxmlformats.org/drawingml/2006/main">
              <a:ext uri="{FF2B5EF4-FFF2-40B4-BE49-F238E27FC236}">
                <a16:creationId xmlns:a16="http://schemas.microsoft.com/office/drawing/2014/main" id="{661F8695-A37C-48F9-9233-576B2189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谁购买：成年子女、家庭共同购买，还是其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他人群？</a:t>
            </a:r>
          </a:p>
        </p:txBody>
      </p:sp>
      <p:sp>
        <p:nvSpPr>
          <p:cNvPr id="6" name="col-0-1">
            <a:extLst xmlns:a="http://schemas.openxmlformats.org/drawingml/2006/main">
              <a:ext uri="{FF2B5EF4-FFF2-40B4-BE49-F238E27FC236}">
                <a16:creationId xmlns:a16="http://schemas.microsoft.com/office/drawing/2014/main" id="{EEE3DB8E-7D6D-4338-9158-5CD7264D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为什么需要一块屏：比手机分享或普通相框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好在哪里？</a:t>
            </a:r>
          </a:p>
        </p:txBody>
      </p:sp>
      <p:sp>
        <p:nvSpPr>
          <p:cNvPr id="7" name="col-0-2">
            <a:extLst xmlns:a="http://schemas.openxmlformats.org/drawingml/2006/main">
              <a:ext uri="{FF2B5EF4-FFF2-40B4-BE49-F238E27FC236}">
                <a16:creationId xmlns:a16="http://schemas.microsoft.com/office/drawing/2014/main" id="{658160C5-EE50-4635-A0DE-357088B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为什么持续使用：新内容、讲述与回复是否</a:t>
            </a:r>
          </a:p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足够？</a:t>
            </a:r>
          </a:p>
        </p:txBody>
      </p:sp>
      <p:sp>
        <p:nvSpPr>
          <p:cNvPr id="8" name="col-1-title">
            <a:extLst xmlns:a="http://schemas.openxmlformats.org/drawingml/2006/main">
              <a:ext uri="{FF2B5EF4-FFF2-40B4-BE49-F238E27FC236}">
                <a16:creationId xmlns:a16="http://schemas.microsoft.com/office/drawing/2014/main" id="{779A02E5-4B63-4F48-9572-8D9289C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产品与成本</a:t>
            </a:r>
          </a:p>
        </p:txBody>
      </p:sp>
      <p:sp>
        <p:nvSpPr>
          <p:cNvPr id="9" name="col-1-0">
            <a:extLst xmlns:a="http://schemas.openxmlformats.org/drawingml/2006/main">
              <a:ext uri="{FF2B5EF4-FFF2-40B4-BE49-F238E27FC236}">
                <a16:creationId xmlns:a16="http://schemas.microsoft.com/office/drawing/2014/main" id="{ABF85448-9FBD-4E27-8456-6B8E873D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9560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先交付现有设备方案，还是定制完整硬件？</a:t>
            </a:r>
          </a:p>
        </p:txBody>
      </p:sp>
      <p:sp>
        <p:nvSpPr>
          <p:cNvPr id="10" name="col-1-1">
            <a:extLst xmlns:a="http://schemas.openxmlformats.org/drawingml/2006/main">
              <a:ext uri="{FF2B5EF4-FFF2-40B4-BE49-F238E27FC236}">
                <a16:creationId xmlns:a16="http://schemas.microsoft.com/office/drawing/2014/main" id="{3B2E696D-F1B9-4F06-8367-89AABAA4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62375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一次性硬件收入与持续服务费用如何组合？</a:t>
            </a:r>
          </a:p>
        </p:txBody>
      </p:sp>
      <p:sp>
        <p:nvSpPr>
          <p:cNvPr id="11" name="col-1-2">
            <a:extLst xmlns:a="http://schemas.openxmlformats.org/drawingml/2006/main">
              <a:ext uri="{FF2B5EF4-FFF2-40B4-BE49-F238E27FC236}">
                <a16:creationId xmlns:a16="http://schemas.microsoft.com/office/drawing/2014/main" id="{BA630F3A-5A73-4A64-AA66-02B9A8B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629150"/>
            <a:ext cx="4905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AI、云服务、售后和退换成本如何覆盖？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374E4D31-06A0-4F2A-9117-CD181A5F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这些是待验证问题；当前不填没有依据的用户规模、售价或市场预测。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F3990DA0-BC39-4DA1-A582-41D70685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13 / 22</a:t>
            </a:r>
          </a:p>
        </p:txBody>
      </p:sp>
      <p:sp>
        <p:nvSpPr>
          <p:cNvPr id="14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80315EA7-A57A-4075-BF7B-8A64630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5" name="source-U1">
            <a:extLst xmlns:a="http://schemas.openxmlformats.org/drawingml/2006/main">
              <a:ext uri="{FF2B5EF4-FFF2-40B4-BE49-F238E27FC236}">
                <a16:creationId xmlns:a16="http://schemas.microsoft.com/office/drawing/2014/main" id="{111B42F0-3655-4F72-8510-855CB64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U1</a:t>
            </a:r>
          </a:p>
        </p:txBody>
      </p:sp>
      <p:sp>
        <p:nvSpPr>
          <p:cNvPr id="16" name="source-P1">
            <a:extLst xmlns:a="http://schemas.openxmlformats.org/drawingml/2006/main">
              <a:ext uri="{FF2B5EF4-FFF2-40B4-BE49-F238E27FC236}">
                <a16:creationId xmlns:a16="http://schemas.microsoft.com/office/drawing/2014/main" id="{0CE285F9-0948-4F21-B5D7-760C740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14687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C9D8118-B6EB-4ADC-AA46-876E358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材料准备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BDEB9E-EB30-4496-A723-B3BCA569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第一次会谈需要的证据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4E52BBB9-415C-4408-9921-5BBA207D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重点展示一个完整流程，并把每项证据证明到哪一步写清。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EA0D0-D125-44F9-98CF-C87489506A55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它要回答什么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证据边界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 90 秒实际演示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照片进入屏端，观看与回应能否走通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标明设备、版本与云端依赖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一页产品与机会说明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谁使用、为何需要、与影石有何关系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业务收益列为假设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当前验证记录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做到了什么，最重要的缺口是什么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软件测试、真机、家庭试用分开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资金与里程碑草案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这笔钱解决什么，何时再评估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金额与期限由团队确认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7E39D529-5232-4A74-846E-47F97DAC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建议先做成他可以直接转交的材料，再根据实际职责调整讨论重点。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9E162D4-CA34-4B0B-8D84-165DAE4E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14 / 22</a:t>
            </a:r>
          </a:p>
        </p:txBody>
      </p:sp>
      <p:sp>
        <p:nvSpPr>
          <p:cNvPr id="7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02A9BF73-DB06-4308-9366-ACE552A5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8" name="source-P1">
            <a:extLst xmlns:a="http://schemas.openxmlformats.org/drawingml/2006/main">
              <a:ext uri="{FF2B5EF4-FFF2-40B4-BE49-F238E27FC236}">
                <a16:creationId xmlns:a16="http://schemas.microsoft.com/office/drawing/2014/main" id="{713BE3FA-88F7-42A8-85B9-F73D3BD1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3377328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2E0D9F05-F418-4FFE-8F99-B0A97C74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材料准备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D58AB6-0F2B-4E43-AC5B-88138177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资金用途与下一阶段验证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05122C05-2FCE-4AE0-B958-9502A8B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金额尚未确定；先把工作包、成本与产出对应起来。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492B9-403F-400D-B162-4F8BFB0BB66A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需要产出的东西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用于下一轮判断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设备独立运行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稳定启动、联网、音频与恢复记录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能否离开开发环境日常使用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家庭试用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实际观看、回应、持续使用的记录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是否存在持续需求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产品化测算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备选硬件、单台成本与服务成本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价格和交付方式能否成立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关键合作验证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素材接入或联合场景演示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与影石合作的增量价值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C5B337C3-0BDF-4F8F-882F-11B91AA5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试点提案：可讨论 4–6 周、约 10 个家庭；样本与门槛需在启动前确定。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A9DE11E-B003-4D7E-8E64-7B1BA35F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18920826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6529830C-30D5-41FC-B9E6-D6BA085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会谈安排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68372D4-6D5A-442F-8498-52724AC7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建议的 30 分钟会谈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B9C18B6-453F-4582-B5E0-C658A14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先了解他负责什么，再围绕真实原型和投资路径展开。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8A2F5F64-A179-404C-AD38-6193BC6F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前 5 分钟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4CF86CDC-947C-484B-9207-66B9A7DC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确认职责与关注方向；用一句话介绍家庭智能屏。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EDF4629B-35CC-489B-8BB2-6CCE7A44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接着 5 分钟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85DE2AAB-96C5-4E92-85EE-6326149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展示实际流程；讲清当前硬件探索和最关键的缺口。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E5087919-4B80-42AF-B52A-D7B102D6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中间 10 分钟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C9E45C5C-E9CB-4317-BD8F-0D281C01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6715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讨论影石为什么值得参与，听取业务与产品判断。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33B08DE3-4E31-4E68-80D9-A9960346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482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最后 10 分钟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D8E852FD-2795-4759-BC9A-7B0E013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48200"/>
            <a:ext cx="9096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明确融资诉求、评估团队、补充材料与下次沟通安排。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57902A3F-033D-428C-8630-903B30D0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这是内部时间分配建议，可按对方的反馈调整。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FF8BA85-A0A5-4F49-90BF-2D5966C5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5019511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247119A0-3737-4418-B48A-FEE12EE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会谈安排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9DB46A-1C69-4299-819B-EE616CA4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有依据的开场与提问</a:t>
            </a:r>
          </a:p>
        </p:txBody>
      </p:sp>
      <p:sp>
        <p:nvSpPr>
          <p:cNvPr id="3" name="quote">
            <a:extLst xmlns:a="http://schemas.openxmlformats.org/drawingml/2006/main">
              <a:ext uri="{FF2B5EF4-FFF2-40B4-BE49-F238E27FC236}">
                <a16:creationId xmlns:a16="http://schemas.microsoft.com/office/drawing/2014/main" id="{A71187E1-D3C2-431B-81BE-716C0429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我们查到您参与署名的 AVT 工作，也看到您此前参与过研究与产品研发的交流。我</a:t>
            </a:r>
          </a:p>
          <a:p xmlns:a="http://schemas.openxmlformats.org/drawingml/2006/main">
            <a:pPr>
              <a:defRPr sz="22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们关注的是：影像整理出来之后，家人为什么愿意持续看，并产生回应？</a:t>
            </a:r>
          </a:p>
        </p:txBody>
      </p:sp>
      <p:sp>
        <p:nvSpPr>
          <p:cNvPr id="4" name="after">
            <a:extLst xmlns:a="http://schemas.openxmlformats.org/drawingml/2006/main">
              <a:ext uri="{FF2B5EF4-FFF2-40B4-BE49-F238E27FC236}">
                <a16:creationId xmlns:a16="http://schemas.microsoft.com/office/drawing/2014/main" id="{A8AEF0F9-6E2E-4D6B-A343-8569E224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11049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我们正在用现有设备探索独立运行的 AI 家庭智能屏。这次有明确的融资诉求，希望请您判断场景价值，以及</a:t>
            </a:r>
          </a:p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怎样进入进一步评估。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9333A501-3D7E-42E8-B762-D614016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005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1. 您现在看外部项目，更偏技术合作、产品孵化，还是投资筛选？</a:t>
            </a:r>
          </a:p>
        </p:txBody>
      </p:sp>
      <p:sp>
        <p:nvSpPr>
          <p:cNvPr id="6" name="question-1">
            <a:extLst xmlns:a="http://schemas.openxmlformats.org/drawingml/2006/main">
              <a:ext uri="{FF2B5EF4-FFF2-40B4-BE49-F238E27FC236}">
                <a16:creationId xmlns:a16="http://schemas.microsoft.com/office/drawing/2014/main" id="{BCFCF332-6A30-4122-B112-775F91FB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768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2. 影石会怎样判断一个家庭影像场景值得投入？</a:t>
            </a:r>
          </a:p>
        </p:txBody>
      </p:sp>
      <p:sp>
        <p:nvSpPr>
          <p:cNvPr id="7" name="question-2">
            <a:extLst xmlns:a="http://schemas.openxmlformats.org/drawingml/2006/main">
              <a:ext uri="{FF2B5EF4-FFF2-40B4-BE49-F238E27FC236}">
                <a16:creationId xmlns:a16="http://schemas.microsoft.com/office/drawing/2014/main" id="{B095E46E-9F86-4305-B977-7B5B1E2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3. 若方向合适，下一步由谁评估，需要我们补哪些证据？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26D5140E-EB74-4D7E-B12F-88BD08DB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17 / 22</a:t>
            </a:r>
          </a:p>
        </p:txBody>
      </p:sp>
      <p:sp>
        <p:nvSpPr>
          <p:cNvPr id="9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2379117D-7731-4FB2-9CDF-6D45368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0" name="source-S2">
            <a:extLst xmlns:a="http://schemas.openxmlformats.org/drawingml/2006/main">
              <a:ext uri="{FF2B5EF4-FFF2-40B4-BE49-F238E27FC236}">
                <a16:creationId xmlns:a16="http://schemas.microsoft.com/office/drawing/2014/main" id="{2FF0A373-7C1C-4C28-A03B-A06DA008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ae37bd78b4904de7"/>
              </a:rPr>
              <a:t>S2 ↗</a:t>
            </a:r>
          </a:p>
        </p:txBody>
      </p:sp>
      <p:sp>
        <p:nvSpPr>
          <p:cNvPr id="11" name="source-S3">
            <a:extLst xmlns:a="http://schemas.openxmlformats.org/drawingml/2006/main">
              <a:ext uri="{FF2B5EF4-FFF2-40B4-BE49-F238E27FC236}">
                <a16:creationId xmlns:a16="http://schemas.microsoft.com/office/drawing/2014/main" id="{B0258869-11C2-4AEA-9ADD-C74B7243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deee04b10994c6d"/>
              </a:rPr>
              <a:t>S3 ↗</a:t>
            </a:r>
          </a:p>
        </p:txBody>
      </p:sp>
      <p:sp>
        <p:nvSpPr>
          <p:cNvPr id="12" name="source-S9">
            <a:extLst xmlns:a="http://schemas.openxmlformats.org/drawingml/2006/main">
              <a:ext uri="{FF2B5EF4-FFF2-40B4-BE49-F238E27FC236}">
                <a16:creationId xmlns:a16="http://schemas.microsoft.com/office/drawing/2014/main" id="{DC7DDB4F-92FC-424E-86E1-DF8304F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db41cc989da4b1f"/>
              </a:rPr>
              <a:t>S9 ↗</a:t>
            </a:r>
          </a:p>
        </p:txBody>
      </p:sp>
    </p:spTree>
    <p:extLst>
      <p:ext uri="{BB962C8B-B14F-4D97-AF65-F5344CB8AC3E}">
        <p14:creationId xmlns:p14="http://schemas.microsoft.com/office/powerpoint/2010/main" val="4761262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">
            <a:extLst xmlns:a="http://schemas.openxmlformats.org/drawingml/2006/main">
              <a:ext uri="{FF2B5EF4-FFF2-40B4-BE49-F238E27FC236}">
                <a16:creationId xmlns:a16="http://schemas.microsoft.com/office/drawing/2014/main" id="{60D9AAAE-1AEA-4129-8518-9FC263AE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会后推进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F137E5-AB58-4476-B679-151C0122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不同反馈对应的下一步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F96E1E9F-B016-4742-894D-45B4D166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每条推进路径都应有负责人和明确的再次评估条件。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CEE50-948C-459F-B5CE-8E75DA220A37}"/>
              </a:ext>
            </a:extLst>
          </p:cNvPr>
          <p:cNvGraphicFramePr/>
          <p:nvPr/>
        </p:nvGraphicFramePr>
        <p:xfrm>
          <a:off xmlns:a="http://schemas.openxmlformats.org/drawingml/2006/main" x="571500" y="22098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33575"/>
                <a:gridCol w="4552950"/>
                <a:gridCol w="4562475"/>
              </a:tblGrid>
              <a:tr h="49530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对方反馈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争取落实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9778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融资主线如何保留</a:t>
                      </a:r>
                    </a:p>
                  </a:txBody>
                  <a:tcPr marL="91440" marR="91440" marT="45720" marB="45720" anchor="ctr">
                    <a:solidFill>
                      <a:srgbClr val="EEF4F6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内部认为有战略价值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产品／战略与投资同事共同评估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确认资金路径和评估材料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更适合关联基金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引荐实际负责早期项目的投资团队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确认投资条件与接收入口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希望先做联合验证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限定周期、分工、投入和指标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约定什么结果触发投资讨论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暂时不匹配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了解具体原因与可推荐的其他入口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364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记录反馈，避免无限补功能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akeaway">
            <a:extLst xmlns:a="http://schemas.openxmlformats.org/drawingml/2006/main">
              <a:ext uri="{FF2B5EF4-FFF2-40B4-BE49-F238E27FC236}">
                <a16:creationId xmlns:a16="http://schemas.microsoft.com/office/drawing/2014/main" id="{2F22D4DB-5D62-411E-B73F-D5E75DC5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需要内部讨论的商业条件：独家、知识产权、数据权限与品牌使用范围。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D2AC3FF-4E32-47BD-B961-B74AA99C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0342198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58CA19B5-0948-4412-9C56-3F90CFBC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内部拍板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A92398-67A7-4A00-AFE4-E5AA96F9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我们下一轮先讨论这五件事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68DA5E7C-38A3-4E3B-A458-231DCEE6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先决定产品与融资范围，再把对外材料压缩出来。</a:t>
            </a:r>
          </a:p>
        </p:txBody>
      </p:sp>
      <p:sp>
        <p:nvSpPr>
          <p:cNvPr id="4" name="row-label-0">
            <a:extLst xmlns:a="http://schemas.openxmlformats.org/drawingml/2006/main">
              <a:ext uri="{FF2B5EF4-FFF2-40B4-BE49-F238E27FC236}">
                <a16:creationId xmlns:a16="http://schemas.microsoft.com/office/drawing/2014/main" id="{9F9ED6CE-6ED8-42E8-90C0-53753EDD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1 · 演示范围</a:t>
            </a:r>
          </a:p>
        </p:txBody>
      </p:sp>
      <p:sp>
        <p:nvSpPr>
          <p:cNvPr id="5" name="row-body-0">
            <a:extLst xmlns:a="http://schemas.openxmlformats.org/drawingml/2006/main">
              <a:ext uri="{FF2B5EF4-FFF2-40B4-BE49-F238E27FC236}">
                <a16:creationId xmlns:a16="http://schemas.microsoft.com/office/drawing/2014/main" id="{A1160BA9-AC3C-4253-BB8B-A68C605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05050"/>
            <a:ext cx="909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这次准备展示哪台设备？完整流程现在能跑到哪一步？</a:t>
            </a:r>
          </a:p>
        </p:txBody>
      </p:sp>
      <p:sp>
        <p:nvSpPr>
          <p:cNvPr id="6" name="row-label-1">
            <a:extLst xmlns:a="http://schemas.openxmlformats.org/drawingml/2006/main">
              <a:ext uri="{FF2B5EF4-FFF2-40B4-BE49-F238E27FC236}">
                <a16:creationId xmlns:a16="http://schemas.microsoft.com/office/drawing/2014/main" id="{4B2DF5E2-F0F1-431D-8264-6358378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2 · 首要需求</a:t>
            </a:r>
          </a:p>
        </p:txBody>
      </p:sp>
      <p:sp>
        <p:nvSpPr>
          <p:cNvPr id="7" name="row-body-1">
            <a:extLst xmlns:a="http://schemas.openxmlformats.org/drawingml/2006/main">
              <a:ext uri="{FF2B5EF4-FFF2-40B4-BE49-F238E27FC236}">
                <a16:creationId xmlns:a16="http://schemas.microsoft.com/office/drawing/2014/main" id="{9E2CA878-3613-41F2-A8F5-6D2BDD06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43225"/>
            <a:ext cx="909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更需要钱、硬件产品化支持，还是进入投资团队？排序是什么？</a:t>
            </a:r>
          </a:p>
        </p:txBody>
      </p:sp>
      <p:sp>
        <p:nvSpPr>
          <p:cNvPr id="8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EB28AC8-2FBD-45E7-B0A7-46BF8C6C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3 · 融资草案</a:t>
            </a:r>
          </a:p>
        </p:txBody>
      </p:sp>
      <p:sp>
        <p:nvSpPr>
          <p:cNvPr id="9" name="row-body-2">
            <a:extLst xmlns:a="http://schemas.openxmlformats.org/drawingml/2006/main">
              <a:ext uri="{FF2B5EF4-FFF2-40B4-BE49-F238E27FC236}">
                <a16:creationId xmlns:a16="http://schemas.microsoft.com/office/drawing/2014/main" id="{093E68EF-FFD7-4712-B71D-D8C5A010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81400"/>
            <a:ext cx="909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金额、用途、周期、团队／公司主体与股权边界如何设定？</a:t>
            </a:r>
          </a:p>
        </p:txBody>
      </p:sp>
      <p:sp>
        <p:nvSpPr>
          <p:cNvPr id="1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1C077B97-8FEC-44F5-A9F2-C13CBF04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9575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4 · 独立价值</a:t>
            </a:r>
          </a:p>
        </p:txBody>
      </p:sp>
      <p:sp>
        <p:nvSpPr>
          <p:cNvPr id="11" name="row-body-3">
            <a:extLst xmlns:a="http://schemas.openxmlformats.org/drawingml/2006/main">
              <a:ext uri="{FF2B5EF4-FFF2-40B4-BE49-F238E27FC236}">
                <a16:creationId xmlns:a16="http://schemas.microsoft.com/office/drawing/2014/main" id="{08F7CAD3-6AA6-4C99-A35F-5A772212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19575"/>
            <a:ext cx="909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不依赖影石合作，谁会购买并持续使用这个智能屏？</a:t>
            </a:r>
          </a:p>
        </p:txBody>
      </p:sp>
      <p:sp>
        <p:nvSpPr>
          <p:cNvPr id="12" name="row-label-4">
            <a:extLst xmlns:a="http://schemas.openxmlformats.org/drawingml/2006/main">
              <a:ext uri="{FF2B5EF4-FFF2-40B4-BE49-F238E27FC236}">
                <a16:creationId xmlns:a16="http://schemas.microsoft.com/office/drawing/2014/main" id="{F1DD1827-3139-424B-BF89-493EF37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7430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5 · 会后结果</a:t>
            </a:r>
          </a:p>
        </p:txBody>
      </p:sp>
      <p:sp>
        <p:nvSpPr>
          <p:cNvPr id="13" name="row-body-4">
            <a:extLst xmlns:a="http://schemas.openxmlformats.org/drawingml/2006/main">
              <a:ext uri="{FF2B5EF4-FFF2-40B4-BE49-F238E27FC236}">
                <a16:creationId xmlns:a16="http://schemas.microsoft.com/office/drawing/2014/main" id="{FDD098CB-94C2-4DAF-BC81-A361D7E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909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希望拿到哪个负责人的下一次评估？需要先补哪项证据？</a:t>
            </a:r>
          </a:p>
        </p:txBody>
      </p:sp>
      <p:sp>
        <p:nvSpPr>
          <p:cNvPr id="14" name="takeaway">
            <a:extLst xmlns:a="http://schemas.openxmlformats.org/drawingml/2006/main">
              <a:ext uri="{FF2B5EF4-FFF2-40B4-BE49-F238E27FC236}">
                <a16:creationId xmlns:a16="http://schemas.microsoft.com/office/drawing/2014/main" id="{E291B465-F8A1-4631-B810-537BA92E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我的建议：先定“这次演示什么”和“资金换来什么进展”，再调整话术。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9F71BCA7-4F11-4F0F-890D-28A408D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19 / 22</a:t>
            </a:r>
          </a:p>
        </p:txBody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62125FFE-0A50-46DC-AAB3-1D6A540E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17" name="source-U1">
            <a:extLst xmlns:a="http://schemas.openxmlformats.org/drawingml/2006/main">
              <a:ext uri="{FF2B5EF4-FFF2-40B4-BE49-F238E27FC236}">
                <a16:creationId xmlns:a16="http://schemas.microsoft.com/office/drawing/2014/main" id="{490E89D7-B50F-465E-BEBC-052F8932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579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U1</a:t>
            </a:r>
          </a:p>
        </p:txBody>
      </p:sp>
    </p:spTree>
    <p:extLst>
      <p:ext uri="{BB962C8B-B14F-4D97-AF65-F5344CB8AC3E}">
        <p14:creationId xmlns:p14="http://schemas.microsoft.com/office/powerpoint/2010/main" val="572878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">
            <a:extLst xmlns:a="http://schemas.openxmlformats.org/drawingml/2006/main">
              <a:ext uri="{FF2B5EF4-FFF2-40B4-BE49-F238E27FC236}">
                <a16:creationId xmlns:a16="http://schemas.microsoft.com/office/drawing/2014/main" id="{CC6DE7BD-F1E6-45BA-A770-7905B86E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来源附录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7CF4D9-D1CC-4797-AFBE-9A1D16CF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来源 A｜投资与基金</a:t>
            </a:r>
          </a:p>
        </p:txBody>
      </p:sp>
      <p:sp>
        <p:nvSpPr>
          <p:cNvPr id="3" name="ref-S1">
            <a:extLst xmlns:a="http://schemas.openxmlformats.org/drawingml/2006/main">
              <a:ext uri="{FF2B5EF4-FFF2-40B4-BE49-F238E27FC236}">
                <a16:creationId xmlns:a16="http://schemas.microsoft.com/office/drawing/2014/main" id="{B9379F31-DC1D-4987-B624-776E108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S1</a:t>
            </a:r>
          </a:p>
        </p:txBody>
      </p:sp>
      <p:sp>
        <p:nvSpPr>
          <p:cNvPr id="4" name="ref-title-S1">
            <a:extLst xmlns:a="http://schemas.openxmlformats.org/drawingml/2006/main">
              <a:ext uri="{FF2B5EF4-FFF2-40B4-BE49-F238E27FC236}">
                <a16:creationId xmlns:a16="http://schemas.microsoft.com/office/drawing/2014/main" id="{CA723277-5082-4499-83B6-897D624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145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022babd3b9ac4698"/>
              </a:rPr>
              <a:t>影石：参与设立投资基金公告（2026-022） ↗</a:t>
            </a:r>
          </a:p>
        </p:txBody>
      </p:sp>
      <p:sp>
        <p:nvSpPr>
          <p:cNvPr id="5" name="ref-locator-S1">
            <a:extLst xmlns:a="http://schemas.openxmlformats.org/drawingml/2006/main">
              <a:ext uri="{FF2B5EF4-FFF2-40B4-BE49-F238E27FC236}">
                <a16:creationId xmlns:a16="http://schemas.microsoft.com/office/drawing/2014/main" id="{5DEC5DE9-3BAE-44BA-962B-225EE461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574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2026-06-19 · PDF 第 1、3、9–12、14 页</a:t>
            </a:r>
          </a:p>
        </p:txBody>
      </p:sp>
      <p:sp>
        <p:nvSpPr>
          <p:cNvPr id="6" name="ref-summary-S1">
            <a:extLst xmlns:a="http://schemas.openxmlformats.org/drawingml/2006/main">
              <a:ext uri="{FF2B5EF4-FFF2-40B4-BE49-F238E27FC236}">
                <a16:creationId xmlns:a16="http://schemas.microsoft.com/office/drawing/2014/main" id="{5DD6B6E4-FB66-4A43-8A03-8A1D7364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9552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拟认缴金额、LP/GP 关系、投委会安排、投资阶段与领域。公告时点的拟设立状态不能当作 10 月现状。</a:t>
            </a:r>
          </a:p>
        </p:txBody>
      </p:sp>
      <p:sp>
        <p:nvSpPr>
          <p:cNvPr id="7" name="ref-S7">
            <a:extLst xmlns:a="http://schemas.openxmlformats.org/drawingml/2006/main">
              <a:ext uri="{FF2B5EF4-FFF2-40B4-BE49-F238E27FC236}">
                <a16:creationId xmlns:a16="http://schemas.microsoft.com/office/drawing/2014/main" id="{BB9CA78A-18D4-4935-8673-B97A8BE1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S7</a:t>
            </a:r>
          </a:p>
        </p:txBody>
      </p:sp>
      <p:sp>
        <p:nvSpPr>
          <p:cNvPr id="8" name="ref-title-S7">
            <a:extLst xmlns:a="http://schemas.openxmlformats.org/drawingml/2006/main">
              <a:ext uri="{FF2B5EF4-FFF2-40B4-BE49-F238E27FC236}">
                <a16:creationId xmlns:a16="http://schemas.microsoft.com/office/drawing/2014/main" id="{CA7929FF-D1F2-40B9-823D-EB336B4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8612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35023181c014032"/>
              </a:rPr>
              <a:t>2026 年半年度报告（进展线索） ↗</a:t>
            </a:r>
          </a:p>
        </p:txBody>
      </p:sp>
      <p:sp>
        <p:nvSpPr>
          <p:cNvPr id="9" name="ref-locator-S7">
            <a:extLst xmlns:a="http://schemas.openxmlformats.org/drawingml/2006/main">
              <a:ext uri="{FF2B5EF4-FFF2-40B4-BE49-F238E27FC236}">
                <a16:creationId xmlns:a16="http://schemas.microsoft.com/office/drawing/2014/main" id="{838C95A0-A9FE-421F-95FC-E5BB85D9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29025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2026-08-28 · 待回读：投资基金相关表格</a:t>
            </a:r>
          </a:p>
        </p:txBody>
      </p:sp>
      <p:sp>
        <p:nvSpPr>
          <p:cNvPr id="10" name="ref-summary-S7">
            <a:extLst xmlns:a="http://schemas.openxmlformats.org/drawingml/2006/main">
              <a:ext uri="{FF2B5EF4-FFF2-40B4-BE49-F238E27FC236}">
                <a16:creationId xmlns:a16="http://schemas.microsoft.com/office/drawing/2014/main" id="{6BDA5362-6D4E-441F-980B-4584964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67150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搜索索引出现 2026-08-24 协议签署线索，原表未完整回读；不据此判断基金已设立、备案或开始投资。</a:t>
            </a:r>
          </a:p>
        </p:txBody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BFB16558-2AFC-4E6A-AEE5-1F40DAAA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可信度区分：6 月公告已核实；8 月进展仅保留为待回读线索。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7EC7B6A-EFAA-4900-97BF-8EDE3275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4644628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">
            <a:extLst xmlns:a="http://schemas.openxmlformats.org/drawingml/2006/main">
              <a:ext uri="{FF2B5EF4-FFF2-40B4-BE49-F238E27FC236}">
                <a16:creationId xmlns:a16="http://schemas.microsoft.com/office/drawing/2014/main" id="{0B7426DB-A1B9-48C5-B767-70296E0F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来源附录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EFB35B-28C7-4F53-8230-C9AB1D9B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来源 B｜联系人与职业活动</a:t>
            </a:r>
          </a:p>
        </p:txBody>
      </p:sp>
      <p:sp>
        <p:nvSpPr>
          <p:cNvPr id="3" name="ref-S2">
            <a:extLst xmlns:a="http://schemas.openxmlformats.org/drawingml/2006/main">
              <a:ext uri="{FF2B5EF4-FFF2-40B4-BE49-F238E27FC236}">
                <a16:creationId xmlns:a16="http://schemas.microsoft.com/office/drawing/2014/main" id="{FE69A149-3EBD-4DA5-8228-57A20BA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S2</a:t>
            </a:r>
          </a:p>
        </p:txBody>
      </p:sp>
      <p:sp>
        <p:nvSpPr>
          <p:cNvPr id="4" name="ref-title-S2">
            <a:extLst xmlns:a="http://schemas.openxmlformats.org/drawingml/2006/main">
              <a:ext uri="{FF2B5EF4-FFF2-40B4-BE49-F238E27FC236}">
                <a16:creationId xmlns:a16="http://schemas.microsoft.com/office/drawing/2014/main" id="{3EAFC156-6A40-4F56-9825-CE692BC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145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ef74b590fee14455"/>
              </a:rPr>
              <a:t>南京大学：影石研究院来访交流 ↗</a:t>
            </a:r>
          </a:p>
        </p:txBody>
      </p:sp>
      <p:sp>
        <p:nvSpPr>
          <p:cNvPr id="5" name="ref-locator-S2">
            <a:extLst xmlns:a="http://schemas.openxmlformats.org/drawingml/2006/main">
              <a:ext uri="{FF2B5EF4-FFF2-40B4-BE49-F238E27FC236}">
                <a16:creationId xmlns:a16="http://schemas.microsoft.com/office/drawing/2014/main" id="{89CD3277-C3BF-4713-AC56-F1630647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574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2025-02-21 · 正文：2025-02-19 来访与合作交流段</a:t>
            </a:r>
          </a:p>
        </p:txBody>
      </p:sp>
      <p:sp>
        <p:nvSpPr>
          <p:cNvPr id="6" name="ref-summary-S2">
            <a:extLst xmlns:a="http://schemas.openxmlformats.org/drawingml/2006/main">
              <a:ext uri="{FF2B5EF4-FFF2-40B4-BE49-F238E27FC236}">
                <a16:creationId xmlns:a16="http://schemas.microsoft.com/office/drawing/2014/main" id="{F3744C92-8DCD-4C4C-B2A8-E15E737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95525"/>
            <a:ext cx="1052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贾配洋以研究院经理身份出席，介绍产品业务，讨论外部研究与影石产品研发结合。</a:t>
            </a:r>
          </a:p>
        </p:txBody>
      </p:sp>
      <p:sp>
        <p:nvSpPr>
          <p:cNvPr id="7" name="ref-S3">
            <a:extLst xmlns:a="http://schemas.openxmlformats.org/drawingml/2006/main">
              <a:ext uri="{FF2B5EF4-FFF2-40B4-BE49-F238E27FC236}">
                <a16:creationId xmlns:a16="http://schemas.microsoft.com/office/drawing/2014/main" id="{A5F5E709-0BDC-48D8-A9EF-BED7D70B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S3</a:t>
            </a:r>
          </a:p>
        </p:txBody>
      </p:sp>
      <p:sp>
        <p:nvSpPr>
          <p:cNvPr id="8" name="ref-title-S3">
            <a:extLst xmlns:a="http://schemas.openxmlformats.org/drawingml/2006/main">
              <a:ext uri="{FF2B5EF4-FFF2-40B4-BE49-F238E27FC236}">
                <a16:creationId xmlns:a16="http://schemas.microsoft.com/office/drawing/2014/main" id="{B29EB747-58D2-4418-98C5-9BB5693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3365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f581b46c9ad146cc"/>
              </a:rPr>
              <a:t>AVT 作者项目与公开邮箱 ↗</a:t>
            </a:r>
          </a:p>
        </p:txBody>
      </p:sp>
      <p:sp>
        <p:nvSpPr>
          <p:cNvPr id="9" name="ref-locator-S3">
            <a:extLst xmlns:a="http://schemas.openxmlformats.org/drawingml/2006/main">
              <a:ext uri="{FF2B5EF4-FFF2-40B4-BE49-F238E27FC236}">
                <a16:creationId xmlns:a16="http://schemas.microsoft.com/office/drawing/2014/main" id="{435CCBDA-AEAA-43E8-8BFB-57A93EFF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论文首次提交 2024-12 · README：作者、单位、邮箱与任务介绍</a:t>
            </a:r>
          </a:p>
        </p:txBody>
      </p:sp>
      <p:sp>
        <p:nvSpPr>
          <p:cNvPr id="10" name="ref-summary-S3">
            <a:extLst xmlns:a="http://schemas.openxmlformats.org/drawingml/2006/main">
              <a:ext uri="{FF2B5EF4-FFF2-40B4-BE49-F238E27FC236}">
                <a16:creationId xmlns:a16="http://schemas.microsoft.com/office/drawing/2014/main" id="{17D81C96-A80B-45B3-82D4-B06D58D7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14675"/>
            <a:ext cx="1052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Peiyang Jia 的署名单位为 Insta360，邮箱与联系线索精确匹配；不能据署名推断本人主导或具体分工。</a:t>
            </a:r>
          </a:p>
        </p:txBody>
      </p:sp>
      <p:sp>
        <p:nvSpPr>
          <p:cNvPr id="11" name="ref-S4">
            <a:extLst xmlns:a="http://schemas.openxmlformats.org/drawingml/2006/main">
              <a:ext uri="{FF2B5EF4-FFF2-40B4-BE49-F238E27FC236}">
                <a16:creationId xmlns:a16="http://schemas.microsoft.com/office/drawing/2014/main" id="{CD72BCCE-C575-4DE2-9AA2-80C2C94F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S4</a:t>
            </a:r>
          </a:p>
        </p:txBody>
      </p:sp>
      <p:sp>
        <p:nvSpPr>
          <p:cNvPr id="12" name="ref-title-S4">
            <a:extLst xmlns:a="http://schemas.openxmlformats.org/drawingml/2006/main">
              <a:ext uri="{FF2B5EF4-FFF2-40B4-BE49-F238E27FC236}">
                <a16:creationId xmlns:a16="http://schemas.microsoft.com/office/drawing/2014/main" id="{355DBEB9-234F-4AF5-879D-0EA8020E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528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8e39fa68075848a3"/>
              </a:rPr>
              <a:t>上市战略配售核查文件 ↗</a:t>
            </a:r>
          </a:p>
        </p:txBody>
      </p:sp>
      <p:sp>
        <p:nvSpPr>
          <p:cNvPr id="13" name="ref-locator-S4">
            <a:extLst xmlns:a="http://schemas.openxmlformats.org/drawingml/2006/main">
              <a:ext uri="{FF2B5EF4-FFF2-40B4-BE49-F238E27FC236}">
                <a16:creationId xmlns:a16="http://schemas.microsoft.com/office/drawing/2014/main" id="{C796DFCB-335C-4359-B1E8-3E0718EF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957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2025-05-29 · PDF 第 9 页；页内编号 6-1-8；第 12 行</a:t>
            </a:r>
          </a:p>
        </p:txBody>
      </p:sp>
      <p:sp>
        <p:nvSpPr>
          <p:cNvPr id="14" name="ref-summary-S4">
            <a:extLst xmlns:a="http://schemas.openxmlformats.org/drawingml/2006/main">
              <a:ext uri="{FF2B5EF4-FFF2-40B4-BE49-F238E27FC236}">
                <a16:creationId xmlns:a16="http://schemas.microsoft.com/office/drawing/2014/main" id="{99747A64-52F4-4F8F-9BC1-7049E2CE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33825"/>
            <a:ext cx="1052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列示贾配洋／研究院经理／核心员工。仅用于职业身份核查。</a:t>
            </a:r>
          </a:p>
        </p:txBody>
      </p:sp>
      <p:sp>
        <p:nvSpPr>
          <p:cNvPr id="15" name="ref-S9">
            <a:extLst xmlns:a="http://schemas.openxmlformats.org/drawingml/2006/main">
              <a:ext uri="{FF2B5EF4-FFF2-40B4-BE49-F238E27FC236}">
                <a16:creationId xmlns:a16="http://schemas.microsoft.com/office/drawing/2014/main" id="{B4C35544-AF8B-4F03-A356-015DAE3D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S9</a:t>
            </a:r>
          </a:p>
        </p:txBody>
      </p:sp>
      <p:sp>
        <p:nvSpPr>
          <p:cNvPr id="16" name="ref-title-S9">
            <a:extLst xmlns:a="http://schemas.openxmlformats.org/drawingml/2006/main">
              <a:ext uri="{FF2B5EF4-FFF2-40B4-BE49-F238E27FC236}">
                <a16:creationId xmlns:a16="http://schemas.microsoft.com/office/drawing/2014/main" id="{60925E92-FAD4-421A-852A-C932E768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7195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d2f89a2527db48da"/>
              </a:rPr>
              <a:t>论文：Agent-based Video Trimming ↗</a:t>
            </a:r>
          </a:p>
        </p:txBody>
      </p:sp>
      <p:sp>
        <p:nvSpPr>
          <p:cNvPr id="17" name="ref-locator-S9">
            <a:extLst xmlns:a="http://schemas.openxmlformats.org/drawingml/2006/main">
              <a:ext uri="{FF2B5EF4-FFF2-40B4-BE49-F238E27FC236}">
                <a16:creationId xmlns:a16="http://schemas.microsoft.com/office/drawing/2014/main" id="{A197870A-21F2-4211-93C9-D05E0F4B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1485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2024-12 · 摘要与作者名单</a:t>
            </a:r>
          </a:p>
        </p:txBody>
      </p:sp>
      <p:sp>
        <p:nvSpPr>
          <p:cNvPr id="18" name="ref-summary-S9">
            <a:extLst xmlns:a="http://schemas.openxmlformats.org/drawingml/2006/main">
              <a:ext uri="{FF2B5EF4-FFF2-40B4-BE49-F238E27FC236}">
                <a16:creationId xmlns:a16="http://schemas.microsoft.com/office/drawing/2014/main" id="{28488979-1570-4F8C-8023-8E38F6A1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752975"/>
            <a:ext cx="1052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研究从长视频中选取片段并组织成有叙事连贯性的短片。</a:t>
            </a:r>
          </a:p>
        </p:txBody>
      </p:sp>
      <p:sp>
        <p:nvSpPr>
          <p:cNvPr id="19" name="ref-S8">
            <a:extLst xmlns:a="http://schemas.openxmlformats.org/drawingml/2006/main">
              <a:ext uri="{FF2B5EF4-FFF2-40B4-BE49-F238E27FC236}">
                <a16:creationId xmlns:a16="http://schemas.microsoft.com/office/drawing/2014/main" id="{F8892B4B-8E7F-429F-B82D-844FFB5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S8</a:t>
            </a:r>
          </a:p>
        </p:txBody>
      </p:sp>
      <p:sp>
        <p:nvSpPr>
          <p:cNvPr id="20" name="ref-title-S8">
            <a:extLst xmlns:a="http://schemas.openxmlformats.org/drawingml/2006/main">
              <a:ext uri="{FF2B5EF4-FFF2-40B4-BE49-F238E27FC236}">
                <a16:creationId xmlns:a16="http://schemas.microsoft.com/office/drawing/2014/main" id="{2232D99F-FF5C-4DD1-B12E-687CE45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911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9ad113fe7f1042e9"/>
              </a:rPr>
              <a:t>ResearchGate：AVT 论文作者条目 ↗</a:t>
            </a:r>
          </a:p>
        </p:txBody>
      </p:sp>
      <p:sp>
        <p:nvSpPr>
          <p:cNvPr id="21" name="ref-locator-S8">
            <a:extLst xmlns:a="http://schemas.openxmlformats.org/drawingml/2006/main">
              <a:ext uri="{FF2B5EF4-FFF2-40B4-BE49-F238E27FC236}">
                <a16:creationId xmlns:a16="http://schemas.microsoft.com/office/drawing/2014/main" id="{D06F8E2E-6E3D-41B4-8E28-10F0FE76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2026-10-12 查阅 · Peiyang Jia 作者条目及认领提示</a:t>
            </a:r>
          </a:p>
        </p:txBody>
      </p:sp>
      <p:sp>
        <p:nvSpPr>
          <p:cNvPr id="22" name="ref-summary-S8">
            <a:extLst xmlns:a="http://schemas.openxmlformats.org/drawingml/2006/main">
              <a:ext uri="{FF2B5EF4-FFF2-40B4-BE49-F238E27FC236}">
                <a16:creationId xmlns:a16="http://schemas.microsoft.com/office/drawing/2014/main" id="{CC3D6982-4E03-4373-A297-CE5E378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572125"/>
            <a:ext cx="1052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页面提示作者不在平台或未认领研究，不能将该条目当作本人运营的账号。</a:t>
            </a:r>
          </a:p>
        </p:txBody>
      </p:sp>
      <p:sp>
        <p:nvSpPr>
          <p:cNvPr id="23" name="takeaway">
            <a:extLst xmlns:a="http://schemas.openxmlformats.org/drawingml/2006/main">
              <a:ext uri="{FF2B5EF4-FFF2-40B4-BE49-F238E27FC236}">
                <a16:creationId xmlns:a16="http://schemas.microsoft.com/office/drawing/2014/main" id="{BCC84329-D2E4-476A-9833-78B51157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现任“总裁办高级业务助理”来自用户线索；公开材料核实的是历史职业记录。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692DBD7E-D4CC-4DCB-A4BC-304CD511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942585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8DE202F4-BBC2-4584-8B6D-4BA69EF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来源附录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FDE330E-045C-406A-9761-91D1E69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来源 C｜产品能力与项目状态</a:t>
            </a:r>
          </a:p>
        </p:txBody>
      </p:sp>
      <p:sp>
        <p:nvSpPr>
          <p:cNvPr id="3" name="ref-S5">
            <a:extLst xmlns:a="http://schemas.openxmlformats.org/drawingml/2006/main">
              <a:ext uri="{FF2B5EF4-FFF2-40B4-BE49-F238E27FC236}">
                <a16:creationId xmlns:a16="http://schemas.microsoft.com/office/drawing/2014/main" id="{A676EFE0-91BB-4FDA-9285-D4AEBD72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S5</a:t>
            </a:r>
          </a:p>
        </p:txBody>
      </p:sp>
      <p:sp>
        <p:nvSpPr>
          <p:cNvPr id="4" name="ref-title-S5">
            <a:extLst xmlns:a="http://schemas.openxmlformats.org/drawingml/2006/main">
              <a:ext uri="{FF2B5EF4-FFF2-40B4-BE49-F238E27FC236}">
                <a16:creationId xmlns:a16="http://schemas.microsoft.com/office/drawing/2014/main" id="{FD41A477-6E17-43BC-93C0-55A32C5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71450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252fb12778840c5"/>
              </a:rPr>
              <a:t>影石官方手册：AI 导演 ↗</a:t>
            </a:r>
          </a:p>
        </p:txBody>
      </p:sp>
      <p:sp>
        <p:nvSpPr>
          <p:cNvPr id="5" name="ref-locator-S5">
            <a:extLst xmlns:a="http://schemas.openxmlformats.org/drawingml/2006/main">
              <a:ext uri="{FF2B5EF4-FFF2-40B4-BE49-F238E27FC236}">
                <a16:creationId xmlns:a16="http://schemas.microsoft.com/office/drawing/2014/main" id="{FAEE1316-F9CE-41D8-9FC1-C8E20E6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5740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2026-10-12 查阅 · 功能介绍</a:t>
            </a:r>
          </a:p>
        </p:txBody>
      </p:sp>
      <p:sp>
        <p:nvSpPr>
          <p:cNvPr id="6" name="ref-summary-S5">
            <a:extLst xmlns:a="http://schemas.openxmlformats.org/drawingml/2006/main">
              <a:ext uri="{FF2B5EF4-FFF2-40B4-BE49-F238E27FC236}">
                <a16:creationId xmlns:a16="http://schemas.microsoft.com/office/drawing/2014/main" id="{00AF0EE7-3ECB-444C-BAAC-1B35B69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9552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已有素材筛选、自动剪辑等能力。基础 AI 整理不宜作为影石缺失能力来推介。</a:t>
            </a:r>
          </a:p>
        </p:txBody>
      </p:sp>
      <p:sp>
        <p:nvSpPr>
          <p:cNvPr id="7" name="ref-S6">
            <a:extLst xmlns:a="http://schemas.openxmlformats.org/drawingml/2006/main">
              <a:ext uri="{FF2B5EF4-FFF2-40B4-BE49-F238E27FC236}">
                <a16:creationId xmlns:a16="http://schemas.microsoft.com/office/drawing/2014/main" id="{D4B85E5C-AFD5-4990-887D-0C214185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S6</a:t>
            </a:r>
          </a:p>
        </p:txBody>
      </p:sp>
      <p:sp>
        <p:nvSpPr>
          <p:cNvPr id="8" name="ref-title-S6">
            <a:extLst xmlns:a="http://schemas.openxmlformats.org/drawingml/2006/main">
              <a:ext uri="{FF2B5EF4-FFF2-40B4-BE49-F238E27FC236}">
                <a16:creationId xmlns:a16="http://schemas.microsoft.com/office/drawing/2014/main" id="{0BDC6B7D-035B-4B64-B774-75818BF5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955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  <a:hlinkClick xmlns:r="http://schemas.openxmlformats.org/officeDocument/2006/relationships" r:id="Rb373368525ce47a5"/>
              </a:rPr>
              <a:t>影石官网：公司与产品介绍 ↗</a:t>
            </a:r>
          </a:p>
        </p:txBody>
      </p:sp>
      <p:sp>
        <p:nvSpPr>
          <p:cNvPr id="9" name="ref-locator-S6">
            <a:extLst xmlns:a="http://schemas.openxmlformats.org/drawingml/2006/main">
              <a:ext uri="{FF2B5EF4-FFF2-40B4-BE49-F238E27FC236}">
                <a16:creationId xmlns:a16="http://schemas.microsoft.com/office/drawing/2014/main" id="{F66ADEE0-56BD-48FD-A308-FC00967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38475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2026-10-12 查阅 · Insta360+ 与 X6 产品段落</a:t>
            </a:r>
          </a:p>
        </p:txBody>
      </p:sp>
      <p:sp>
        <p:nvSpPr>
          <p:cNvPr id="10" name="ref-summary-S6">
            <a:extLst xmlns:a="http://schemas.openxmlformats.org/drawingml/2006/main">
              <a:ext uri="{FF2B5EF4-FFF2-40B4-BE49-F238E27FC236}">
                <a16:creationId xmlns:a16="http://schemas.microsoft.com/office/drawing/2014/main" id="{C2F1EAB0-8E8C-4D41-9E24-021EE046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76600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官网介绍云存储、分享、播放与编辑；亦提及 3DGS、PanoMind 和空间重建。为厂商说明，未做功能实测。</a:t>
            </a:r>
          </a:p>
        </p:txBody>
      </p:sp>
      <p:sp>
        <p:nvSpPr>
          <p:cNvPr id="11" name="ref-U1">
            <a:extLst xmlns:a="http://schemas.openxmlformats.org/drawingml/2006/main">
              <a:ext uri="{FF2B5EF4-FFF2-40B4-BE49-F238E27FC236}">
                <a16:creationId xmlns:a16="http://schemas.microsoft.com/office/drawing/2014/main" id="{3926A504-DA5A-4E4F-884A-CAE0CA5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U1</a:t>
            </a:r>
          </a:p>
        </p:txBody>
      </p:sp>
      <p:sp>
        <p:nvSpPr>
          <p:cNvPr id="12" name="ref-title-U1">
            <a:extLst xmlns:a="http://schemas.openxmlformats.org/drawingml/2006/main">
              <a:ext uri="{FF2B5EF4-FFF2-40B4-BE49-F238E27FC236}">
                <a16:creationId xmlns:a16="http://schemas.microsoft.com/office/drawing/2014/main" id="{4C0DA874-F85E-4A2C-BB2F-A13C8DF5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76650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Max 本轮补充：硬件探索</a:t>
            </a:r>
          </a:p>
        </p:txBody>
      </p:sp>
      <p:sp>
        <p:nvSpPr>
          <p:cNvPr id="13" name="ref-locator-U1">
            <a:extLst xmlns:a="http://schemas.openxmlformats.org/drawingml/2006/main">
              <a:ext uri="{FF2B5EF4-FFF2-40B4-BE49-F238E27FC236}">
                <a16:creationId xmlns:a16="http://schemas.microsoft.com/office/drawing/2014/main" id="{6BA72F24-5CC0-48F1-AF8B-C1B7578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2026-10-12 · 本次讨论</a:t>
            </a:r>
          </a:p>
        </p:txBody>
      </p:sp>
      <p:sp>
        <p:nvSpPr>
          <p:cNvPr id="14" name="ref-summary-U1">
            <a:extLst xmlns:a="http://schemas.openxmlformats.org/drawingml/2006/main">
              <a:ext uri="{FF2B5EF4-FFF2-40B4-BE49-F238E27FC236}">
                <a16:creationId xmlns:a16="http://schemas.microsoft.com/office/drawing/2014/main" id="{78C383DC-68E1-40EF-AF03-8526ADBD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257675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有尝试着用别的设备，完整地做成一个单机能跑出来的东西。此处记录探索方向，不自动认定已经完成整机验收。</a:t>
            </a:r>
          </a:p>
        </p:txBody>
      </p:sp>
      <p:sp>
        <p:nvSpPr>
          <p:cNvPr id="15" name="ref-P1">
            <a:extLst xmlns:a="http://schemas.openxmlformats.org/drawingml/2006/main">
              <a:ext uri="{FF2B5EF4-FFF2-40B4-BE49-F238E27FC236}">
                <a16:creationId xmlns:a16="http://schemas.microsoft.com/office/drawing/2014/main" id="{77F0B23A-0F11-4627-A018-42F0E2FB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577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P1</a:t>
            </a:r>
          </a:p>
        </p:txBody>
      </p:sp>
      <p:sp>
        <p:nvSpPr>
          <p:cNvPr id="16" name="ref-title-P1">
            <a:extLst xmlns:a="http://schemas.openxmlformats.org/drawingml/2006/main">
              <a:ext uri="{FF2B5EF4-FFF2-40B4-BE49-F238E27FC236}">
                <a16:creationId xmlns:a16="http://schemas.microsoft.com/office/drawing/2014/main" id="{97BCC53D-E491-467A-A2D7-263884F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5772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7364E"/>
                </a:solidFill>
                <a:latin typeface="Noto Sans SC"/>
                <a:ea typeface="Noto Sans SC"/>
                <a:cs typeface="Noto Sans SC"/>
              </a:rPr>
              <a:t>项目产品基线与交付记录</a:t>
            </a:r>
          </a:p>
        </p:txBody>
      </p:sp>
      <p:sp>
        <p:nvSpPr>
          <p:cNvPr id="17" name="ref-locator-P1">
            <a:extLst xmlns:a="http://schemas.openxmlformats.org/drawingml/2006/main">
              <a:ext uri="{FF2B5EF4-FFF2-40B4-BE49-F238E27FC236}">
                <a16:creationId xmlns:a16="http://schemas.microsoft.com/office/drawing/2014/main" id="{7765CADB-0752-4B45-9AB4-15DA9620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00625"/>
            <a:ext cx="10525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2026-09-25 至 2026-10-12 · 本次核读的产品基线、集成交接与部署记录</a:t>
            </a:r>
          </a:p>
        </p:txBody>
      </p:sp>
      <p:sp>
        <p:nvSpPr>
          <p:cNvPr id="18" name="ref-summary-P1">
            <a:extLst xmlns:a="http://schemas.openxmlformats.org/drawingml/2006/main">
              <a:ext uri="{FF2B5EF4-FFF2-40B4-BE49-F238E27FC236}">
                <a16:creationId xmlns:a16="http://schemas.microsoft.com/office/drawing/2014/main" id="{4F45C368-5D74-4B6D-AE7C-DA1B841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38750"/>
            <a:ext cx="10525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家庭发送照片／文字／原声，相框接收、播放与回复；已有软件与设备集成探索。部署、浏览器测试不能替代真机独立运行、真人音频、家庭留存与付费证据。原始工程材料保留在项目内。</a:t>
            </a:r>
          </a:p>
        </p:txBody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62F8E6C2-12BD-414E-9630-8865D448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97780"/>
                </a:solidFill>
                <a:latin typeface="Noto Sans SC"/>
                <a:ea typeface="Noto Sans SC"/>
                <a:cs typeface="Noto Sans SC"/>
              </a:rPr>
              <a:t>产品能力以官方说明为来源；智能屏当前方向以 Max 的本轮补充为优先。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5DBC58FA-29FE-43C2-B4A9-5C50CA2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36D80"/>
                </a:solidFill>
                <a:latin typeface="Noto Sans SC"/>
                <a:ea typeface="Noto Sans SC"/>
                <a:cs typeface="Noto Sans SC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2775904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2026-10-12T13:33:01.4590000Z</dcterms:created>
  <dcterms:modified xsi:type="dcterms:W3CDTF">2026-10-12T13:33:01.4590000Z</dcterms:modified>
</coreProperties>
</file>
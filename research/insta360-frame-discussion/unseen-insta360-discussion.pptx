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f22d9ba786415e" /><Relationship Type="http://schemas.openxmlformats.org/officeDocument/2006/relationships/extended-properties" Target="/docProps/app.xml" Id="Raa8046b76bae4975" /><Relationship Type="http://schemas.openxmlformats.org/officeDocument/2006/relationships/officeDocument" Target="/ppt/presentation.xml" Id="Rb9cd83ffe19f4d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b08d60ef00461c"/>
  </p:sldMasterIdLst>
  <p:notesMasterIdLst>
    <p:notesMasterId xmlns:r="http://schemas.openxmlformats.org/officeDocument/2006/relationships" r:id="Re26259a0f0824f35"/>
  </p:notesMasterIdLst>
  <p:sldIdLst>
    <p:sldId xmlns:r="http://schemas.openxmlformats.org/officeDocument/2006/relationships" id="256" r:id="Rec097e4b61d64474"/>
    <p:sldId xmlns:r="http://schemas.openxmlformats.org/officeDocument/2006/relationships" id="257" r:id="R3e928f4a4ca647aa"/>
    <p:sldId xmlns:r="http://schemas.openxmlformats.org/officeDocument/2006/relationships" id="258" r:id="Rbbaf46626a5c48ec"/>
    <p:sldId xmlns:r="http://schemas.openxmlformats.org/officeDocument/2006/relationships" id="259" r:id="Re4327586101b477d"/>
    <p:sldId xmlns:r="http://schemas.openxmlformats.org/officeDocument/2006/relationships" id="260" r:id="R4499125737874ad9"/>
    <p:sldId xmlns:r="http://schemas.openxmlformats.org/officeDocument/2006/relationships" id="261" r:id="R04946dcee9eb477a"/>
    <p:sldId xmlns:r="http://schemas.openxmlformats.org/officeDocument/2006/relationships" id="262" r:id="R904c2f9db5094c29"/>
    <p:sldId xmlns:r="http://schemas.openxmlformats.org/officeDocument/2006/relationships" id="263" r:id="Rdab9be567c3f41ca"/>
    <p:sldId xmlns:r="http://schemas.openxmlformats.org/officeDocument/2006/relationships" id="264" r:id="R61ca8fe6eb3e4423"/>
    <p:sldId xmlns:r="http://schemas.openxmlformats.org/officeDocument/2006/relationships" id="265" r:id="R4855ce3647a341fe"/>
    <p:sldId xmlns:r="http://schemas.openxmlformats.org/officeDocument/2006/relationships" id="266" r:id="Radda45a9c3674485"/>
    <p:sldId xmlns:r="http://schemas.openxmlformats.org/officeDocument/2006/relationships" id="267" r:id="R52696710edad44ca"/>
    <p:sldId xmlns:r="http://schemas.openxmlformats.org/officeDocument/2006/relationships" id="268" r:id="R2cb3807718324a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a28713992d4d2d" /><Relationship Type="http://schemas.openxmlformats.org/officeDocument/2006/relationships/slideMaster" Target="/ppt/slideMasters/slideMaster1.xml" Id="R77b08d60ef00461c" /><Relationship Type="http://schemas.openxmlformats.org/officeDocument/2006/relationships/notesMaster" Target="/ppt/notesMasters/notesMaster1.xml" Id="Re26259a0f0824f35" /><Relationship Type="http://schemas.openxmlformats.org/officeDocument/2006/relationships/presProps" Target="/ppt/presProps.xml" Id="Rffce342a17514441" /><Relationship Type="http://schemas.openxmlformats.org/officeDocument/2006/relationships/tableStyles" Target="/ppt/tableStyles.xml" Id="R82ecb376126849e3" /><Relationship Type="http://schemas.openxmlformats.org/officeDocument/2006/relationships/slide" Target="/ppt/slides/slide1.xml" Id="Rec097e4b61d64474" /><Relationship Type="http://schemas.openxmlformats.org/officeDocument/2006/relationships/slide" Target="/ppt/slides/slide2.xml" Id="R3e928f4a4ca647aa" /><Relationship Type="http://schemas.openxmlformats.org/officeDocument/2006/relationships/slide" Target="/ppt/slides/slide3.xml" Id="Rbbaf46626a5c48ec" /><Relationship Type="http://schemas.openxmlformats.org/officeDocument/2006/relationships/slide" Target="/ppt/slides/slide4.xml" Id="Re4327586101b477d" /><Relationship Type="http://schemas.openxmlformats.org/officeDocument/2006/relationships/slide" Target="/ppt/slides/slide5.xml" Id="R4499125737874ad9" /><Relationship Type="http://schemas.openxmlformats.org/officeDocument/2006/relationships/slide" Target="/ppt/slides/slide6.xml" Id="R04946dcee9eb477a" /><Relationship Type="http://schemas.openxmlformats.org/officeDocument/2006/relationships/slide" Target="/ppt/slides/slide7.xml" Id="R904c2f9db5094c29" /><Relationship Type="http://schemas.openxmlformats.org/officeDocument/2006/relationships/slide" Target="/ppt/slides/slide8.xml" Id="Rdab9be567c3f41ca" /><Relationship Type="http://schemas.openxmlformats.org/officeDocument/2006/relationships/slide" Target="/ppt/slides/slide9.xml" Id="R61ca8fe6eb3e4423" /><Relationship Type="http://schemas.openxmlformats.org/officeDocument/2006/relationships/slide" Target="/ppt/slides/slide10.xml" Id="R4855ce3647a341fe" /><Relationship Type="http://schemas.openxmlformats.org/officeDocument/2006/relationships/slide" Target="/ppt/slides/slide11.xml" Id="Radda45a9c3674485" /><Relationship Type="http://schemas.openxmlformats.org/officeDocument/2006/relationships/slide" Target="/ppt/slides/slide12.xml" Id="R52696710edad44ca" /><Relationship Type="http://schemas.openxmlformats.org/officeDocument/2006/relationships/slide" Target="/ppt/slides/slide13.xml" Id="R2cb3807718324a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103886a3a149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bdabc03d324996" /><Relationship Type="http://schemas.openxmlformats.org/officeDocument/2006/relationships/notesMaster" Target="/ppt/notesMasters/notesMaster1.xml" Id="R6a53e2dc28b549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be2cdb70774630" /><Relationship Type="http://schemas.openxmlformats.org/officeDocument/2006/relationships/notesMaster" Target="/ppt/notesMasters/notesMaster1.xml" Id="R642216edc59e41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9207751b434935" /><Relationship Type="http://schemas.openxmlformats.org/officeDocument/2006/relationships/notesMaster" Target="/ppt/notesMasters/notesMaster1.xml" Id="R6ea7f29ed4b644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6662836385419c" /><Relationship Type="http://schemas.openxmlformats.org/officeDocument/2006/relationships/notesMaster" Target="/ppt/notesMasters/notesMaster1.xml" Id="R7926b5907c354d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08609f1db24ef6" /><Relationship Type="http://schemas.openxmlformats.org/officeDocument/2006/relationships/notesMaster" Target="/ppt/notesMasters/notesMaster1.xml" Id="R6f5370c002864c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204fa83d2440fc" /><Relationship Type="http://schemas.openxmlformats.org/officeDocument/2006/relationships/notesMaster" Target="/ppt/notesMasters/notesMaster1.xml" Id="R9db685a11cf84e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bc29a87ef64ea5" /><Relationship Type="http://schemas.openxmlformats.org/officeDocument/2006/relationships/notesMaster" Target="/ppt/notesMasters/notesMaster1.xml" Id="R4f2b8740ae4949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ec6c920f864561" /><Relationship Type="http://schemas.openxmlformats.org/officeDocument/2006/relationships/notesMaster" Target="/ppt/notesMasters/notesMaster1.xml" Id="Rac6ff68aa11b41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ed00cd0a844682" /><Relationship Type="http://schemas.openxmlformats.org/officeDocument/2006/relationships/notesMaster" Target="/ppt/notesMasters/notesMaster1.xml" Id="Ra179f2017cf14c9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d181e346074ac2" /><Relationship Type="http://schemas.openxmlformats.org/officeDocument/2006/relationships/notesMaster" Target="/ppt/notesMasters/notesMaster1.xml" Id="R3d8a3af9139945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9c30644b7214eb9" /><Relationship Type="http://schemas.openxmlformats.org/officeDocument/2006/relationships/notesMaster" Target="/ppt/notesMasters/notesMaster1.xml" Id="Ra040b22cccb144c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ca88df5441d4361" /><Relationship Type="http://schemas.openxmlformats.org/officeDocument/2006/relationships/notesMaster" Target="/ppt/notesMasters/notesMaster1.xml" Id="R843857eaa3794fd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3ac335dca9b4bd2" /><Relationship Type="http://schemas.openxmlformats.org/officeDocument/2006/relationships/notesMaster" Target="/ppt/notesMasters/notesMaster1.xml" Id="Rcdc565cc275642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1 分钟。UNSEEN 探索家庭影像的持续呈现、原声讲述与回应。当前以实体设备和市场需求验证为重点。希望结合投资人或合作伙伴的资金、工程与渠道资源，明确下一阶段的成果和评估方式。合作形式与投入范围按实际资源共同商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2 分钟。获奖是项目已有成果，当前实体 Demo 以翻译笔为验证载体。独立设备运行指脱离开发电脑使用，具体联网和云端依赖按演示说明。展示已有能力，并说明仍在测试的部分。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[A1] 影石 Bold Maker 挑战赛收官报道 | 2026-09-26 发布 | 正文：9 月 24 日颁奖典礼；孵化与赛事支持段</a:t>
            </a:r>
          </a:p>
          <a:p xmlns:a="http://schemas.openxmlformats.org/drawingml/2006/main">
            <a:r>
              <a:t>https://news.jschina.com.cn/qy/202609/t20260926_s6ab7dfaee4b03e594b54bf26.shtml</a:t>
            </a:r>
          </a:p>
          <a:p xmlns:a="http://schemas.openxmlformats.org/drawingml/2006/main">
            <a:r>
              <a:t>核实颁奖日期为 2026-09-24。报道介绍孵化、技术验证与落地支持；具体可申请项目及资格仍需确认。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[P2] 项目成果与设备验证记录 | 截至 2026-10-13 | 团队项目记录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影石 AI+社会公益赛道第一名为团队确认成果。当前通过翻译笔开展实体 Demo 验证，持续运行结果待设备测试确认。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 | 2026-10-13 | 团队当前规划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2 分钟。产品主线为家庭智能屏。原有 R1 外观方案以 A01 独立相框作为首版方向，B01 灯座构型作为后续备选。展示的产品图为已有设计概念。公益和海外分别是服务模式与市场方向，先共享产品能力，再按验证结果细分。5–10 台为计划建议。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[D1] UNSEEN 原有外观与结构方案 | 2026-10-08 | R1 设计评审稿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浅木色外框、暖白后壳、灰绿与陶土红双键。独立相框作为首版方向，灯座构型作为后续备选。图片为设计概念。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 | 2026-10-13 | 团队当前规划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4 分钟。这是一版讨论用时间表，不是已经承诺的交货日。2026-10-13 起算，先两周设备验证，再四周大屏样机，再四周试用与内容反馈，再四周预售准备与小规模验证。每次进入下一阶段都看实际结果；延期要同步更新预售承诺。2027 年 1 月只是制造准备的最早讨论窗口，具体生产、验收和发货周期由选定工厂和资金状态决定。视频可以从现在开始记录，成熟后再集中传播。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 | 2026-10-13 | 团队当前规划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2 分钟。国内预售路径包括内容测试、意向登记、付费订单和交付。具体平台需核验类目准入、费用与资金结算。获得品牌或渠道授权后，可评估独家授权店，其范围、期限、运营、收款与售后责任由双方约定。资金规划只计实际可支取的预售净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 | 2026-10-13 | 团队当前规划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2 分钟。公益路径可作为组织采购与试点，不预设已经获得合作或背书。成本包含设备及约定服务，明确持续支持责任。影像记录单独获得同意，赠送不以参与宣传为条件。公益使用数据用于评估体验与服务，消费者购买意愿另行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 | 2026-10-13 | 团队当前规划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2 分钟。海外市场尚未选定，以团队可触达和可服务的范围开展低成本验证。意向、付费订单与交付各自记录。涉及当地销售与付款前，核实适用的产品要求及实际成本。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 | 2026-10-13 | 团队当前规划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3 分钟。合作模式面向任何合适的产业伙伴、孵化机构或投资人。产品共创优先用于补齐样机阶段的工程能力。渠道合作可以包括已获授权范围内的独家店铺。投资安排结合产品和订单信号推进。各模式可组合，股权、知识产权及独家期限须形成明确约定。团队在已有预算内也可继续推进基础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 | 2026-10-13 | 团队当前规划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2 分钟。获得开模支持后，还需要衔接工厂备料、订金、尾款、交付与售后。各项支持以实际覆盖范围进入预算。先明确模具和设计使用安排，再形成试产与付款计划。生产准备和渠道准备同时推进，交付承诺以已确认资源和排期为依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2 分钟。融资节奏可以结合证据积累安排，样机和试点预算在启动前明确。预算按付款时间列出研发、开模、工厂货款、物流和服务支出，再匹配已落实资金。预售净款的口径需统一，平台费用和退款准备只扣一次，交付成本单列。具体金额随工程报价、平台结算和试点范围测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 | 2026-10-13 | 团队当前规划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2 分钟。以支持、具体行动和可验证成果对齐期待。阶段成果是执行目标，实际结果通过记录和评审确认。对于采集端或影像品牌，家庭持续呈现与回应可能增加新的使用场景。对于投资人，样机、成本、使用和订单记录有助于评估后续投资。商业回报及股权权益按实际合作另行约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 | 2026-10-13 | 团队当前规划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预留 6 分钟讨论，整场约 30 分钟。会议结束时明确下一阶段范围、负责人、投入和复盘日期。合作方式可结合实际资源选择。关于投资的讨论仍围绕资金用途、阶段目标及评估依据展开。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公开报道支持赛事颁奖日期。获奖归属沿用团队已确认记录。外观图复用 2026 年 10 月 8 日 R1 方案，并标明概念状态。排期和样机数量为规划建议，具体报价、渠道、合作及交付安排待确认。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[A1] 影石 Bold Maker 挑战赛收官报道</a:t>
            </a:r>
          </a:p>
          <a:p xmlns:a="http://schemas.openxmlformats.org/drawingml/2006/main">
            <a:r>
              <a:t>https://news.jschina.com.cn/qy/202609/t20260926_s6ab7dfaee4b03e594b54bf26.shtml</a:t>
            </a:r>
          </a:p>
          <a:p xmlns:a="http://schemas.openxmlformats.org/drawingml/2006/main">
            <a:r>
              <a:t>2026-09-26 发布 | 正文：9 月 24 日颁奖典礼；孵化与赛事支持段</a:t>
            </a:r>
          </a:p>
          <a:p xmlns:a="http://schemas.openxmlformats.org/drawingml/2006/main">
            <a:r>
              <a:t>核实颁奖日期为 2026-09-24。报道介绍孵化、技术验证与落地支持；具体可申请项目及资格仍需确认。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[P2] 项目成果与设备验证记录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截至 2026-10-13 | 团队项目记录</a:t>
            </a:r>
          </a:p>
          <a:p xmlns:a="http://schemas.openxmlformats.org/drawingml/2006/main">
            <a:r>
              <a:t>影石 AI+社会公益赛道第一名为团队确认成果。当前通过翻译笔开展实体 Demo 验证，持续运行结果待设备测试确认。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[D1] UNSEEN 原有外观与结构方案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2026-10-08 | R1 设计评审稿</a:t>
            </a:r>
          </a:p>
          <a:p xmlns:a="http://schemas.openxmlformats.org/drawingml/2006/main">
            <a:r>
              <a:t>浅木色外框、暖白后壳、灰绿与陶土红双键。独立相框作为首版方向，灯座构型作为后续备选。图片为设计概念。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[U3] 产品验证与市场规划</a:t>
            </a:r>
          </a:p>
          <a:p xmlns:a="http://schemas.openxmlformats.org/drawingml/2006/main">
            <a:r>
              <a:t>用户提供／项目内部记录</a:t>
            </a:r>
          </a:p>
          <a:p xmlns:a="http://schemas.openxmlformats.org/drawingml/2006/main">
            <a:r>
              <a:t>2026-10-13 | 团队当前规划</a:t>
            </a:r>
          </a:p>
          <a:p xmlns:a="http://schemas.openxmlformats.org/drawingml/2006/main">
            <a: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00b80524584b5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4178a620df433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aa427d9251496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e1adebe67e474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c2b55f7cdf4d8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84e15f1f64f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98BF0FB-AA77-4D71-908A-A67806352A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515B74A-247A-43C8-BA85-1168978D516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D753399-0236-416A-9479-61F795D0A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E525E30-8152-4D25-BC81-01EC25D8BC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937BFAB-1407-426E-860D-75BDB3F8F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3E1D698-C596-4C8B-9537-F3850F5B8F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3DE264E-F543-4413-8F38-764C372009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AFF96FA-1BC0-4DDD-9EF2-59675D844D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2A42E88-9547-47F3-B3BB-CD892C25D6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AB2BF2-4A4C-43BA-9350-315EC695C1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8b400415814846" /><Relationship Type="http://schemas.openxmlformats.org/officeDocument/2006/relationships/slideLayout" Target="/ppt/slideLayouts/slideLayout1.xml" Id="Rf30777f833e147f0" /><Relationship Type="http://schemas.openxmlformats.org/officeDocument/2006/relationships/slideLayout" Target="/ppt/slideLayouts/slideLayout2.xml" Id="R643d6e6470a44d4a" /><Relationship Type="http://schemas.openxmlformats.org/officeDocument/2006/relationships/slideLayout" Target="/ppt/slideLayouts/slideLayout3.xml" Id="Ra75f3a6c4c50425a" /><Relationship Type="http://schemas.openxmlformats.org/officeDocument/2006/relationships/slideLayout" Target="/ppt/slideLayouts/slideLayout4.xml" Id="Re68e95b8188c4f4c" /><Relationship Type="http://schemas.openxmlformats.org/officeDocument/2006/relationships/slideLayout" Target="/ppt/slideLayouts/slideLayout5.xml" Id="R83aa6105d5a94241" /><Relationship Type="http://schemas.openxmlformats.org/officeDocument/2006/relationships/slideLayout" Target="/ppt/slideLayouts/slideLayout6.xml" Id="Rc63e833c939c49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0777f833e147f0"/>
    <p:sldLayoutId xmlns:r="http://schemas.openxmlformats.org/officeDocument/2006/relationships" id="2147483650" r:id="R643d6e6470a44d4a"/>
    <p:sldLayoutId xmlns:r="http://schemas.openxmlformats.org/officeDocument/2006/relationships" id="2147483651" r:id="Ra75f3a6c4c50425a"/>
    <p:sldLayoutId xmlns:r="http://schemas.openxmlformats.org/officeDocument/2006/relationships" id="2147483652" r:id="Re68e95b8188c4f4c"/>
    <p:sldLayoutId xmlns:r="http://schemas.openxmlformats.org/officeDocument/2006/relationships" id="2147483653" r:id="R83aa6105d5a94241"/>
    <p:sldLayoutId xmlns:r="http://schemas.openxmlformats.org/officeDocument/2006/relationships" id="2147483654" r:id="Rc63e833c939c49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befac6a6b344c5" /><Relationship Type="http://schemas.openxmlformats.org/officeDocument/2006/relationships/notesSlide" Target="/ppt/notesSlides/notesSlide1.xml" Id="Rbc886f2895ea4b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fecae7741040e8" /><Relationship Type="http://schemas.openxmlformats.org/officeDocument/2006/relationships/hyperlink" Target="https://news.jschina.com.cn/qy/202609/t20260926_s6ab7dfaee4b03e594b54bf26.shtml" TargetMode="External" Id="R8a26423b41524108" /><Relationship Type="http://schemas.openxmlformats.org/officeDocument/2006/relationships/notesSlide" Target="/ppt/notesSlides/notesSlide2.xml" Id="R2651db9db3da49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8c93bb43854674" /><Relationship Type="http://schemas.openxmlformats.org/officeDocument/2006/relationships/notesSlide" Target="/ppt/notesSlides/notesSlide3.xml" Id="R3819c274c7554b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7a7192b2de412c" /><Relationship Type="http://schemas.openxmlformats.org/officeDocument/2006/relationships/notesSlide" Target="/ppt/notesSlides/notesSlide4.xml" Id="Rd5951229c40040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97b03ddf204f2d" /><Relationship Type="http://schemas.openxmlformats.org/officeDocument/2006/relationships/notesSlide" Target="/ppt/notesSlides/notesSlide5.xml" Id="R4e59e7f51cfd4d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d3b81849ff4ee4" /><Relationship Type="http://schemas.openxmlformats.org/officeDocument/2006/relationships/notesSlide" Target="/ppt/notesSlides/notesSlide6.xml" Id="R29c4ed9005714d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f566d532a24e91" /><Relationship Type="http://schemas.openxmlformats.org/officeDocument/2006/relationships/notesSlide" Target="/ppt/notesSlides/notesSlide7.xml" Id="R298bbd79992b4b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605de60a884a0c" /><Relationship Type="http://schemas.openxmlformats.org/officeDocument/2006/relationships/notesSlide" Target="/ppt/notesSlides/notesSlide8.xml" Id="R3eac7676f5e94d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1c14ac71e044fb" /><Relationship Type="http://schemas.openxmlformats.org/officeDocument/2006/relationships/notesSlide" Target="/ppt/notesSlides/notesSlide9.xml" Id="Rfec9426768a24e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efd1b6604f4c9e" /><Relationship Type="http://schemas.openxmlformats.org/officeDocument/2006/relationships/notesSlide" Target="/ppt/notesSlides/notesSlide10.xml" Id="R40ec5661f1384b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e822b386fe4ad8" /><Relationship Type="http://schemas.openxmlformats.org/officeDocument/2006/relationships/notesSlide" Target="/ppt/notesSlides/notesSlide11.xml" Id="R3472b32d9ae644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70f6e078e648c2" /><Relationship Type="http://schemas.openxmlformats.org/officeDocument/2006/relationships/notesSlide" Target="/ppt/notesSlides/notesSlide12.xml" Id="R427dc7ce3408437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d934f5d03049f0" /><Relationship Type="http://schemas.openxmlformats.org/officeDocument/2006/relationships/hyperlink" Target="https://news.jschina.com.cn/qy/202609/t20260926_s6ab7dfaee4b03e594b54bf26.shtml" TargetMode="External" Id="R937f3383836146c2" /><Relationship Type="http://schemas.openxmlformats.org/officeDocument/2006/relationships/notesSlide" Target="/ppt/notesSlides/notesSlide13.xml" Id="R85387b05537740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4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label">
            <a:extLst xmlns:a="http://schemas.openxmlformats.org/drawingml/2006/main">
              <a:ext uri="{FF2B5EF4-FFF2-40B4-BE49-F238E27FC236}">
                <a16:creationId xmlns:a16="http://schemas.microsoft.com/office/drawing/2014/main" id="{B4236BAA-5A0F-4EAA-89DD-4739B597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A6C5D4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A6C5D4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0">
                <a:solidFill>
                  <a:srgbClr val="A6C5D4"/>
                </a:solidFill>
                <a:latin typeface="Noto Sans SC"/>
                <a:ea typeface="Noto Sans SC"/>
                <a:cs typeface="Noto Sans SC"/>
              </a:rPr>
              <a:t>产品与合作规划 · 2026-10-13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D530C93-21FC-4E82-B1DC-88C1FEF9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100" b="0">
                <a:solidFill>
                  <a:srgbClr val="F6FAFC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5100" b="0">
                <a:solidFill>
                  <a:srgbClr val="F6FAFC"/>
                </a:solidFill>
                <a:latin typeface="Noto Sans SC"/>
                <a:ea typeface="Noto Sans SC"/>
                <a:cs typeface="Noto Sans SC"/>
              </a:defRPr>
            </a:pPr>
            <a:r>
              <a:rPr sz="5100" b="0">
                <a:solidFill>
                  <a:srgbClr val="F6FAFC"/>
                </a:solidFill>
                <a:latin typeface="Noto Sans SC"/>
                <a:ea typeface="Noto Sans SC"/>
                <a:cs typeface="Noto Sans SC"/>
              </a:rPr>
              <a:t>UNSEEN 家庭记忆智能屏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971F602-2A3B-4DC8-87F1-D9032CA2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67050"/>
            <a:ext cx="7048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C5DAE5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C5DAE5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0">
                <a:solidFill>
                  <a:srgbClr val="C5DAE5"/>
                </a:solidFill>
                <a:latin typeface="Noto Sans SC"/>
                <a:ea typeface="Noto Sans SC"/>
                <a:cs typeface="Noto Sans SC"/>
              </a:rPr>
              <a:t>产品进展与市场验证</a:t>
            </a:r>
          </a:p>
          <a:p xmlns:a="http://schemas.openxmlformats.org/drawingml/2006/main">
            <a:pPr>
              <a:defRPr sz="2550" b="0">
                <a:solidFill>
                  <a:srgbClr val="C5DAE5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0">
                <a:solidFill>
                  <a:srgbClr val="C5DAE5"/>
                </a:solidFill>
                <a:latin typeface="Noto Sans SC"/>
                <a:ea typeface="Noto Sans SC"/>
                <a:cs typeface="Noto Sans SC"/>
              </a:rPr>
              <a:t>面向投资人与合作伙伴</a:t>
            </a:r>
          </a:p>
        </p:txBody>
      </p:sp>
      <p:sp>
        <p:nvSpPr>
          <p:cNvPr id="4" name="cover-question">
            <a:extLst xmlns:a="http://schemas.openxmlformats.org/drawingml/2006/main">
              <a:ext uri="{FF2B5EF4-FFF2-40B4-BE49-F238E27FC236}">
                <a16:creationId xmlns:a16="http://schemas.microsoft.com/office/drawing/2014/main" id="{7D8850D7-CF77-44C4-AB30-DE07E5E2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19450"/>
            <a:ext cx="3857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E8F3F7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8F3F7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E8F3F7"/>
                </a:solidFill>
                <a:latin typeface="Noto Sans SC"/>
                <a:ea typeface="Noto Sans SC"/>
                <a:cs typeface="Noto Sans SC"/>
              </a:rPr>
              <a:t>支持投入</a:t>
            </a:r>
          </a:p>
          <a:p xmlns:a="http://schemas.openxmlformats.org/drawingml/2006/main">
            <a:pPr>
              <a:defRPr sz="1950" b="0">
                <a:solidFill>
                  <a:srgbClr val="E8F3F7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E8F3F7"/>
                </a:solidFill>
                <a:latin typeface="Noto Sans SC"/>
                <a:ea typeface="Noto Sans SC"/>
                <a:cs typeface="Noto Sans SC"/>
              </a:rPr>
              <a:t>阶段成果</a:t>
            </a:r>
          </a:p>
        </p:txBody>
      </p:sp>
      <p:sp>
        <p:nvSpPr>
          <p:cNvPr id="5" name="cover-note">
            <a:extLst xmlns:a="http://schemas.openxmlformats.org/drawingml/2006/main">
              <a:ext uri="{FF2B5EF4-FFF2-40B4-BE49-F238E27FC236}">
                <a16:creationId xmlns:a16="http://schemas.microsoft.com/office/drawing/2014/main" id="{0F1BD8DF-753F-4C8D-9A7A-F7F683B7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3CBD9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3CBD9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B3CBD9"/>
                </a:solidFill>
                <a:latin typeface="Noto Sans SC"/>
                <a:ea typeface="Noto Sans SC"/>
                <a:cs typeface="Noto Sans SC"/>
              </a:rPr>
              <a:t>2026.10.13 · 产品与合作规划 · 约 30 分钟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0FBF733E-9A96-4FFE-AE20-65E9FB9F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97B8CA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7B8CA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97B8CA"/>
                </a:solidFill>
                <a:latin typeface="Noto Sans SC"/>
                <a:ea typeface="Noto Sans SC"/>
                <a:cs typeface="Noto Sans SC"/>
              </a:rPr>
              <a:t>01 / 13</a:t>
            </a:r>
          </a:p>
        </p:txBody>
      </p:sp>
    </p:spTree>
    <p:extLst>
      <p:ext uri="{BB962C8B-B14F-4D97-AF65-F5344CB8AC3E}">
        <p14:creationId xmlns:p14="http://schemas.microsoft.com/office/powerpoint/2010/main" val="682044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">
            <a:extLst xmlns:a="http://schemas.openxmlformats.org/drawingml/2006/main">
              <a:ext uri="{FF2B5EF4-FFF2-40B4-BE49-F238E27FC236}">
                <a16:creationId xmlns:a16="http://schemas.microsoft.com/office/drawing/2014/main" id="{FF5A235C-6F88-4BCC-AD6D-AA64DC2D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当前进度 · 2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7D7D742-4553-4173-B27F-C3AD46E3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当前进展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21B298B5-C964-4C5C-AA1B-E1F4CCA5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已有软件与交互原型，正在推进第一代实体 Demo。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512BC163-5DC1-4E73-8EC4-7CCBFEF6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项目基础</a:t>
            </a:r>
          </a:p>
        </p:txBody>
      </p:sp>
      <p:sp>
        <p:nvSpPr>
          <p:cNvPr id="5" name="row-body-0">
            <a:extLst xmlns:a="http://schemas.openxmlformats.org/drawingml/2006/main">
              <a:ext uri="{FF2B5EF4-FFF2-40B4-BE49-F238E27FC236}">
                <a16:creationId xmlns:a16="http://schemas.microsoft.com/office/drawing/2014/main" id="{FD4F9EBF-EC61-4C00-8C69-438B88E3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050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获影石 AI+社会公益赛道第一名，颁奖日期为 2026 年 9 月 24 日。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095B5970-F55A-4872-95CA-D3A702C1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当前验证</a:t>
            </a:r>
          </a:p>
        </p:txBody>
      </p:sp>
      <p:sp>
        <p:nvSpPr>
          <p:cNvPr id="7" name="row-body-1">
            <a:extLst xmlns:a="http://schemas.openxmlformats.org/drawingml/2006/main">
              <a:ext uri="{FF2B5EF4-FFF2-40B4-BE49-F238E27FC236}">
                <a16:creationId xmlns:a16="http://schemas.microsoft.com/office/drawing/2014/main" id="{F1C3297E-2337-4E79-8DE3-82CD4E8F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861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以翻译笔为载体，验证交互体验与独立设备运行。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495F69D5-E309-4CAF-B791-0727DF5D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近期重点</a:t>
            </a:r>
          </a:p>
        </p:txBody>
      </p:sp>
      <p:sp>
        <p:nvSpPr>
          <p:cNvPr id="9" name="row-body-2">
            <a:extLst xmlns:a="http://schemas.openxmlformats.org/drawingml/2006/main">
              <a:ext uri="{FF2B5EF4-FFF2-40B4-BE49-F238E27FC236}">
                <a16:creationId xmlns:a16="http://schemas.microsoft.com/office/drawing/2014/main" id="{1CA53CEF-5297-44C3-B5AA-EAE3949F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671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连续使用测试，记录启动、网络、音频和回复流程的表现。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F8480079-BA7C-46FD-A31E-05818506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下一阶段</a:t>
            </a:r>
          </a:p>
        </p:txBody>
      </p:sp>
      <p:sp>
        <p:nvSpPr>
          <p:cNvPr id="11" name="row-body-3">
            <a:extLst xmlns:a="http://schemas.openxmlformats.org/drawingml/2006/main">
              <a:ext uri="{FF2B5EF4-FFF2-40B4-BE49-F238E27FC236}">
                <a16:creationId xmlns:a16="http://schemas.microsoft.com/office/drawing/2014/main" id="{0A639D32-5A1D-43A4-93B7-278284A3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6482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在验证基础上形成大屏方案，制作小批样机供家庭试用。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5E444A55-FDCA-434B-B1B4-67464307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当前重点是实体体验与稳定性验证，设备与云端的能力边界随测试明确。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42F9DBF2-0C24-4C67-84AD-6B587C65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02 / 13</a:t>
            </a:r>
          </a:p>
        </p:txBody>
      </p:sp>
      <p:sp>
        <p:nvSpPr>
          <p:cNvPr id="14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83FC600E-7DF0-4B95-913D-EFCB9FD7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来源</a:t>
            </a:r>
          </a:p>
        </p:txBody>
      </p:sp>
      <p:sp>
        <p:nvSpPr>
          <p:cNvPr id="15" name="source-A1">
            <a:extLst xmlns:a="http://schemas.openxmlformats.org/drawingml/2006/main">
              <a:ext uri="{FF2B5EF4-FFF2-40B4-BE49-F238E27FC236}">
                <a16:creationId xmlns:a16="http://schemas.microsoft.com/office/drawing/2014/main" id="{E6968A2B-3212-4100-A3FD-327DA880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  <a:hlinkClick xmlns:r="http://schemas.openxmlformats.org/officeDocument/2006/relationships" r:id="R8a26423b41524108"/>
              </a:rPr>
              <a:t>A1 ↗</a:t>
            </a:r>
          </a:p>
        </p:txBody>
      </p:sp>
      <p:sp>
        <p:nvSpPr>
          <p:cNvPr id="16" name="source-P2">
            <a:extLst xmlns:a="http://schemas.openxmlformats.org/drawingml/2006/main">
              <a:ext uri="{FF2B5EF4-FFF2-40B4-BE49-F238E27FC236}">
                <a16:creationId xmlns:a16="http://schemas.microsoft.com/office/drawing/2014/main" id="{5423939C-65FD-4364-9020-DC725402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P2</a:t>
            </a:r>
          </a:p>
        </p:txBody>
      </p:sp>
      <p:sp>
        <p:nvSpPr>
          <p:cNvPr id="17" name="source-U3">
            <a:extLst xmlns:a="http://schemas.openxmlformats.org/drawingml/2006/main">
              <a:ext uri="{FF2B5EF4-FFF2-40B4-BE49-F238E27FC236}">
                <a16:creationId xmlns:a16="http://schemas.microsoft.com/office/drawing/2014/main" id="{BD0618A3-673D-44E1-8ECE-BD354E45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</p:spTree>
    <p:extLst>
      <p:ext uri="{BB962C8B-B14F-4D97-AF65-F5344CB8AC3E}">
        <p14:creationId xmlns:p14="http://schemas.microsoft.com/office/powerpoint/2010/main" val="100364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00137DD1-2327-443D-8752-23DAF5B2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产品路线 · 2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142DEC5-6BC9-4840-A4F9-83D5982C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产品路线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AF411E17-8A85-45ED-B3FF-4BE48D46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以家庭智能屏为主线，按需求验证结果扩展服务与市场。</a:t>
            </a:r>
          </a:p>
        </p:txBody>
      </p:sp>
      <p:sp>
        <p:nvSpPr>
          <p:cNvPr id="4" name="col-0-title">
            <a:extLst xmlns:a="http://schemas.openxmlformats.org/drawingml/2006/main">
              <a:ext uri="{FF2B5EF4-FFF2-40B4-BE49-F238E27FC236}">
                <a16:creationId xmlns:a16="http://schemas.microsoft.com/office/drawing/2014/main" id="{6F7B60D4-52B2-4841-8E1C-58C0DD77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9552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家庭智能屏</a:t>
            </a:r>
          </a:p>
        </p:txBody>
      </p:sp>
      <p:sp>
        <p:nvSpPr>
          <p:cNvPr id="5" name="col-0-0">
            <a:extLst xmlns:a="http://schemas.openxmlformats.org/drawingml/2006/main">
              <a:ext uri="{FF2B5EF4-FFF2-40B4-BE49-F238E27FC236}">
                <a16:creationId xmlns:a16="http://schemas.microsoft.com/office/drawing/2014/main" id="{85117878-9CFC-463E-8E00-7699AD9A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用照片、原声和回复连接家庭成员。</a:t>
            </a:r>
          </a:p>
        </p:txBody>
      </p:sp>
      <p:sp>
        <p:nvSpPr>
          <p:cNvPr id="6" name="col-0-1">
            <a:extLst xmlns:a="http://schemas.openxmlformats.org/drawingml/2006/main">
              <a:ext uri="{FF2B5EF4-FFF2-40B4-BE49-F238E27FC236}">
                <a16:creationId xmlns:a16="http://schemas.microsoft.com/office/drawing/2014/main" id="{54D72C85-635E-493B-AFDC-60A84821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62375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沿用浅木色外框、大照片区与小双键设计。</a:t>
            </a:r>
          </a:p>
        </p:txBody>
      </p:sp>
      <p:sp>
        <p:nvSpPr>
          <p:cNvPr id="7" name="col-0-2">
            <a:extLst xmlns:a="http://schemas.openxmlformats.org/drawingml/2006/main">
              <a:ext uri="{FF2B5EF4-FFF2-40B4-BE49-F238E27FC236}">
                <a16:creationId xmlns:a16="http://schemas.microsoft.com/office/drawing/2014/main" id="{B8601EE0-6A24-4E31-BAC1-A2F2C6E3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计划制作 5–10 台大屏样机，数量随预算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与工程方案确认。</a:t>
            </a:r>
          </a:p>
        </p:txBody>
      </p:sp>
      <p:sp>
        <p:nvSpPr>
          <p:cNvPr id="8" name="col-1-title">
            <a:extLst xmlns:a="http://schemas.openxmlformats.org/drawingml/2006/main">
              <a:ext uri="{FF2B5EF4-FFF2-40B4-BE49-F238E27FC236}">
                <a16:creationId xmlns:a16="http://schemas.microsoft.com/office/drawing/2014/main" id="{FF474E50-CFA6-4D15-A75D-09CA9B05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29552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后续扩展</a:t>
            </a:r>
          </a:p>
        </p:txBody>
      </p:sp>
      <p:sp>
        <p:nvSpPr>
          <p:cNvPr id="9" name="col-1-0">
            <a:extLst xmlns:a="http://schemas.openxmlformats.org/drawingml/2006/main">
              <a:ext uri="{FF2B5EF4-FFF2-40B4-BE49-F238E27FC236}">
                <a16:creationId xmlns:a16="http://schemas.microsoft.com/office/drawing/2014/main" id="{54C2E0A4-9D7F-4EC3-A9F7-8AA3AE5F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公益与机构试点：配套安装、培训与集中支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持。</a:t>
            </a:r>
          </a:p>
        </p:txBody>
      </p:sp>
      <p:sp>
        <p:nvSpPr>
          <p:cNvPr id="10" name="col-1-1">
            <a:extLst xmlns:a="http://schemas.openxmlformats.org/drawingml/2006/main">
              <a:ext uri="{FF2B5EF4-FFF2-40B4-BE49-F238E27FC236}">
                <a16:creationId xmlns:a16="http://schemas.microsoft.com/office/drawing/2014/main" id="{61479FD3-05D4-4FC6-AE94-CA5EE47E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762375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海外家庭版本：逐步完善语言、支付与当地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服务。</a:t>
            </a:r>
          </a:p>
        </p:txBody>
      </p:sp>
      <p:sp>
        <p:nvSpPr>
          <p:cNvPr id="11" name="col-1-2">
            <a:extLst xmlns:a="http://schemas.openxmlformats.org/drawingml/2006/main">
              <a:ext uri="{FF2B5EF4-FFF2-40B4-BE49-F238E27FC236}">
                <a16:creationId xmlns:a16="http://schemas.microsoft.com/office/drawing/2014/main" id="{95C0FBF0-FE77-404A-A015-0E05F876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62915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独立相框作为首版方向，灯座构型保留为后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续选项。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6E5D252E-B304-4484-8465-0BB5AA42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现有外观方案用于工程评审，具体器件与量产配置随验证确定。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41ACF69-82FC-4B50-8306-D9534E66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03 / 13</a:t>
            </a:r>
          </a:p>
        </p:txBody>
      </p:sp>
      <p:sp>
        <p:nvSpPr>
          <p:cNvPr id="14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5D3F8192-E034-4F86-B6D0-2888C964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来源</a:t>
            </a:r>
          </a:p>
        </p:txBody>
      </p:sp>
      <p:sp>
        <p:nvSpPr>
          <p:cNvPr id="15" name="source-D1">
            <a:extLst xmlns:a="http://schemas.openxmlformats.org/drawingml/2006/main">
              <a:ext uri="{FF2B5EF4-FFF2-40B4-BE49-F238E27FC236}">
                <a16:creationId xmlns:a16="http://schemas.microsoft.com/office/drawing/2014/main" id="{C509BC81-BDEB-4809-AAB5-3F2B07E6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D1</a:t>
            </a:r>
          </a:p>
        </p:txBody>
      </p:sp>
      <p:sp>
        <p:nvSpPr>
          <p:cNvPr id="16" name="source-U3">
            <a:extLst xmlns:a="http://schemas.openxmlformats.org/drawingml/2006/main">
              <a:ext uri="{FF2B5EF4-FFF2-40B4-BE49-F238E27FC236}">
                <a16:creationId xmlns:a16="http://schemas.microsoft.com/office/drawing/2014/main" id="{156A309E-7B34-4868-A3A4-4047F2A9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</p:spTree>
    <p:extLst>
      <p:ext uri="{BB962C8B-B14F-4D97-AF65-F5344CB8AC3E}">
        <p14:creationId xmlns:p14="http://schemas.microsoft.com/office/powerpoint/2010/main" val="14700778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BD4E06D1-AB47-42B3-BE8E-8187DD1A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路线图 · 4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6A82F4B-2AA0-47D5-8B0E-F5F96529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阶段计划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759B2985-529D-4209-B1DB-171C8EF7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以 2026 年 10 月 13 日为起点，按阶段成果滚动调整。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0FF87-28F3-4B36-B316-672B1632BE1E}"/>
              </a:ext>
            </a:extLst>
          </p:cNvPr>
          <p:cNvGraphicFramePr/>
          <p:nvPr/>
        </p:nvGraphicFramePr>
        <p:xfrm>
          <a:off xmlns:a="http://schemas.openxmlformats.org/drawingml/2006/main" x="571500" y="2209800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933575"/>
                <a:gridCol w="4552950"/>
                <a:gridCol w="4562475"/>
              </a:tblGrid>
              <a:tr h="40005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19778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计划窗口</a:t>
                      </a:r>
                    </a:p>
                  </a:txBody>
                  <a:tcPr marL="91440" marR="91440" marT="45720" marB="45720" anchor="ctr">
                    <a:solidFill>
                      <a:srgbClr val="EEF4F6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19778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重点工作</a:t>
                      </a:r>
                    </a:p>
                  </a:txBody>
                  <a:tcPr marL="91440" marR="91440" marT="45720" marB="45720" anchor="ctr">
                    <a:solidFill>
                      <a:srgbClr val="EEF4F6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19778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进入下一步的条件</a:t>
                      </a:r>
                    </a:p>
                  </a:txBody>
                  <a:tcPr marL="91440" marR="91440" marT="45720" marB="45720" anchor="ctr">
                    <a:solidFill>
                      <a:srgbClr val="EEF4F6"/>
                    </a:solidFill>
                  </a:tcPr>
                </a:tc>
              </a:tr>
              <a:tr h="60960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10.13—10.26</a:t>
                      </a:r>
                    </a:p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约 2 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翻译笔独立使用测试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核心流程可重复；主要问题有记录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10.27—11.23</a:t>
                      </a:r>
                    </a:p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约 4 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大屏方案与 5–10 台样机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可交给他人使用；初步成本清楚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11.24—12.21</a:t>
                      </a:r>
                    </a:p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约 4 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家庭试用、公益对接、视频与意向测试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有实际使用反馈和可追踪需求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12.22—01.18</a:t>
                      </a:r>
                    </a:p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约 4 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定价、渠道准备与小规模条件式预售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样机、交期、退款与现金测算明确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2027 年 1 月起</a:t>
                      </a:r>
                    </a:p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按工厂确认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试产验证后下单；分批质检与发货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生产资金落实；试产与交付检查通过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away">
            <a:extLst xmlns:a="http://schemas.openxmlformats.org/drawingml/2006/main">
              <a:ext uri="{FF2B5EF4-FFF2-40B4-BE49-F238E27FC236}">
                <a16:creationId xmlns:a16="http://schemas.microsoft.com/office/drawing/2014/main" id="{CC7D243E-0A62-40D2-99BC-B1DAB77E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视频记录与海外意向测试可并行开展，生产交期结合工程进度和工厂排期确认。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65917259-DD4F-49C1-87F3-3481FECD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04 / 13</a:t>
            </a:r>
          </a:p>
        </p:txBody>
      </p:sp>
      <p:sp>
        <p:nvSpPr>
          <p:cNvPr id="7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71F4F86C-0DAA-431D-BBD3-1380B0C8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来源</a:t>
            </a:r>
          </a:p>
        </p:txBody>
      </p:sp>
      <p:sp>
        <p:nvSpPr>
          <p:cNvPr id="8" name="source-U3">
            <a:extLst xmlns:a="http://schemas.openxmlformats.org/drawingml/2006/main">
              <a:ext uri="{FF2B5EF4-FFF2-40B4-BE49-F238E27FC236}">
                <a16:creationId xmlns:a16="http://schemas.microsoft.com/office/drawing/2014/main" id="{B9D90EA2-4169-4056-A4D6-823676F6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</p:spTree>
    <p:extLst>
      <p:ext uri="{BB962C8B-B14F-4D97-AF65-F5344CB8AC3E}">
        <p14:creationId xmlns:p14="http://schemas.microsoft.com/office/powerpoint/2010/main" val="2962599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96C3C94-15B3-4177-8939-23EE450F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市场进入 · 2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855795E-8C12-4B67-B193-7014D2DF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国内预售路径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C94E0810-E90E-404F-9C71-00C055B2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以内容和试用积累意向，以付费订单评估首批生产规模。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865D20A8-8C9D-45CA-B143-61100D7B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内容与意向</a:t>
            </a:r>
          </a:p>
        </p:txBody>
      </p:sp>
      <p:sp>
        <p:nvSpPr>
          <p:cNvPr id="5" name="row-body-0">
            <a:extLst xmlns:a="http://schemas.openxmlformats.org/drawingml/2006/main">
              <a:ext uri="{FF2B5EF4-FFF2-40B4-BE49-F238E27FC236}">
                <a16:creationId xmlns:a16="http://schemas.microsoft.com/office/drawing/2014/main" id="{D6679EBA-8C5F-4FD5-BD31-7F62FC67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050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发布真实演示，收集使用场景、价格反馈与购买意向。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108AD476-9BB0-4461-90D3-5546F5F4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渠道准备</a:t>
            </a:r>
          </a:p>
        </p:txBody>
      </p:sp>
      <p:sp>
        <p:nvSpPr>
          <p:cNvPr id="7" name="row-body-1">
            <a:extLst xmlns:a="http://schemas.openxmlformats.org/drawingml/2006/main">
              <a:ext uri="{FF2B5EF4-FFF2-40B4-BE49-F238E27FC236}">
                <a16:creationId xmlns:a16="http://schemas.microsoft.com/office/drawing/2014/main" id="{B240E0AB-0D72-4DEB-A76F-630F1AE2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861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评估国内预售平台及品牌授权店，明确收款、结算与售后安排。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22A59177-CF08-4BDF-8916-F015CD46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小规模预售</a:t>
            </a:r>
          </a:p>
        </p:txBody>
      </p:sp>
      <p:sp>
        <p:nvSpPr>
          <p:cNvPr id="9" name="row-body-2">
            <a:extLst xmlns:a="http://schemas.openxmlformats.org/drawingml/2006/main">
              <a:ext uri="{FF2B5EF4-FFF2-40B4-BE49-F238E27FC236}">
                <a16:creationId xmlns:a16="http://schemas.microsoft.com/office/drawing/2014/main" id="{5B8710F1-8A16-4CB8-BDBC-528CAA3B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671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在样机、定价和交付方案明确后，启动限量预售。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81EC9D78-9AF9-4FA1-B55E-A94A3330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生产与交付</a:t>
            </a:r>
          </a:p>
        </p:txBody>
      </p:sp>
      <p:sp>
        <p:nvSpPr>
          <p:cNvPr id="11" name="row-body-3">
            <a:extLst xmlns:a="http://schemas.openxmlformats.org/drawingml/2006/main">
              <a:ext uri="{FF2B5EF4-FFF2-40B4-BE49-F238E27FC236}">
                <a16:creationId xmlns:a16="http://schemas.microsoft.com/office/drawing/2014/main" id="{B4C43423-EA58-4391-87DA-3DE99AA2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6482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依据有效订单和可用资金安排首批数量，完成质检与交付。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BA637964-C463-4E98-B904-F957AC19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预售形成订单与预付款，股权投资按独立的融资安排推进。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B280D51-B706-4FA0-8B5E-46CFC9C1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05 / 13</a:t>
            </a:r>
          </a:p>
        </p:txBody>
      </p:sp>
      <p:sp>
        <p:nvSpPr>
          <p:cNvPr id="14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40DDB494-5D97-4B81-A7D8-AB487E4E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来源</a:t>
            </a:r>
          </a:p>
        </p:txBody>
      </p:sp>
      <p:sp>
        <p:nvSpPr>
          <p:cNvPr id="15" name="source-U3">
            <a:extLst xmlns:a="http://schemas.openxmlformats.org/drawingml/2006/main">
              <a:ext uri="{FF2B5EF4-FFF2-40B4-BE49-F238E27FC236}">
                <a16:creationId xmlns:a16="http://schemas.microsoft.com/office/drawing/2014/main" id="{FF7260E9-7FAE-4A9A-8611-A492A939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</p:spTree>
    <p:extLst>
      <p:ext uri="{BB962C8B-B14F-4D97-AF65-F5344CB8AC3E}">
        <p14:creationId xmlns:p14="http://schemas.microsoft.com/office/powerpoint/2010/main" val="7229096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6021E59E-3CD7-44F4-960F-9D5C35B5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市场进入 · 2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430AD99-A7FD-4026-9985-D5C56FF0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公益采购与试点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BB4DED6F-8351-4C7B-82A4-731B80FF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由公益资金方或企业采购设备，合作组织协助定向赠送与服务。</a:t>
            </a:r>
          </a:p>
        </p:txBody>
      </p:sp>
      <p:sp>
        <p:nvSpPr>
          <p:cNvPr id="4" name="col-0-title">
            <a:extLst xmlns:a="http://schemas.openxmlformats.org/drawingml/2006/main">
              <a:ext uri="{FF2B5EF4-FFF2-40B4-BE49-F238E27FC236}">
                <a16:creationId xmlns:a16="http://schemas.microsoft.com/office/drawing/2014/main" id="{63B7A017-B7DC-4878-ADB0-4CF4528E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9552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实施方式</a:t>
            </a:r>
          </a:p>
        </p:txBody>
      </p:sp>
      <p:sp>
        <p:nvSpPr>
          <p:cNvPr id="5" name="col-0-0">
            <a:extLst xmlns:a="http://schemas.openxmlformats.org/drawingml/2006/main">
              <a:ext uri="{FF2B5EF4-FFF2-40B4-BE49-F238E27FC236}">
                <a16:creationId xmlns:a16="http://schemas.microsoft.com/office/drawing/2014/main" id="{C24C92A6-F93E-4A3D-8CE7-491651BD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对接公益机构、企业公益项目或社区。</a:t>
            </a:r>
          </a:p>
        </p:txBody>
      </p:sp>
      <p:sp>
        <p:nvSpPr>
          <p:cNvPr id="6" name="col-0-1">
            <a:extLst xmlns:a="http://schemas.openxmlformats.org/drawingml/2006/main">
              <a:ext uri="{FF2B5EF4-FFF2-40B4-BE49-F238E27FC236}">
                <a16:creationId xmlns:a16="http://schemas.microsoft.com/office/drawing/2014/main" id="{1C65FA4D-615C-44A8-8426-A21249C4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62375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按约定成本核算设备、安装和服务，由资金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方承担采购。</a:t>
            </a:r>
          </a:p>
        </p:txBody>
      </p:sp>
      <p:sp>
        <p:nvSpPr>
          <p:cNvPr id="7" name="col-0-2">
            <a:extLst xmlns:a="http://schemas.openxmlformats.org/drawingml/2006/main">
              <a:ext uri="{FF2B5EF4-FFF2-40B4-BE49-F238E27FC236}">
                <a16:creationId xmlns:a16="http://schemas.microsoft.com/office/drawing/2014/main" id="{172C2CA7-B211-4453-9982-D8495E98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团队交付设备，合作组织协调受赠与使用支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持。</a:t>
            </a:r>
          </a:p>
        </p:txBody>
      </p:sp>
      <p:sp>
        <p:nvSpPr>
          <p:cNvPr id="8" name="col-1-title">
            <a:extLst xmlns:a="http://schemas.openxmlformats.org/drawingml/2006/main">
              <a:ext uri="{FF2B5EF4-FFF2-40B4-BE49-F238E27FC236}">
                <a16:creationId xmlns:a16="http://schemas.microsoft.com/office/drawing/2014/main" id="{6FE80115-8E35-45D4-8D51-0BF325F8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29552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预期成果</a:t>
            </a:r>
          </a:p>
        </p:txBody>
      </p:sp>
      <p:sp>
        <p:nvSpPr>
          <p:cNvPr id="9" name="col-1-0">
            <a:extLst xmlns:a="http://schemas.openxmlformats.org/drawingml/2006/main">
              <a:ext uri="{FF2B5EF4-FFF2-40B4-BE49-F238E27FC236}">
                <a16:creationId xmlns:a16="http://schemas.microsoft.com/office/drawing/2014/main" id="{6167E8BB-BBEF-41C7-8113-BEBE9002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了解真实家庭的观看、讲述和沟通体验。</a:t>
            </a:r>
          </a:p>
        </p:txBody>
      </p:sp>
      <p:sp>
        <p:nvSpPr>
          <p:cNvPr id="10" name="col-1-1">
            <a:extLst xmlns:a="http://schemas.openxmlformats.org/drawingml/2006/main">
              <a:ext uri="{FF2B5EF4-FFF2-40B4-BE49-F238E27FC236}">
                <a16:creationId xmlns:a16="http://schemas.microsoft.com/office/drawing/2014/main" id="{0EC7B727-1011-4B31-A0E5-42DAD186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762375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经参与者同意，形成可复用的案例与演示内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容。</a:t>
            </a:r>
          </a:p>
        </p:txBody>
      </p:sp>
      <p:sp>
        <p:nvSpPr>
          <p:cNvPr id="11" name="col-1-2">
            <a:extLst xmlns:a="http://schemas.openxmlformats.org/drawingml/2006/main">
              <a:ext uri="{FF2B5EF4-FFF2-40B4-BE49-F238E27FC236}">
                <a16:creationId xmlns:a16="http://schemas.microsoft.com/office/drawing/2014/main" id="{BB95D6F8-5FEC-479C-BC28-78D6C715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62915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以使用反馈评估产品价值，以服务记录完善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交付方案。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47FB85C6-32FB-4867-92F5-8465FA52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机构采购与消费者自费订单分别统计，合作名称及背书按协议使用。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F478C026-5B46-4B46-B7AF-244CA256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06 / 13</a:t>
            </a:r>
          </a:p>
        </p:txBody>
      </p:sp>
      <p:sp>
        <p:nvSpPr>
          <p:cNvPr id="14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81418284-5FCD-477C-8903-B85A5806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来源</a:t>
            </a:r>
          </a:p>
        </p:txBody>
      </p:sp>
      <p:sp>
        <p:nvSpPr>
          <p:cNvPr id="15" name="source-U3">
            <a:extLst xmlns:a="http://schemas.openxmlformats.org/drawingml/2006/main">
              <a:ext uri="{FF2B5EF4-FFF2-40B4-BE49-F238E27FC236}">
                <a16:creationId xmlns:a16="http://schemas.microsoft.com/office/drawing/2014/main" id="{5D655022-8F87-4385-9C48-6CCE01CC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</p:spTree>
    <p:extLst>
      <p:ext uri="{BB962C8B-B14F-4D97-AF65-F5344CB8AC3E}">
        <p14:creationId xmlns:p14="http://schemas.microsoft.com/office/powerpoint/2010/main" val="3111166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B976D4C2-1ECF-4F54-B00A-5CB8653E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市场进入 · 2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1AB1FFE-B080-4CFC-B3E0-6B11557F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海外需求验证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CF3C51EC-761D-458C-8595-C4DD20CE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选择团队能够触达的市场，先用小规模测试评估需求。</a:t>
            </a:r>
          </a:p>
        </p:txBody>
      </p:sp>
      <p:sp>
        <p:nvSpPr>
          <p:cNvPr id="4" name="col-0-title">
            <a:extLst xmlns:a="http://schemas.openxmlformats.org/drawingml/2006/main">
              <a:ext uri="{FF2B5EF4-FFF2-40B4-BE49-F238E27FC236}">
                <a16:creationId xmlns:a16="http://schemas.microsoft.com/office/drawing/2014/main" id="{F0AD83F6-5BE3-47AD-8245-DA3610FF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9552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需求测试</a:t>
            </a:r>
          </a:p>
        </p:txBody>
      </p:sp>
      <p:sp>
        <p:nvSpPr>
          <p:cNvPr id="5" name="col-0-0">
            <a:extLst xmlns:a="http://schemas.openxmlformats.org/drawingml/2006/main">
              <a:ext uri="{FF2B5EF4-FFF2-40B4-BE49-F238E27FC236}">
                <a16:creationId xmlns:a16="http://schemas.microsoft.com/office/drawing/2014/main" id="{A5C6B877-F6EC-4E4B-A639-5F377785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制作目标语言的产品演示。</a:t>
            </a:r>
          </a:p>
        </p:txBody>
      </p:sp>
      <p:sp>
        <p:nvSpPr>
          <p:cNvPr id="6" name="col-0-1">
            <a:extLst xmlns:a="http://schemas.openxmlformats.org/drawingml/2006/main">
              <a:ext uri="{FF2B5EF4-FFF2-40B4-BE49-F238E27FC236}">
                <a16:creationId xmlns:a16="http://schemas.microsoft.com/office/drawing/2014/main" id="{14A294CA-345B-470F-8D9F-A933A5B9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62375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建立意向页，记录咨询、使用场景与价格反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馈。</a:t>
            </a:r>
          </a:p>
        </p:txBody>
      </p:sp>
      <p:sp>
        <p:nvSpPr>
          <p:cNvPr id="7" name="col-0-2">
            <a:extLst xmlns:a="http://schemas.openxmlformats.org/drawingml/2006/main">
              <a:ext uri="{FF2B5EF4-FFF2-40B4-BE49-F238E27FC236}">
                <a16:creationId xmlns:a16="http://schemas.microsoft.com/office/drawing/2014/main" id="{AEA3381B-F261-4A1F-AF00-01C6C51C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优先安排能够直接支持的家庭试用。</a:t>
            </a:r>
          </a:p>
        </p:txBody>
      </p:sp>
      <p:sp>
        <p:nvSpPr>
          <p:cNvPr id="8" name="col-1-title">
            <a:extLst xmlns:a="http://schemas.openxmlformats.org/drawingml/2006/main">
              <a:ext uri="{FF2B5EF4-FFF2-40B4-BE49-F238E27FC236}">
                <a16:creationId xmlns:a16="http://schemas.microsoft.com/office/drawing/2014/main" id="{B6F53797-F158-4583-9379-F8CB91E2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29552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商业化准备</a:t>
            </a:r>
          </a:p>
        </p:txBody>
      </p:sp>
      <p:sp>
        <p:nvSpPr>
          <p:cNvPr id="9" name="col-1-0">
            <a:extLst xmlns:a="http://schemas.openxmlformats.org/drawingml/2006/main">
              <a:ext uri="{FF2B5EF4-FFF2-40B4-BE49-F238E27FC236}">
                <a16:creationId xmlns:a16="http://schemas.microsoft.com/office/drawing/2014/main" id="{41D74B61-7E23-47E6-A31C-1DE2EA7D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核算物流、税费、支付与售后成本。</a:t>
            </a:r>
          </a:p>
        </p:txBody>
      </p:sp>
      <p:sp>
        <p:nvSpPr>
          <p:cNvPr id="10" name="col-1-1">
            <a:extLst xmlns:a="http://schemas.openxmlformats.org/drawingml/2006/main">
              <a:ext uri="{FF2B5EF4-FFF2-40B4-BE49-F238E27FC236}">
                <a16:creationId xmlns:a16="http://schemas.microsoft.com/office/drawing/2014/main" id="{D0B2E884-CFF6-400B-AC90-5511F808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762375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确认当地产品要求与服务方式。</a:t>
            </a:r>
          </a:p>
        </p:txBody>
      </p:sp>
      <p:sp>
        <p:nvSpPr>
          <p:cNvPr id="11" name="col-1-2">
            <a:extLst xmlns:a="http://schemas.openxmlformats.org/drawingml/2006/main">
              <a:ext uri="{FF2B5EF4-FFF2-40B4-BE49-F238E27FC236}">
                <a16:creationId xmlns:a16="http://schemas.microsoft.com/office/drawing/2014/main" id="{0FD12D76-388A-4F44-98AD-E42EA2A4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629150"/>
            <a:ext cx="4905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结合国内验证结果，评估当地渠道和预售方</a:t>
            </a:r>
          </a:p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案。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3B840F67-A166-412A-9408-A8253742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先形成目标市场的需求证据，再确定投入规模与上线安排。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0D14461-4445-4DFD-87A7-3ACEAB9D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07 / 13</a:t>
            </a:r>
          </a:p>
        </p:txBody>
      </p:sp>
      <p:sp>
        <p:nvSpPr>
          <p:cNvPr id="14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0F656769-D546-4E4D-B568-AF6F0A5E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来源</a:t>
            </a:r>
          </a:p>
        </p:txBody>
      </p:sp>
      <p:sp>
        <p:nvSpPr>
          <p:cNvPr id="15" name="source-U3">
            <a:extLst xmlns:a="http://schemas.openxmlformats.org/drawingml/2006/main">
              <a:ext uri="{FF2B5EF4-FFF2-40B4-BE49-F238E27FC236}">
                <a16:creationId xmlns:a16="http://schemas.microsoft.com/office/drawing/2014/main" id="{1D4FA32D-B424-4B16-B92D-4AB5CC33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</p:spTree>
    <p:extLst>
      <p:ext uri="{BB962C8B-B14F-4D97-AF65-F5344CB8AC3E}">
        <p14:creationId xmlns:p14="http://schemas.microsoft.com/office/powerpoint/2010/main" val="20290663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E75B0A6B-C269-4963-BA43-3B00377D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合作路径 · 3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6663055-ED04-420C-9ADA-67A3C044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合作模式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1F0B8ECE-C65C-4B45-94A1-C06460D1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不同资源对应不同合作方式，按阶段约定投入与成果。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398CB-79B8-4AD3-828B-A8B810F199CA}"/>
              </a:ext>
            </a:extLst>
          </p:cNvPr>
          <p:cNvGraphicFramePr/>
          <p:nvPr/>
        </p:nvGraphicFramePr>
        <p:xfrm>
          <a:off xmlns:a="http://schemas.openxmlformats.org/drawingml/2006/main" x="571500" y="2209800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933575"/>
                <a:gridCol w="4552950"/>
                <a:gridCol w="4562475"/>
              </a:tblGrid>
              <a:tr h="49530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19778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合作方式</a:t>
                      </a:r>
                    </a:p>
                  </a:txBody>
                  <a:tcPr marL="91440" marR="91440" marT="45720" marB="45720" anchor="ctr">
                    <a:solidFill>
                      <a:srgbClr val="EEF4F6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19778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支持内容</a:t>
                      </a:r>
                    </a:p>
                  </a:txBody>
                  <a:tcPr marL="91440" marR="91440" marT="45720" marB="45720" anchor="ctr">
                    <a:solidFill>
                      <a:srgbClr val="EEF4F6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19778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团队工作与阶段成果</a:t>
                      </a:r>
                    </a:p>
                  </a:txBody>
                  <a:tcPr marL="91440" marR="91440" marT="45720" marB="45720" anchor="ctr">
                    <a:solidFill>
                      <a:srgbClr val="EEF4F6"/>
                    </a:solidFill>
                  </a:tcPr>
                </a:tc>
              </a:tr>
              <a:tr h="74295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产品共创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工程资源、硬件方案与样机经费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产品体验与试用验证，形成样机及成本依据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孵化支持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设备、场地、试点经费与创业辅导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按里程碑推进验证，建立持续运营能力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渠道合作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销售渠道、品牌授权与推广资源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配套产品和服务，形成订单及交付记录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股权投资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与阶段目标相匹配的资金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按约定计划研发和拓展，定期报告经营进展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away">
            <a:extLst xmlns:a="http://schemas.openxmlformats.org/drawingml/2006/main">
              <a:ext uri="{FF2B5EF4-FFF2-40B4-BE49-F238E27FC236}">
                <a16:creationId xmlns:a16="http://schemas.microsoft.com/office/drawing/2014/main" id="{11EAEE3A-27F8-4536-B2F1-B631E711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合作方可参与新场景验证，具体权益、品牌与知识产权安排另行约定。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7B2BD9D0-715B-40D7-B7A1-F08712590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08 / 13</a:t>
            </a:r>
          </a:p>
        </p:txBody>
      </p:sp>
      <p:sp>
        <p:nvSpPr>
          <p:cNvPr id="7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FAD95DE8-3930-4D76-B834-580E1E18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来源</a:t>
            </a:r>
          </a:p>
        </p:txBody>
      </p:sp>
      <p:sp>
        <p:nvSpPr>
          <p:cNvPr id="8" name="source-U3">
            <a:extLst xmlns:a="http://schemas.openxmlformats.org/drawingml/2006/main">
              <a:ext uri="{FF2B5EF4-FFF2-40B4-BE49-F238E27FC236}">
                <a16:creationId xmlns:a16="http://schemas.microsoft.com/office/drawing/2014/main" id="{FA287D9F-D683-4602-B49A-CE103670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</p:spTree>
    <p:extLst>
      <p:ext uri="{BB962C8B-B14F-4D97-AF65-F5344CB8AC3E}">
        <p14:creationId xmlns:p14="http://schemas.microsoft.com/office/powerpoint/2010/main" val="16259381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53BA152E-F7A4-4A81-BDA3-023C32F7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产品化安排 · 2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DFBD313-A746-46A9-882C-2B98CD5E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工程支持与量产衔接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B8C91572-96C6-4C10-B145-08CE5470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获得设计或开模支持后，可推进试产准备，并同步落实生产与服务安排。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95DBE-3439-40DB-B44C-E4983D0CF734}"/>
              </a:ext>
            </a:extLst>
          </p:cNvPr>
          <p:cNvGraphicFramePr/>
          <p:nvPr/>
        </p:nvGraphicFramePr>
        <p:xfrm>
          <a:off xmlns:a="http://schemas.openxmlformats.org/drawingml/2006/main" x="571500" y="2209800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933575"/>
                <a:gridCol w="4552950"/>
                <a:gridCol w="4562475"/>
              </a:tblGrid>
              <a:tr h="49530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19778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工作环节</a:t>
                      </a:r>
                    </a:p>
                  </a:txBody>
                  <a:tcPr marL="91440" marR="91440" marT="45720" marB="45720" anchor="ctr">
                    <a:solidFill>
                      <a:srgbClr val="EEF4F6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19778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需要明确的内容</a:t>
                      </a:r>
                    </a:p>
                  </a:txBody>
                  <a:tcPr marL="91440" marR="91440" marT="45720" marB="45720" anchor="ctr">
                    <a:solidFill>
                      <a:srgbClr val="EEF4F6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19778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预期形成的成果</a:t>
                      </a:r>
                    </a:p>
                  </a:txBody>
                  <a:tcPr marL="91440" marR="91440" marT="45720" marB="45720" anchor="ctr">
                    <a:solidFill>
                      <a:srgbClr val="EEF4F6"/>
                    </a:solidFill>
                  </a:tcPr>
                </a:tc>
              </a:tr>
              <a:tr h="74295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设计与模具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模具费用、所有权、修改与使用范围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通过评审的设计与明确的模具安排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工厂与货款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供应商、起订量、付款节点和质检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可执行的试产计划与付款计划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渠道与订单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授权范围、收款、平台结算与退款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明确的交易主体与订单规则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交付与售后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物流、退换、维修与持续服务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38100" rIns="133350" bIns="381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64E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服务负责人及相应预算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away">
            <a:extLst xmlns:a="http://schemas.openxmlformats.org/drawingml/2006/main">
              <a:ext uri="{FF2B5EF4-FFF2-40B4-BE49-F238E27FC236}">
                <a16:creationId xmlns:a16="http://schemas.microsoft.com/office/drawing/2014/main" id="{5C631534-CA9B-430D-A942-3105E93B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工程支持、首批生产与售后资金按环节核算，并对应明确的责任主体。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C5F8CEE7-79EE-47CF-B346-9E485C84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09 / 13</a:t>
            </a:r>
          </a:p>
        </p:txBody>
      </p:sp>
    </p:spTree>
    <p:extLst>
      <p:ext uri="{BB962C8B-B14F-4D97-AF65-F5344CB8AC3E}">
        <p14:creationId xmlns:p14="http://schemas.microsoft.com/office/powerpoint/2010/main" val="8011364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50FED1C3-73ED-42AB-8CED-FCE39575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资金与融资 · 2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D2A3942-5A0E-4466-BA8D-B87876B3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阶段资金安排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513E9B84-45B8-4418-83B4-5EC9EA2C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资金与里程碑相匹配，按实际付款节点测算需求。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DC4E6A99-81A6-4937-8DAA-5A1EDCCB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样机验证</a:t>
            </a:r>
          </a:p>
        </p:txBody>
      </p:sp>
      <p:sp>
        <p:nvSpPr>
          <p:cNvPr id="5" name="row-body-0">
            <a:extLst xmlns:a="http://schemas.openxmlformats.org/drawingml/2006/main">
              <a:ext uri="{FF2B5EF4-FFF2-40B4-BE49-F238E27FC236}">
                <a16:creationId xmlns:a16="http://schemas.microsoft.com/office/drawing/2014/main" id="{75889E19-E3B3-465E-879D-BD9CC8EC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050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结合已有预算、共创经费或孵化支持，覆盖小批样机。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8FBEE514-C01B-46FC-B1F3-2FCA05F6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家庭试点</a:t>
            </a:r>
          </a:p>
        </p:txBody>
      </p:sp>
      <p:sp>
        <p:nvSpPr>
          <p:cNvPr id="7" name="row-body-1">
            <a:extLst xmlns:a="http://schemas.openxmlformats.org/drawingml/2006/main">
              <a:ext uri="{FF2B5EF4-FFF2-40B4-BE49-F238E27FC236}">
                <a16:creationId xmlns:a16="http://schemas.microsoft.com/office/drawing/2014/main" id="{CE79ECCA-BB5C-46F5-BD8A-F8A388FC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861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采购或试点经费覆盖约定设备与服务，形成使用和成本记录。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933A0C19-AB37-4E5C-AE2F-6C35AA67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预售交付</a:t>
            </a:r>
          </a:p>
        </p:txBody>
      </p:sp>
      <p:sp>
        <p:nvSpPr>
          <p:cNvPr id="9" name="row-body-2">
            <a:extLst xmlns:a="http://schemas.openxmlformats.org/drawingml/2006/main">
              <a:ext uri="{FF2B5EF4-FFF2-40B4-BE49-F238E27FC236}">
                <a16:creationId xmlns:a16="http://schemas.microsoft.com/office/drawing/2014/main" id="{FD3519B3-82C5-41E9-B797-B883F2AF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671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计入可支取的预售净款，单列平台费用、退款准备和交付成本。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039FD340-218C-458A-B7AA-951C4683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后续融资</a:t>
            </a:r>
          </a:p>
        </p:txBody>
      </p:sp>
      <p:sp>
        <p:nvSpPr>
          <p:cNvPr id="11" name="row-body-3">
            <a:extLst xmlns:a="http://schemas.openxmlformats.org/drawingml/2006/main">
              <a:ext uri="{FF2B5EF4-FFF2-40B4-BE49-F238E27FC236}">
                <a16:creationId xmlns:a16="http://schemas.microsoft.com/office/drawing/2014/main" id="{9C55FD73-7A01-4941-92E0-731C364E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6482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结合产品、试用与初步订单信号，评估融资规模及资金用途。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F0236CFA-B2A5-4C44-A434-2204E641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阶段支出减去已落实支持及可支取订单资金，得到需要补足的资金。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EC832B2-3953-4764-9A58-0E707A47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10 / 13</a:t>
            </a:r>
          </a:p>
        </p:txBody>
      </p:sp>
      <p:sp>
        <p:nvSpPr>
          <p:cNvPr id="14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F27F78BC-9846-4487-AC7E-B07D95C5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来源</a:t>
            </a:r>
          </a:p>
        </p:txBody>
      </p:sp>
      <p:sp>
        <p:nvSpPr>
          <p:cNvPr id="15" name="source-U3">
            <a:extLst xmlns:a="http://schemas.openxmlformats.org/drawingml/2006/main">
              <a:ext uri="{FF2B5EF4-FFF2-40B4-BE49-F238E27FC236}">
                <a16:creationId xmlns:a16="http://schemas.microsoft.com/office/drawing/2014/main" id="{887BFDD8-D80B-43A8-A3D2-EF523EE1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</p:spTree>
    <p:extLst>
      <p:ext uri="{BB962C8B-B14F-4D97-AF65-F5344CB8AC3E}">
        <p14:creationId xmlns:p14="http://schemas.microsoft.com/office/powerpoint/2010/main" val="20401496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1344C846-E808-4D22-8BF1-75E6FD46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合作价值 · 2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572E933-D42C-4DC2-9DB3-9B3D8660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资源支持与阶段成果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DEB2460D-6B2B-4820-B85B-D055D97E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支持投入转化为可检查的产品、市场与经营成果。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DC6F0132-A44D-403E-AF3B-505E0F17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获得工程支持</a:t>
            </a:r>
          </a:p>
        </p:txBody>
      </p:sp>
      <p:sp>
        <p:nvSpPr>
          <p:cNvPr id="5" name="row-body-0">
            <a:extLst xmlns:a="http://schemas.openxmlformats.org/drawingml/2006/main">
              <a:ext uri="{FF2B5EF4-FFF2-40B4-BE49-F238E27FC236}">
                <a16:creationId xmlns:a16="http://schemas.microsoft.com/office/drawing/2014/main" id="{FF155EDB-9238-4349-AC32-B2B6C3C6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050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可推进大屏样机，形成器件方案、成本依据与稳定性记录。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6FC4F127-1AC2-4F01-8246-5896AA1F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获得试点资源</a:t>
            </a:r>
          </a:p>
        </p:txBody>
      </p:sp>
      <p:sp>
        <p:nvSpPr>
          <p:cNvPr id="7" name="row-body-1">
            <a:extLst xmlns:a="http://schemas.openxmlformats.org/drawingml/2006/main">
              <a:ext uri="{FF2B5EF4-FFF2-40B4-BE49-F238E27FC236}">
                <a16:creationId xmlns:a16="http://schemas.microsoft.com/office/drawing/2014/main" id="{BC544398-0A88-4E05-8CE8-82B9C300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861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可组织真实家庭使用，形成体验反馈与服务案例。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96C00461-F4FA-42C0-BAE6-E4309CD8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获得渠道支持</a:t>
            </a:r>
          </a:p>
        </p:txBody>
      </p:sp>
      <p:sp>
        <p:nvSpPr>
          <p:cNvPr id="9" name="row-body-2">
            <a:extLst xmlns:a="http://schemas.openxmlformats.org/drawingml/2006/main">
              <a:ext uri="{FF2B5EF4-FFF2-40B4-BE49-F238E27FC236}">
                <a16:creationId xmlns:a16="http://schemas.microsoft.com/office/drawing/2014/main" id="{5727297D-E7A2-443C-91E7-DA9B2E4A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671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可测试预售与销售，形成购买意愿、订单和交付数据。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8BDD6D04-2316-42FD-8775-D5612B98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获得阶段资金</a:t>
            </a:r>
          </a:p>
        </p:txBody>
      </p:sp>
      <p:sp>
        <p:nvSpPr>
          <p:cNvPr id="11" name="row-body-3">
            <a:extLst xmlns:a="http://schemas.openxmlformats.org/drawingml/2006/main">
              <a:ext uri="{FF2B5EF4-FFF2-40B4-BE49-F238E27FC236}">
                <a16:creationId xmlns:a16="http://schemas.microsoft.com/office/drawing/2014/main" id="{58500694-4A36-4BDB-B025-FF51DDCC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6482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可落实研发与试产计划，为下一轮投入提供评估依据。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5C93A888-A9D2-4D7A-A317-C41C6BB1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产业伙伴获得新使用场景的验证机会，投资人获得更清晰的阶段进展与决策依据。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C4D4BCF-6B16-46C4-B9C1-361ADDA0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11 / 13</a:t>
            </a:r>
          </a:p>
        </p:txBody>
      </p:sp>
      <p:sp>
        <p:nvSpPr>
          <p:cNvPr id="14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9D4E17EF-E711-44F0-8CE4-C4343E8E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来源</a:t>
            </a:r>
          </a:p>
        </p:txBody>
      </p:sp>
      <p:sp>
        <p:nvSpPr>
          <p:cNvPr id="15" name="source-U3">
            <a:extLst xmlns:a="http://schemas.openxmlformats.org/drawingml/2006/main">
              <a:ext uri="{FF2B5EF4-FFF2-40B4-BE49-F238E27FC236}">
                <a16:creationId xmlns:a16="http://schemas.microsoft.com/office/drawing/2014/main" id="{D5505D21-CAF9-46AC-8CFC-BD6E088F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579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</p:spTree>
    <p:extLst>
      <p:ext uri="{BB962C8B-B14F-4D97-AF65-F5344CB8AC3E}">
        <p14:creationId xmlns:p14="http://schemas.microsoft.com/office/powerpoint/2010/main" val="6725503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3FE0C33-69C4-49F1-B94B-EE7D4EE7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共同讨论 · 6 分钟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395FE6F-A53D-4849-BC0B-0E72D968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下一阶段的合作议题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62373BC3-5A46-479B-A7A2-7217F4A2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围绕当前资源与阶段目标，确定双方可以推进的工作。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D3619185-4913-439E-8BFC-93F91A72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合作方式</a:t>
            </a:r>
          </a:p>
        </p:txBody>
      </p:sp>
      <p:sp>
        <p:nvSpPr>
          <p:cNvPr id="5" name="row-body-0">
            <a:extLst xmlns:a="http://schemas.openxmlformats.org/drawingml/2006/main">
              <a:ext uri="{FF2B5EF4-FFF2-40B4-BE49-F238E27FC236}">
                <a16:creationId xmlns:a16="http://schemas.microsoft.com/office/drawing/2014/main" id="{F4DBB79D-C07D-40FA-818B-FF4CB78D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050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优先采用产品共创、孵化、渠道合作或投资中的哪种方式？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903A536A-C3A2-437E-A097-47D7A90B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工作范围</a:t>
            </a:r>
          </a:p>
        </p:txBody>
      </p:sp>
      <p:sp>
        <p:nvSpPr>
          <p:cNvPr id="7" name="row-body-1">
            <a:extLst xmlns:a="http://schemas.openxmlformats.org/drawingml/2006/main">
              <a:ext uri="{FF2B5EF4-FFF2-40B4-BE49-F238E27FC236}">
                <a16:creationId xmlns:a16="http://schemas.microsoft.com/office/drawing/2014/main" id="{073920D7-50C8-4BDC-A18D-170AE551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861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首批样机的数量、核心体验与试用范围如何确定？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4EA958F0-1F0A-466D-A54B-CC1BA0CF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投入安排</a:t>
            </a:r>
          </a:p>
        </p:txBody>
      </p:sp>
      <p:sp>
        <p:nvSpPr>
          <p:cNvPr id="9" name="row-body-2">
            <a:extLst xmlns:a="http://schemas.openxmlformats.org/drawingml/2006/main">
              <a:ext uri="{FF2B5EF4-FFF2-40B4-BE49-F238E27FC236}">
                <a16:creationId xmlns:a16="http://schemas.microsoft.com/office/drawing/2014/main" id="{0E032CD8-BF22-429A-B0E6-46190A14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6715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工程、试点、生产与服务需要哪些资源，分别如何落实？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D5DA016F-3196-4563-A291-E31F4F6C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1743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评估节点</a:t>
            </a:r>
          </a:p>
        </p:txBody>
      </p:sp>
      <p:sp>
        <p:nvSpPr>
          <p:cNvPr id="11" name="row-body-3">
            <a:extLst xmlns:a="http://schemas.openxmlformats.org/drawingml/2006/main">
              <a:ext uri="{FF2B5EF4-FFF2-40B4-BE49-F238E27FC236}">
                <a16:creationId xmlns:a16="http://schemas.microsoft.com/office/drawing/2014/main" id="{17418187-FB16-4D38-B8E5-A6A9799D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648200"/>
            <a:ext cx="9096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以哪些使用、成本和订单记录评估进展，何时再次讨论？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1AA20973-DDBA-441D-9FFD-738D66E41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下一步以明确的工作范围、负责人和评估时间推进。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E84B134-695A-44BA-AEC7-54539185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12 / 13</a:t>
            </a:r>
          </a:p>
        </p:txBody>
      </p:sp>
    </p:spTree>
    <p:extLst>
      <p:ext uri="{BB962C8B-B14F-4D97-AF65-F5344CB8AC3E}">
        <p14:creationId xmlns:p14="http://schemas.microsoft.com/office/powerpoint/2010/main" val="9417497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ection">
            <a:extLst xmlns:a="http://schemas.openxmlformats.org/drawingml/2006/main">
              <a:ext uri="{FF2B5EF4-FFF2-40B4-BE49-F238E27FC236}">
                <a16:creationId xmlns:a16="http://schemas.microsoft.com/office/drawing/2014/main" id="{E291B61E-BF67-445D-A282-581D27B4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参考资料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EEC5A6D-3302-4832-9360-49A7C19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资料来源与规划依据</a:t>
            </a:r>
          </a:p>
        </p:txBody>
      </p:sp>
      <p:sp>
        <p:nvSpPr>
          <p:cNvPr id="3" name="ref-A1">
            <a:extLst xmlns:a="http://schemas.openxmlformats.org/drawingml/2006/main">
              <a:ext uri="{FF2B5EF4-FFF2-40B4-BE49-F238E27FC236}">
                <a16:creationId xmlns:a16="http://schemas.microsoft.com/office/drawing/2014/main" id="{12200F9A-6E94-49B0-AFF9-76C7D410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A1</a:t>
            </a:r>
          </a:p>
        </p:txBody>
      </p:sp>
      <p:sp>
        <p:nvSpPr>
          <p:cNvPr id="4" name="ref-title-A1">
            <a:extLst xmlns:a="http://schemas.openxmlformats.org/drawingml/2006/main">
              <a:ext uri="{FF2B5EF4-FFF2-40B4-BE49-F238E27FC236}">
                <a16:creationId xmlns:a16="http://schemas.microsoft.com/office/drawing/2014/main" id="{EAB6C0C3-5C49-476E-86FA-137AC5DC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1714500"/>
            <a:ext cx="10525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  <a:hlinkClick xmlns:r="http://schemas.openxmlformats.org/officeDocument/2006/relationships" r:id="R937f3383836146c2"/>
              </a:rPr>
              <a:t>影石 Bold Maker 挑战赛收官报道 ↗</a:t>
            </a:r>
          </a:p>
        </p:txBody>
      </p:sp>
      <p:sp>
        <p:nvSpPr>
          <p:cNvPr id="5" name="ref-locator-A1">
            <a:extLst xmlns:a="http://schemas.openxmlformats.org/drawingml/2006/main">
              <a:ext uri="{FF2B5EF4-FFF2-40B4-BE49-F238E27FC236}">
                <a16:creationId xmlns:a16="http://schemas.microsoft.com/office/drawing/2014/main" id="{E35B0A49-A3A7-483E-8EFB-E8AF21F1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057400"/>
            <a:ext cx="10525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2026-09-26 发布 · 正文：9 月 24 日颁奖典礼；孵化与赛事支持段</a:t>
            </a:r>
          </a:p>
        </p:txBody>
      </p:sp>
      <p:sp>
        <p:nvSpPr>
          <p:cNvPr id="6" name="ref-summary-A1">
            <a:extLst xmlns:a="http://schemas.openxmlformats.org/drawingml/2006/main">
              <a:ext uri="{FF2B5EF4-FFF2-40B4-BE49-F238E27FC236}">
                <a16:creationId xmlns:a16="http://schemas.microsoft.com/office/drawing/2014/main" id="{70F5EBFB-E8FD-4C1C-BC38-D8410E4A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295525"/>
            <a:ext cx="1052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核实颁奖日期为 2026-09-24。报道介绍孵化、技术验证与落地支持；具体可申请项目及资格仍需确认。</a:t>
            </a:r>
          </a:p>
        </p:txBody>
      </p:sp>
      <p:sp>
        <p:nvSpPr>
          <p:cNvPr id="7" name="ref-P2">
            <a:extLst xmlns:a="http://schemas.openxmlformats.org/drawingml/2006/main">
              <a:ext uri="{FF2B5EF4-FFF2-40B4-BE49-F238E27FC236}">
                <a16:creationId xmlns:a16="http://schemas.microsoft.com/office/drawing/2014/main" id="{02872AD8-7D3A-41AA-B3F6-54639C48E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955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P2</a:t>
            </a:r>
          </a:p>
        </p:txBody>
      </p:sp>
      <p:sp>
        <p:nvSpPr>
          <p:cNvPr id="8" name="ref-title-P2">
            <a:extLst xmlns:a="http://schemas.openxmlformats.org/drawingml/2006/main">
              <a:ext uri="{FF2B5EF4-FFF2-40B4-BE49-F238E27FC236}">
                <a16:creationId xmlns:a16="http://schemas.microsoft.com/office/drawing/2014/main" id="{FD76ACC8-E7C5-488F-9491-0589221D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695575"/>
            <a:ext cx="10525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项目成果与设备验证记录</a:t>
            </a:r>
          </a:p>
        </p:txBody>
      </p:sp>
      <p:sp>
        <p:nvSpPr>
          <p:cNvPr id="9" name="ref-locator-P2">
            <a:extLst xmlns:a="http://schemas.openxmlformats.org/drawingml/2006/main">
              <a:ext uri="{FF2B5EF4-FFF2-40B4-BE49-F238E27FC236}">
                <a16:creationId xmlns:a16="http://schemas.microsoft.com/office/drawing/2014/main" id="{BFCFA2AF-25D8-4DF1-BC42-35680A6B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038475"/>
            <a:ext cx="10525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截至 2026-10-13 · 团队项目记录</a:t>
            </a:r>
          </a:p>
        </p:txBody>
      </p:sp>
      <p:sp>
        <p:nvSpPr>
          <p:cNvPr id="10" name="ref-summary-P2">
            <a:extLst xmlns:a="http://schemas.openxmlformats.org/drawingml/2006/main">
              <a:ext uri="{FF2B5EF4-FFF2-40B4-BE49-F238E27FC236}">
                <a16:creationId xmlns:a16="http://schemas.microsoft.com/office/drawing/2014/main" id="{E5BD0204-9E2B-479D-B844-233DE1C5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276600"/>
            <a:ext cx="1052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影石 AI+社会公益赛道第一名为团队确认成果。当前通过翻译笔开展实体 Demo 验证，持续运行结果待设备测试确认。</a:t>
            </a:r>
          </a:p>
        </p:txBody>
      </p:sp>
      <p:sp>
        <p:nvSpPr>
          <p:cNvPr id="11" name="ref-D1">
            <a:extLst xmlns:a="http://schemas.openxmlformats.org/drawingml/2006/main">
              <a:ext uri="{FF2B5EF4-FFF2-40B4-BE49-F238E27FC236}">
                <a16:creationId xmlns:a16="http://schemas.microsoft.com/office/drawing/2014/main" id="{C3851409-0FFA-4C59-9970-AEA0D3C1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D1</a:t>
            </a:r>
          </a:p>
        </p:txBody>
      </p:sp>
      <p:sp>
        <p:nvSpPr>
          <p:cNvPr id="12" name="ref-title-D1">
            <a:extLst xmlns:a="http://schemas.openxmlformats.org/drawingml/2006/main">
              <a:ext uri="{FF2B5EF4-FFF2-40B4-BE49-F238E27FC236}">
                <a16:creationId xmlns:a16="http://schemas.microsoft.com/office/drawing/2014/main" id="{1DDD037E-63F8-410D-9709-F66689BD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676650"/>
            <a:ext cx="10525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UNSEEN 原有外观与结构方案</a:t>
            </a:r>
          </a:p>
        </p:txBody>
      </p:sp>
      <p:sp>
        <p:nvSpPr>
          <p:cNvPr id="13" name="ref-locator-D1">
            <a:extLst xmlns:a="http://schemas.openxmlformats.org/drawingml/2006/main">
              <a:ext uri="{FF2B5EF4-FFF2-40B4-BE49-F238E27FC236}">
                <a16:creationId xmlns:a16="http://schemas.microsoft.com/office/drawing/2014/main" id="{C10C2EAA-D40A-4495-A699-DD8DE32A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019550"/>
            <a:ext cx="10525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2026-10-08 · R1 设计评审稿</a:t>
            </a:r>
          </a:p>
        </p:txBody>
      </p:sp>
      <p:sp>
        <p:nvSpPr>
          <p:cNvPr id="14" name="ref-summary-D1">
            <a:extLst xmlns:a="http://schemas.openxmlformats.org/drawingml/2006/main">
              <a:ext uri="{FF2B5EF4-FFF2-40B4-BE49-F238E27FC236}">
                <a16:creationId xmlns:a16="http://schemas.microsoft.com/office/drawing/2014/main" id="{353E3C9A-E114-4502-9598-32345020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257675"/>
            <a:ext cx="1052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浅木色外框、暖白后壳、灰绿与陶土红双键。独立相框作为首版方向，灯座构型作为后续备选。图片为设计概念。</a:t>
            </a:r>
          </a:p>
        </p:txBody>
      </p:sp>
      <p:sp>
        <p:nvSpPr>
          <p:cNvPr id="15" name="ref-U3">
            <a:extLst xmlns:a="http://schemas.openxmlformats.org/drawingml/2006/main">
              <a:ext uri="{FF2B5EF4-FFF2-40B4-BE49-F238E27FC236}">
                <a16:creationId xmlns:a16="http://schemas.microsoft.com/office/drawing/2014/main" id="{A1FEB777-D90F-46B3-8514-69CD731A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577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U3</a:t>
            </a:r>
          </a:p>
        </p:txBody>
      </p:sp>
      <p:sp>
        <p:nvSpPr>
          <p:cNvPr id="16" name="ref-title-U3">
            <a:extLst xmlns:a="http://schemas.openxmlformats.org/drawingml/2006/main">
              <a:ext uri="{FF2B5EF4-FFF2-40B4-BE49-F238E27FC236}">
                <a16:creationId xmlns:a16="http://schemas.microsoft.com/office/drawing/2014/main" id="{1BAB5A2D-F3CA-4DBC-912D-B5400B13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657725"/>
            <a:ext cx="10525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7364E"/>
                </a:solidFill>
                <a:latin typeface="Noto Sans SC"/>
                <a:ea typeface="Noto Sans SC"/>
                <a:cs typeface="Noto Sans SC"/>
              </a:rPr>
              <a:t>产品验证与市场规划</a:t>
            </a:r>
          </a:p>
        </p:txBody>
      </p:sp>
      <p:sp>
        <p:nvSpPr>
          <p:cNvPr id="17" name="ref-locator-U3">
            <a:extLst xmlns:a="http://schemas.openxmlformats.org/drawingml/2006/main">
              <a:ext uri="{FF2B5EF4-FFF2-40B4-BE49-F238E27FC236}">
                <a16:creationId xmlns:a16="http://schemas.microsoft.com/office/drawing/2014/main" id="{D778F49F-154B-4131-9D16-AB97B0B4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000625"/>
            <a:ext cx="10525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2026-10-13 · 团队当前规划</a:t>
            </a:r>
          </a:p>
        </p:txBody>
      </p:sp>
      <p:sp>
        <p:nvSpPr>
          <p:cNvPr id="18" name="ref-summary-U3">
            <a:extLst xmlns:a="http://schemas.openxmlformats.org/drawingml/2006/main">
              <a:ext uri="{FF2B5EF4-FFF2-40B4-BE49-F238E27FC236}">
                <a16:creationId xmlns:a16="http://schemas.microsoft.com/office/drawing/2014/main" id="{DE3FB1BE-9C0C-4ADF-95C6-D71C77F4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238750"/>
            <a:ext cx="1052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翻译笔验证、大屏样机、家庭试用、国内预售、公益采购与海外需求测试。样机数量和排期为讨论方案。</a:t>
            </a:r>
          </a:p>
        </p:txBody>
      </p:sp>
      <p:sp>
        <p:nvSpPr>
          <p:cNvPr id="19" name="takeaway">
            <a:extLst xmlns:a="http://schemas.openxmlformats.org/drawingml/2006/main">
              <a:ext uri="{FF2B5EF4-FFF2-40B4-BE49-F238E27FC236}">
                <a16:creationId xmlns:a16="http://schemas.microsoft.com/office/drawing/2014/main" id="{EB60A9CF-1BB3-4460-B25D-8D53A4CA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0">
                <a:solidFill>
                  <a:srgbClr val="197780"/>
                </a:solidFill>
                <a:latin typeface="Noto Sans SC"/>
                <a:ea typeface="Noto Sans SC"/>
                <a:cs typeface="Noto Sans SC"/>
              </a:rPr>
              <a:t>外观图为设计概念，产品配置、阶段计划与合作安排随验证和协商更新。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257BFDB1-4432-4A71-9485-919609E8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536D80"/>
                </a:solidFill>
                <a:latin typeface="Noto Sans SC"/>
                <a:ea typeface="Noto Sans SC"/>
                <a:cs typeface="Noto Sans SC"/>
              </a:rPr>
              <a:t>13 / 13</a:t>
            </a:r>
          </a:p>
        </p:txBody>
      </p:sp>
    </p:spTree>
    <p:extLst>
      <p:ext uri="{BB962C8B-B14F-4D97-AF65-F5344CB8AC3E}">
        <p14:creationId xmlns:p14="http://schemas.microsoft.com/office/powerpoint/2010/main" val="8669863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2026-10-13T01:37:04.2220000Z</dcterms:created>
  <dcterms:modified xsi:type="dcterms:W3CDTF">2026-10-13T01:37:04.2220000Z</dcterms:modified>
</coreProperties>
</file>
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2a3824c21c4729" /><Relationship Type="http://schemas.openxmlformats.org/officeDocument/2006/relationships/extended-properties" Target="/docProps/app.xml" Id="R607240ad36284c2e" /><Relationship Type="http://schemas.openxmlformats.org/officeDocument/2006/relationships/officeDocument" Target="/ppt/presentation.xml" Id="R5374a7051a9642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111ff803584d7b"/>
  </p:sldMasterIdLst>
  <p:notesMasterIdLst>
    <p:notesMasterId xmlns:r="http://schemas.openxmlformats.org/officeDocument/2006/relationships" r:id="R62c5eb835d584675"/>
  </p:notesMasterIdLst>
  <p:sldIdLst>
    <p:sldId xmlns:r="http://schemas.openxmlformats.org/officeDocument/2006/relationships" id="256" r:id="Ra4a70e89c3564ce2"/>
    <p:sldId xmlns:r="http://schemas.openxmlformats.org/officeDocument/2006/relationships" id="257" r:id="Rf1655d2620a14975"/>
    <p:sldId xmlns:r="http://schemas.openxmlformats.org/officeDocument/2006/relationships" id="258" r:id="Ree0036fd95a14ed0"/>
    <p:sldId xmlns:r="http://schemas.openxmlformats.org/officeDocument/2006/relationships" id="259" r:id="Rb1241d07eb8b4d6b"/>
    <p:sldId xmlns:r="http://schemas.openxmlformats.org/officeDocument/2006/relationships" id="260" r:id="R88db57099c0149df"/>
    <p:sldId xmlns:r="http://schemas.openxmlformats.org/officeDocument/2006/relationships" id="261" r:id="R69cc40d9bea5474d"/>
    <p:sldId xmlns:r="http://schemas.openxmlformats.org/officeDocument/2006/relationships" id="262" r:id="R3a52369b8baf4751"/>
    <p:sldId xmlns:r="http://schemas.openxmlformats.org/officeDocument/2006/relationships" id="263" r:id="Re739845d67244ae5"/>
    <p:sldId xmlns:r="http://schemas.openxmlformats.org/officeDocument/2006/relationships" id="264" r:id="Reb05a6f6cd1645ad"/>
    <p:sldId xmlns:r="http://schemas.openxmlformats.org/officeDocument/2006/relationships" id="265" r:id="R9426ec2daeb54e5d"/>
    <p:sldId xmlns:r="http://schemas.openxmlformats.org/officeDocument/2006/relationships" id="266" r:id="R00738e250ac54fd2"/>
    <p:sldId xmlns:r="http://schemas.openxmlformats.org/officeDocument/2006/relationships" id="267" r:id="R28b13cc5c0c14fc0"/>
    <p:sldId xmlns:r="http://schemas.openxmlformats.org/officeDocument/2006/relationships" id="268" r:id="R35d1cf4438ba41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7139c21ba24e63" /><Relationship Type="http://schemas.openxmlformats.org/officeDocument/2006/relationships/slideMaster" Target="/ppt/slideMasters/slideMaster1.xml" Id="R0f111ff803584d7b" /><Relationship Type="http://schemas.openxmlformats.org/officeDocument/2006/relationships/notesMaster" Target="/ppt/notesMasters/notesMaster1.xml" Id="R62c5eb835d584675" /><Relationship Type="http://schemas.openxmlformats.org/officeDocument/2006/relationships/presProps" Target="/ppt/presProps.xml" Id="R1272efa324ae4d1e" /><Relationship Type="http://schemas.openxmlformats.org/officeDocument/2006/relationships/tableStyles" Target="/ppt/tableStyles.xml" Id="Re494701f27ce4fbd" /><Relationship Type="http://schemas.openxmlformats.org/officeDocument/2006/relationships/slide" Target="/ppt/slides/slide1.xml" Id="Ra4a70e89c3564ce2" /><Relationship Type="http://schemas.openxmlformats.org/officeDocument/2006/relationships/slide" Target="/ppt/slides/slide2.xml" Id="Rf1655d2620a14975" /><Relationship Type="http://schemas.openxmlformats.org/officeDocument/2006/relationships/slide" Target="/ppt/slides/slide3.xml" Id="Ree0036fd95a14ed0" /><Relationship Type="http://schemas.openxmlformats.org/officeDocument/2006/relationships/slide" Target="/ppt/slides/slide4.xml" Id="Rb1241d07eb8b4d6b" /><Relationship Type="http://schemas.openxmlformats.org/officeDocument/2006/relationships/slide" Target="/ppt/slides/slide5.xml" Id="R88db57099c0149df" /><Relationship Type="http://schemas.openxmlformats.org/officeDocument/2006/relationships/slide" Target="/ppt/slides/slide6.xml" Id="R69cc40d9bea5474d" /><Relationship Type="http://schemas.openxmlformats.org/officeDocument/2006/relationships/slide" Target="/ppt/slides/slide7.xml" Id="R3a52369b8baf4751" /><Relationship Type="http://schemas.openxmlformats.org/officeDocument/2006/relationships/slide" Target="/ppt/slides/slide8.xml" Id="Re739845d67244ae5" /><Relationship Type="http://schemas.openxmlformats.org/officeDocument/2006/relationships/slide" Target="/ppt/slides/slide9.xml" Id="Reb05a6f6cd1645ad" /><Relationship Type="http://schemas.openxmlformats.org/officeDocument/2006/relationships/slide" Target="/ppt/slides/slide10.xml" Id="R9426ec2daeb54e5d" /><Relationship Type="http://schemas.openxmlformats.org/officeDocument/2006/relationships/slide" Target="/ppt/slides/slide11.xml" Id="R00738e250ac54fd2" /><Relationship Type="http://schemas.openxmlformats.org/officeDocument/2006/relationships/slide" Target="/ppt/slides/slide12.xml" Id="R28b13cc5c0c14fc0" /><Relationship Type="http://schemas.openxmlformats.org/officeDocument/2006/relationships/slide" Target="/ppt/slides/slide13.xml" Id="R35d1cf4438ba41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5e5bbfe6304a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381ec4da3443d2" /><Relationship Type="http://schemas.openxmlformats.org/officeDocument/2006/relationships/notesMaster" Target="/ppt/notesMasters/notesMaster1.xml" Id="R3ff053b8e03a42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67d1aa51fc4342" /><Relationship Type="http://schemas.openxmlformats.org/officeDocument/2006/relationships/notesMaster" Target="/ppt/notesMasters/notesMaster1.xml" Id="R8a9898399cdc44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ccf4e236734459" /><Relationship Type="http://schemas.openxmlformats.org/officeDocument/2006/relationships/notesMaster" Target="/ppt/notesMasters/notesMaster1.xml" Id="Rf1197eaec28b4c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ac162927da4557" /><Relationship Type="http://schemas.openxmlformats.org/officeDocument/2006/relationships/notesMaster" Target="/ppt/notesMasters/notesMaster1.xml" Id="R94034f244a0a4f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33c714bd5346ca" /><Relationship Type="http://schemas.openxmlformats.org/officeDocument/2006/relationships/notesMaster" Target="/ppt/notesMasters/notesMaster1.xml" Id="R5582de309cd741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7b952091e547ef" /><Relationship Type="http://schemas.openxmlformats.org/officeDocument/2006/relationships/notesMaster" Target="/ppt/notesMasters/notesMaster1.xml" Id="R1a904cddf69e40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e5640dd1ac41e0" /><Relationship Type="http://schemas.openxmlformats.org/officeDocument/2006/relationships/notesMaster" Target="/ppt/notesMasters/notesMaster1.xml" Id="R529b85a377c045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728605beb04715" /><Relationship Type="http://schemas.openxmlformats.org/officeDocument/2006/relationships/notesMaster" Target="/ppt/notesMasters/notesMaster1.xml" Id="Rdb178769b8294a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4b3fc4027b4509" /><Relationship Type="http://schemas.openxmlformats.org/officeDocument/2006/relationships/notesMaster" Target="/ppt/notesMasters/notesMaster1.xml" Id="R7ba3fe95084d45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7c4a70a5ae44c3" /><Relationship Type="http://schemas.openxmlformats.org/officeDocument/2006/relationships/notesMaster" Target="/ppt/notesMasters/notesMaster1.xml" Id="R40d3997a8fda4d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babba10c1f4ac6" /><Relationship Type="http://schemas.openxmlformats.org/officeDocument/2006/relationships/notesMaster" Target="/ppt/notesMasters/notesMaster1.xml" Id="Rbde9dc02e4b542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2d9c79a4c34012" /><Relationship Type="http://schemas.openxmlformats.org/officeDocument/2006/relationships/notesMaster" Target="/ppt/notesMasters/notesMaster1.xml" Id="Rbd65263df7fc49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b481399ad84eb4" /><Relationship Type="http://schemas.openxmlformats.org/officeDocument/2006/relationships/notesMaster" Target="/ppt/notesMasters/notesMaster1.xml" Id="R18dd6f7d71044f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1 分钟。今天重点讨论合作路径和下一阶段验证。影石拥有采集与影像处理能力；我们希望探索家庭中持续呈现与回应的一段体验。目前提出的是合作方案，不代表双方已达成合作、品牌授权或投资。资金上先明确样机与验证支持，股权融资后置到产品和需求证据更充分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[A2] 影石官方手册：AI 导演 | 2026-10-12 查阅 | 功能介绍</a:t>
            </a:r>
          </a:p>
          <a:p xmlns:a="http://schemas.openxmlformats.org/drawingml/2006/main">
            <a:r>
              <a:t>https://onlinemanual.insta360.com/app/zh-cn/operation_tutorial/edit_function/director</a:t>
            </a:r>
          </a:p>
          <a:p xmlns:a="http://schemas.openxmlformats.org/drawingml/2006/main">
            <a:r>
              <a:t>已有素材筛选、自动剪辑等能力。基础 AI 整理不宜作为影石缺失能力来推介。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分钟。先讲比赛之后项目继续推进的事实，再拿出当前翻译笔。9 月 24 日是已核实的颁奖日期；第一名归属沿用用户已确认成绩，不把日期报道当作完整获奖名单。翻译笔是验证载体，不是已经决定销售的 SKU。没有验过的实体能力直接说明，不填稳定运行天数。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[A1] 影石 Bold Maker 挑战赛收官报道 | 2026-09-26 发布 | 正文：9 月 24 日颁奖典礼；孵化与赛事支持段</a:t>
            </a:r>
          </a:p>
          <a:p xmlns:a="http://schemas.openxmlformats.org/drawingml/2006/main">
            <a:r>
              <a:t>https://news.jschina.com.cn/qy/202609/t20260926_s6ab7dfaee4b03e594b54bf26.shtml</a:t>
            </a:r>
          </a:p>
          <a:p xmlns:a="http://schemas.openxmlformats.org/drawingml/2006/main">
            <a:r>
              <a:t>核实颁奖日期为 2026-09-24。报道介绍孵化、技术验证与落地支持；具体可申请项目及资格仍需确认。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[P2] 获奖口径与当前阶段 | 用户既有确认；当前状态以 2026-10-13 补充为准 | UNSEEN 获奖记录与本次讨论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影石 AI+社会公益赛道第一名为用户已确认成绩；公开报道用于核对典礼日期。翻译笔用于一代实体 Demo 验证，独立运行稳定性仍需设备测试。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本次项目方向与计划 | 2026-10-13 | Max 本轮口述及转写纠正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翻译笔验证 → 大屏多机试用 → 视频与市场测试 → 国内平台预售 → 工厂订单与交付；先有产品和订单信号，再讨论融资。未规划车内产品。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分钟。将产品版本和获客路径分开：家庭智能屏是核心产品，公益是组织采购与试点模式，海外是地区市场版本。5–10 台为建议起点，不是已完成数量。用户澄清后，不加入“车内产品线”。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本次项目方向与计划 | 2026-10-13 | Max 本轮口述及转写纠正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翻译笔验证 → 大屏多机试用 → 视频与市场测试 → 国内平台预售 → 工厂订单与交付；先有产品和订单信号，再讨论融资。未规划车内产品。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 分钟。这是一版讨论用时间表，不是已经承诺的交货日。2026-10-13 起算，先两周设备验证，再四周大屏样机，再四周试用与内容反馈，再四周预售准备与小规模验证。每次进入下一阶段都看实际结果；延期要同步更新预售承诺。2027 年 1 月只是制造准备的最早讨论窗口，具体生产、验收和发货周期由选定工厂和资金状态决定。视频可以从现在开始记录，成熟后再集中传播。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本次项目方向与计划 | 2026-10-13 | Max 本轮口述及转写纠正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翻译笔验证 → 大屏多机试用 → 视频与市场测试 → 国内平台预售 → 工厂订单与交付；先有产品和订单信号，再讨论融资。未规划车内产品。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这里的目标是通过国内预售平台验证需求并获得订单资金，不把预售称作已经融到股权资金。尚未核实具体平台和类目规则，因此不写死平台名称。“影石独家授权的店”按用户确认保留为待商谈路径，不能在获得授权前展示已授权标识。意向登记、支付订金、全额付款和成功交付是不同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本次项目方向与计划 | 2026-10-13 | Max 本轮口述及转写纠正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翻译笔验证 → 大屏多机试用 → 视频与市场测试 → 国内平台预售 → 工厂订单与交付；先有产品和订单信号，再讨论融资。未规划车内产品。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把“公益公司出钱、我们成本价捐赠”整理为明确的资金流：资金方采购或资助，组织负责分发和运营，我们按合同交付。成本需要包含必要安装和持续支持，避免把后续服务漏掉。公益合作可以建立可信案例，但没有约定就不声称得到某机构背书。视频拍摄须单独征得同意，不以接受采访换取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本次项目方向与计划 | 2026-10-13 | Max 本轮口述及转写纠正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翻译笔验证 → 大屏多机试用 → 视频与市场测试 → 国内平台预售 → 工厂订单与交付；先有产品和订单信号，再讨论融资。未规划车内产品。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用户提出海外方向，但尚未指定国家，因此不替团队选定市场或承诺上线时间。先做可低成本执行的需求测试；涉及跨境付款与硬件交付时，再核实具体市场规则与成本。这与国内样机、公益对接可以并行，但不要把未付费等待名单算成订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本次项目方向与计划 | 2026-10-13 | Max 本轮口述及转写纠正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翻译笔验证 → 大屏多机试用 → 视频与市场测试 → 国内平台预售 → 工厂订单与交付；先有产品和订单信号，再讨论融资。未规划车内产品。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 分钟。这几种方式是供双方选择的方案，不假设影石已提供任何支持。孵化不自动等于股权投资；共创也不自动意味着对方替团队承担生产经营风险。报道提及基地孵化与赛事资源，可以顺势询问可用的具体入口和申请条件，但不声称我们已获得资格或资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本次项目方向与计划 | 2026-10-13 | Max 本轮口述及转写纠正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翻译笔验证 → 大屏多机试用 → 视频与市场测试 → 国内平台预售 → 工厂订单与交付；先有产品和订单信号，再讨论融资。未规划车内产品。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[A1] 影石 Bold Maker 挑战赛收官报道 | 2026-09-26 发布 | 正文：9 月 24 日颁奖典礼；孵化与赛事支持段</a:t>
            </a:r>
          </a:p>
          <a:p xmlns:a="http://schemas.openxmlformats.org/drawingml/2006/main">
            <a:r>
              <a:t>https://news.jschina.com.cn/qy/202609/t20260926_s6ab7dfaee4b03e594b54bf26.shtml</a:t>
            </a:r>
          </a:p>
          <a:p xmlns:a="http://schemas.openxmlformats.org/drawingml/2006/main">
            <a:r>
              <a:t>核实颁奖日期为 2026-09-24。报道介绍孵化、技术验证与落地支持；具体可申请项目及资格仍需确认。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直接回答用户最关心的问题：即使对方愿意开模，也需要有人承担备料、工厂订金、尾款、物流、平台费用、售后和运营。建议先形成一张责任表和现金表，再收付费预售；不先口头承诺无限独家或全链条包办。具体条款需后续共同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融资可以后置，但不能把样机和试点所需的现金问题也后置。平台预售款何时可用，要按真实结算条款核对。示例现金表应逐笔列出工厂订金、备料和尾款的日期，物流、售后与退款准备，再对应已落实的钱。若下单前仍有缺口，就缩小批次、协商付款节点或补足资金，不把尚未到账的订单总额当现金。金额目前没有报价依据，因此不虚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本次项目方向与计划 | 2026-10-13 | Max 本轮口述及转写纠正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翻译笔验证 → 大屏多机试用 → 视频与市场测试 → 国内平台预售 → 工厂订单与交付；先有产品和订单信号，再讨论融资。未规划车内产品。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这次不再把立刻拿股权投资当作唯一目标。优先把一个可以执行的样机共创阶段落地：谁来对接、双方各做什么、预算怎么出、何时看结果。店铺和投资是后续路径；不要让所有资源诉求同时成为启动前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本次项目方向与计划 | 2026-10-13 | Max 本轮口述及转写纠正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翻译笔验证 → 大屏多机试用 → 视频与市场测试 → 国内平台预售 → 工厂订单与交付；先有产品和订单信号，再讨论融资。未规划车内产品。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预留 6 分钟讨论，整场合计 30 分钟。建议现场记录三个明确结果：当前阶段负责人、双方需要补的证据、下一次评审时间。如果对方更倾向直接投资，也可以听取方案，但仍然围绕产品与资金用途作具体沟通。若暂无合作资源，继续在已有预算内推进设备测试，不把所有进度押在单一合作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公开来源 A1 核实颁奖时间；A2 说明影石已有 AI 影像处理能力。因此不声称影石完全没有呈现或编辑能力。用户补充 U3 决定本版方向。该版本没有指定具体预售平台，没有承诺融资金额、品牌授权、首批交货日期或公益合作。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[A1] 影石 Bold Maker 挑战赛收官报道</a:t>
            </a:r>
          </a:p>
          <a:p xmlns:a="http://schemas.openxmlformats.org/drawingml/2006/main">
            <a:r>
              <a:t>https://news.jschina.com.cn/qy/202609/t20260926_s6ab7dfaee4b03e594b54bf26.shtml</a:t>
            </a:r>
          </a:p>
          <a:p xmlns:a="http://schemas.openxmlformats.org/drawingml/2006/main">
            <a:r>
              <a:t>2026-09-26 发布 | 正文：9 月 24 日颁奖典礼；孵化与赛事支持段</a:t>
            </a:r>
          </a:p>
          <a:p xmlns:a="http://schemas.openxmlformats.org/drawingml/2006/main">
            <a:r>
              <a:t>核实颁奖日期为 2026-09-24。报道介绍孵化、技术验证与落地支持；具体可申请项目及资格仍需确认。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[A2] 影石官方手册：AI 导演</a:t>
            </a:r>
          </a:p>
          <a:p xmlns:a="http://schemas.openxmlformats.org/drawingml/2006/main">
            <a:r>
              <a:t>https://onlinemanual.insta360.com/app/zh-cn/operation_tutorial/edit_function/director</a:t>
            </a:r>
          </a:p>
          <a:p xmlns:a="http://schemas.openxmlformats.org/drawingml/2006/main">
            <a:r>
              <a:t>2026-10-12 查阅 | 功能介绍</a:t>
            </a:r>
          </a:p>
          <a:p xmlns:a="http://schemas.openxmlformats.org/drawingml/2006/main">
            <a:r>
              <a:t>已有素材筛选、自动剪辑等能力。基础 AI 整理不宜作为影石缺失能力来推介。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[U3] 本次项目方向与计划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2026-10-13 | Max 本轮口述及转写纠正</a:t>
            </a:r>
          </a:p>
          <a:p xmlns:a="http://schemas.openxmlformats.org/drawingml/2006/main">
            <a:r>
              <a:t>翻译笔验证 → 大屏多机试用 → 视频与市场测试 → 国内平台预售 → 工厂订单与交付；先有产品和订单信号，再讨论融资。未规划车内产品。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[P2] 获奖口径与当前阶段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用户既有确认；当前状态以 2026-10-13 补充为准 | UNSEEN 获奖记录与本次讨论</a:t>
            </a:r>
          </a:p>
          <a:p xmlns:a="http://schemas.openxmlformats.org/drawingml/2006/main">
            <a:r>
              <a:t>影石 AI+社会公益赛道第一名为用户已确认成绩；公开报道用于核对典礼日期。翻译笔用于一代实体 Demo 验证，独立运行稳定性仍需设备测试。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16005759e24a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73b70477a4a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5eaa1fd9324b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d22b88738741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13bf0670140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6fd0a09a646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4DDB34-03B3-4E97-AD8B-8FE15DFD4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7F9657-3A2B-4333-8A73-67339C5C13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DE14A5E-FAD4-4607-818A-A3E59C6419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D59823-8AA0-4425-BAC3-1B4C5BF022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D78DF8-8BBC-4DD9-B747-2216EF34FD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8B6483-4E10-4B35-B619-773FBA761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051250-61E8-4D61-B43B-602115D3E7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E205A6-D114-4034-BDA9-BA07A2C21A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29FC09-16E6-4478-BCFB-2A23A47A93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909B7B-DB32-4785-8B7D-AE7AFB7FDE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b0765b53d242c2" /><Relationship Type="http://schemas.openxmlformats.org/officeDocument/2006/relationships/slideLayout" Target="/ppt/slideLayouts/slideLayout1.xml" Id="R80e5ba157b0c479c" /><Relationship Type="http://schemas.openxmlformats.org/officeDocument/2006/relationships/slideLayout" Target="/ppt/slideLayouts/slideLayout2.xml" Id="Rd9023e1f24a14817" /><Relationship Type="http://schemas.openxmlformats.org/officeDocument/2006/relationships/slideLayout" Target="/ppt/slideLayouts/slideLayout3.xml" Id="R688823f18b48407b" /><Relationship Type="http://schemas.openxmlformats.org/officeDocument/2006/relationships/slideLayout" Target="/ppt/slideLayouts/slideLayout4.xml" Id="Ra90e26a4a12b4389" /><Relationship Type="http://schemas.openxmlformats.org/officeDocument/2006/relationships/slideLayout" Target="/ppt/slideLayouts/slideLayout5.xml" Id="Recf00def4aee430f" /><Relationship Type="http://schemas.openxmlformats.org/officeDocument/2006/relationships/slideLayout" Target="/ppt/slideLayouts/slideLayout6.xml" Id="R0d1a88daf36d47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e5ba157b0c479c"/>
    <p:sldLayoutId xmlns:r="http://schemas.openxmlformats.org/officeDocument/2006/relationships" id="2147483650" r:id="Rd9023e1f24a14817"/>
    <p:sldLayoutId xmlns:r="http://schemas.openxmlformats.org/officeDocument/2006/relationships" id="2147483651" r:id="R688823f18b48407b"/>
    <p:sldLayoutId xmlns:r="http://schemas.openxmlformats.org/officeDocument/2006/relationships" id="2147483652" r:id="Ra90e26a4a12b4389"/>
    <p:sldLayoutId xmlns:r="http://schemas.openxmlformats.org/officeDocument/2006/relationships" id="2147483653" r:id="Recf00def4aee430f"/>
    <p:sldLayoutId xmlns:r="http://schemas.openxmlformats.org/officeDocument/2006/relationships" id="2147483654" r:id="R0d1a88daf36d47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16923fa40c474d" /><Relationship Type="http://schemas.openxmlformats.org/officeDocument/2006/relationships/hyperlink" Target="https://onlinemanual.insta360.com/app/zh-cn/operation_tutorial/edit_function/director" TargetMode="External" Id="Rf6a22b43c4dc442c" /><Relationship Type="http://schemas.openxmlformats.org/officeDocument/2006/relationships/notesSlide" Target="/ppt/notesSlides/notesSlide1.xml" Id="R357ccb58715842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d1c59f7cb4a02" /><Relationship Type="http://schemas.openxmlformats.org/officeDocument/2006/relationships/hyperlink" Target="https://news.jschina.com.cn/qy/202609/t20260926_s6ab7dfaee4b03e594b54bf26.shtml" TargetMode="External" Id="Rdbe9b6d6f895420f" /><Relationship Type="http://schemas.openxmlformats.org/officeDocument/2006/relationships/notesSlide" Target="/ppt/notesSlides/notesSlide2.xml" Id="R3e3f47bc533f4e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d1b63b030f4d48" /><Relationship Type="http://schemas.openxmlformats.org/officeDocument/2006/relationships/notesSlide" Target="/ppt/notesSlides/notesSlide3.xml" Id="R3364c099342c4d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8a579849b446c3" /><Relationship Type="http://schemas.openxmlformats.org/officeDocument/2006/relationships/notesSlide" Target="/ppt/notesSlides/notesSlide4.xml" Id="Rd119dc70cfdb4f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75638ed24f4721" /><Relationship Type="http://schemas.openxmlformats.org/officeDocument/2006/relationships/notesSlide" Target="/ppt/notesSlides/notesSlide5.xml" Id="R224877a939b248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929f9673884d38" /><Relationship Type="http://schemas.openxmlformats.org/officeDocument/2006/relationships/notesSlide" Target="/ppt/notesSlides/notesSlide6.xml" Id="R85d643fcc8b446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1da08e846b459f" /><Relationship Type="http://schemas.openxmlformats.org/officeDocument/2006/relationships/notesSlide" Target="/ppt/notesSlides/notesSlide7.xml" Id="R72176128c8b04e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e643e9776a41f8" /><Relationship Type="http://schemas.openxmlformats.org/officeDocument/2006/relationships/hyperlink" Target="https://news.jschina.com.cn/qy/202609/t20260926_s6ab7dfaee4b03e594b54bf26.shtml" TargetMode="External" Id="Rb252249737ba46d5" /><Relationship Type="http://schemas.openxmlformats.org/officeDocument/2006/relationships/notesSlide" Target="/ppt/notesSlides/notesSlide8.xml" Id="Rb1d2b30f925145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fbdb7d71f4433a" /><Relationship Type="http://schemas.openxmlformats.org/officeDocument/2006/relationships/notesSlide" Target="/ppt/notesSlides/notesSlide9.xml" Id="R708fda4a67f543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9e24e074040cb" /><Relationship Type="http://schemas.openxmlformats.org/officeDocument/2006/relationships/notesSlide" Target="/ppt/notesSlides/notesSlide10.xml" Id="R245005f81bb348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a557414d974942" /><Relationship Type="http://schemas.openxmlformats.org/officeDocument/2006/relationships/notesSlide" Target="/ppt/notesSlides/notesSlide11.xml" Id="R94e8e25539f744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0ac9ced0f340e2" /><Relationship Type="http://schemas.openxmlformats.org/officeDocument/2006/relationships/notesSlide" Target="/ppt/notesSlides/notesSlide12.xml" Id="Rf50d9a2a2aed47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3c411635504290" /><Relationship Type="http://schemas.openxmlformats.org/officeDocument/2006/relationships/hyperlink" Target="https://news.jschina.com.cn/qy/202609/t20260926_s6ab7dfaee4b03e594b54bf26.shtml" TargetMode="External" Id="R8f2ed77a4d584525" /><Relationship Type="http://schemas.openxmlformats.org/officeDocument/2006/relationships/hyperlink" Target="https://onlinemanual.insta360.com/app/zh-cn/operation_tutorial/edit_function/director" TargetMode="External" Id="Rbbd8bdd696484753" /><Relationship Type="http://schemas.openxmlformats.org/officeDocument/2006/relationships/notesSlide" Target="/ppt/notesSlides/notesSlide13.xml" Id="R2a1ebf2eab4f42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label">
            <a:extLst xmlns:a="http://schemas.openxmlformats.org/drawingml/2006/main">
              <a:ext uri="{FF2B5EF4-FFF2-40B4-BE49-F238E27FC236}">
                <a16:creationId xmlns:a16="http://schemas.microsoft.com/office/drawing/2014/main" id="{A1353E95-5D72-44B0-AE09-909D2610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C5D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6C5D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6C5D4"/>
                </a:solidFill>
                <a:latin typeface="Noto Sans SC"/>
                <a:ea typeface="Noto Sans SC"/>
                <a:cs typeface="Noto Sans SC"/>
              </a:rPr>
              <a:t>合作讨论稿 · 2026-10-13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C4CF67F-5B9F-4953-BE17-65CE2C5C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0">
                <a:solidFill>
                  <a:srgbClr val="F6FAF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5100" b="0">
                <a:solidFill>
                  <a:srgbClr val="F6FAFC"/>
                </a:solidFill>
                <a:latin typeface="Noto Sans SC"/>
                <a:ea typeface="Noto Sans SC"/>
                <a:cs typeface="Noto Sans SC"/>
              </a:defRPr>
            </a:pPr>
            <a:r>
              <a:rPr sz="5100" b="0">
                <a:solidFill>
                  <a:srgbClr val="F6FAFC"/>
                </a:solidFill>
                <a:latin typeface="Noto Sans SC"/>
                <a:ea typeface="Noto Sans SC"/>
                <a:cs typeface="Noto Sans SC"/>
              </a:rPr>
              <a:t>UNSEEN｜家庭影像呈现端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832E9D4-E947-4D2F-A829-E88BD083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704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C5DAE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C5DAE5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0">
                <a:solidFill>
                  <a:srgbClr val="C5DAE5"/>
                </a:solidFill>
                <a:latin typeface="Noto Sans SC"/>
                <a:ea typeface="Noto Sans SC"/>
                <a:cs typeface="Noto Sans SC"/>
              </a:rPr>
              <a:t>产品验证与市场进入计划</a:t>
            </a:r>
          </a:p>
          <a:p xmlns:a="http://schemas.openxmlformats.org/drawingml/2006/main">
            <a:pPr>
              <a:defRPr sz="2550" b="0">
                <a:solidFill>
                  <a:srgbClr val="C5DAE5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0">
                <a:solidFill>
                  <a:srgbClr val="C5DAE5"/>
                </a:solidFill>
                <a:latin typeface="Noto Sans SC"/>
                <a:ea typeface="Noto Sans SC"/>
                <a:cs typeface="Noto Sans SC"/>
              </a:rPr>
              <a:t>与影石的共创／孵化讨论</a:t>
            </a:r>
          </a:p>
        </p:txBody>
      </p:sp>
      <p:sp>
        <p:nvSpPr>
          <p:cNvPr id="4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8560AD96-3DA4-4380-94A5-35DD457E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3857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E8F3F7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E8F3F7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E8F3F7"/>
                </a:solidFill>
                <a:latin typeface="Noto Sans SC"/>
                <a:ea typeface="Noto Sans SC"/>
                <a:cs typeface="Noto Sans SC"/>
              </a:rPr>
              <a:t>采集与影像处理</a:t>
            </a:r>
          </a:p>
          <a:p xmlns:a="http://schemas.openxmlformats.org/drawingml/2006/main">
            <a:pPr>
              <a:defRPr sz="1950" b="0">
                <a:solidFill>
                  <a:srgbClr val="E8F3F7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E8F3F7"/>
                </a:solidFill>
                <a:latin typeface="Noto Sans SC"/>
                <a:ea typeface="Noto Sans SC"/>
                <a:cs typeface="Noto Sans SC"/>
              </a:rPr>
              <a:t>家庭呈现与回应</a:t>
            </a:r>
          </a:p>
        </p:txBody>
      </p:sp>
      <p:sp>
        <p:nvSpPr>
          <p:cNvPr id="5" name="cover-note">
            <a:extLst xmlns:a="http://schemas.openxmlformats.org/drawingml/2006/main">
              <a:ext uri="{FF2B5EF4-FFF2-40B4-BE49-F238E27FC236}">
                <a16:creationId xmlns:a16="http://schemas.microsoft.com/office/drawing/2014/main" id="{FF2BDABD-E745-4881-9ED1-CC645128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3CB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3CBD9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B3CBD9"/>
                </a:solidFill>
                <a:latin typeface="Noto Sans SC"/>
                <a:ea typeface="Noto Sans SC"/>
                <a:cs typeface="Noto Sans SC"/>
              </a:rPr>
              <a:t>2026.10.13 · 12 页讨论 + 1 页来源 · 约 30 分钟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CE0EA9AF-6F9D-49EC-A355-095687F0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97B8C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7B8C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97B8CA"/>
                </a:solidFill>
                <a:latin typeface="Noto Sans SC"/>
                <a:ea typeface="Noto Sans SC"/>
                <a:cs typeface="Noto Sans SC"/>
              </a:rPr>
              <a:t>01 / 13</a:t>
            </a:r>
          </a:p>
        </p:txBody>
      </p:sp>
      <p:sp>
        <p:nvSpPr>
          <p:cNvPr id="7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E44F4E97-0519-4A1D-9370-58B91161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97B8C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7B8C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97B8CA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8" name="source-A2">
            <a:extLst xmlns:a="http://schemas.openxmlformats.org/drawingml/2006/main">
              <a:ext uri="{FF2B5EF4-FFF2-40B4-BE49-F238E27FC236}">
                <a16:creationId xmlns:a16="http://schemas.microsoft.com/office/drawing/2014/main" id="{C89F7059-54C4-452B-948C-48D7CC09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f6a22b43c4dc442c"/>
              </a:rPr>
              <a:t>A2 ↗</a:t>
            </a:r>
          </a:p>
        </p:txBody>
      </p:sp>
    </p:spTree>
    <p:extLst>
      <p:ext uri="{BB962C8B-B14F-4D97-AF65-F5344CB8AC3E}">
        <p14:creationId xmlns:p14="http://schemas.microsoft.com/office/powerpoint/2010/main" val="1835808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">
            <a:extLst xmlns:a="http://schemas.openxmlformats.org/drawingml/2006/main">
              <a:ext uri="{FF2B5EF4-FFF2-40B4-BE49-F238E27FC236}">
                <a16:creationId xmlns:a16="http://schemas.microsoft.com/office/drawing/2014/main" id="{F90C2013-0970-440E-A5D1-515B6465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当前进度 · 2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D74212-E987-4449-A99E-1B81247A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获奖之后，进入实体产品验证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B14F4F62-5754-4327-BAD9-191C9DB2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2026.09.24 赛事颁奖 → 2026.10.13 当前讨论，间隔 19 天。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B2ED556D-3D35-4DB5-998B-3D722F29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</p:txBody>
      </p:sp>
      <p:sp>
        <p:nvSpPr>
          <p:cNvPr id="5" name="row-body-0">
            <a:extLst xmlns:a="http://schemas.openxmlformats.org/drawingml/2006/main">
              <a:ext uri="{FF2B5EF4-FFF2-40B4-BE49-F238E27FC236}">
                <a16:creationId xmlns:a16="http://schemas.microsoft.com/office/drawing/2014/main" id="{B9E7F777-38F3-47A1-9BA6-B5D9AAC8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0505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UNSEEN 获影石 AI+社会公益赛道第一名；已有软件与交互原型。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916E243D-96BA-411A-A2F3-3C94F72E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当前设备</a:t>
            </a:r>
          </a:p>
        </p:txBody>
      </p:sp>
      <p:sp>
        <p:nvSpPr>
          <p:cNvPr id="7" name="row-body-1">
            <a:extLst xmlns:a="http://schemas.openxmlformats.org/drawingml/2006/main">
              <a:ext uri="{FF2B5EF4-FFF2-40B4-BE49-F238E27FC236}">
                <a16:creationId xmlns:a16="http://schemas.microsoft.com/office/drawing/2014/main" id="{F7CE840C-F104-4BAC-B226-3DC3E583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8610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用翻译笔验证第一代实体 Demo，观察体验效果与设备限制。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C34C566A-A774-440D-A255-D92498A1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眼前目标</a:t>
            </a:r>
          </a:p>
        </p:txBody>
      </p:sp>
      <p:sp>
        <p:nvSpPr>
          <p:cNvPr id="9" name="row-body-2">
            <a:extLst xmlns:a="http://schemas.openxmlformats.org/drawingml/2006/main">
              <a:ext uri="{FF2B5EF4-FFF2-40B4-BE49-F238E27FC236}">
                <a16:creationId xmlns:a16="http://schemas.microsoft.com/office/drawing/2014/main" id="{10807F77-E56E-410F-83F2-64317411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6715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脱离开发电脑连续使用；核对启动、网络、音频、回复和恢复。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FA200042-7DA3-4E78-8811-0995CC78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下一步</a:t>
            </a:r>
          </a:p>
        </p:txBody>
      </p:sp>
      <p:sp>
        <p:nvSpPr>
          <p:cNvPr id="11" name="row-body-3">
            <a:extLst xmlns:a="http://schemas.openxmlformats.org/drawingml/2006/main">
              <a:ext uri="{FF2B5EF4-FFF2-40B4-BE49-F238E27FC236}">
                <a16:creationId xmlns:a16="http://schemas.microsoft.com/office/drawing/2014/main" id="{A64180F6-A133-49B3-9931-C4BCD513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4820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通过后做更大的机子，制作多台样机，交给真实使用者。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FC6B85BC-61DA-4C3D-B25E-5FFAC813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独立设备运行不自动等于全部离线；具体云端依赖随演示说明。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B6652322-7ADF-4706-98C5-4D38D12F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02 / 13</a:t>
            </a:r>
          </a:p>
        </p:txBody>
      </p:sp>
      <p:sp>
        <p:nvSpPr>
          <p:cNvPr id="14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7874D661-C4EE-4563-B419-D0B3948F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5" name="source-A1">
            <a:extLst xmlns:a="http://schemas.openxmlformats.org/drawingml/2006/main">
              <a:ext uri="{FF2B5EF4-FFF2-40B4-BE49-F238E27FC236}">
                <a16:creationId xmlns:a16="http://schemas.microsoft.com/office/drawing/2014/main" id="{8E5923A5-B134-442C-AD4D-F78BEBFB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dbe9b6d6f895420f"/>
              </a:rPr>
              <a:t>A1 ↗</a:t>
            </a:r>
          </a:p>
        </p:txBody>
      </p:sp>
      <p:sp>
        <p:nvSpPr>
          <p:cNvPr id="16" name="source-P2">
            <a:extLst xmlns:a="http://schemas.openxmlformats.org/drawingml/2006/main">
              <a:ext uri="{FF2B5EF4-FFF2-40B4-BE49-F238E27FC236}">
                <a16:creationId xmlns:a16="http://schemas.microsoft.com/office/drawing/2014/main" id="{0C709CE8-CFB6-4EB0-9DB1-98814519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P2</a:t>
            </a:r>
          </a:p>
        </p:txBody>
      </p:sp>
      <p:sp>
        <p:nvSpPr>
          <p:cNvPr id="17" name="source-U3">
            <a:extLst xmlns:a="http://schemas.openxmlformats.org/drawingml/2006/main">
              <a:ext uri="{FF2B5EF4-FFF2-40B4-BE49-F238E27FC236}">
                <a16:creationId xmlns:a16="http://schemas.microsoft.com/office/drawing/2014/main" id="{26D19BAF-3C15-4A88-8B08-636FBD6B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</p:spTree>
    <p:extLst>
      <p:ext uri="{BB962C8B-B14F-4D97-AF65-F5344CB8AC3E}">
        <p14:creationId xmlns:p14="http://schemas.microsoft.com/office/powerpoint/2010/main" val="1183366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9B95326B-FF5F-4198-B842-00D42C3A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产品路线 · 2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433602-E884-4AB3-A33B-6844EF5E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先共用产品底座，再分版本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3C416BFD-51B9-4795-906A-D6D0F810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首发聚焦家庭大屏；机构试点和海外版本随验证进度展开。</a:t>
            </a:r>
          </a:p>
        </p:txBody>
      </p:sp>
      <p:sp>
        <p:nvSpPr>
          <p:cNvPr id="4" name="col-0-title">
            <a:extLst xmlns:a="http://schemas.openxmlformats.org/drawingml/2006/main">
              <a:ext uri="{FF2B5EF4-FFF2-40B4-BE49-F238E27FC236}">
                <a16:creationId xmlns:a16="http://schemas.microsoft.com/office/drawing/2014/main" id="{E0C46EEC-B155-40F0-A12E-19851A5C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产品底座与首发版本</a:t>
            </a:r>
          </a:p>
        </p:txBody>
      </p:sp>
      <p:sp>
        <p:nvSpPr>
          <p:cNvPr id="5" name="col-0-0">
            <a:extLst xmlns:a="http://schemas.openxmlformats.org/drawingml/2006/main">
              <a:ext uri="{FF2B5EF4-FFF2-40B4-BE49-F238E27FC236}">
                <a16:creationId xmlns:a16="http://schemas.microsoft.com/office/drawing/2014/main" id="{5051CBCB-22A3-4CF5-9DA1-04BF292B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翻译笔 Demo：验证交互与独立运行，不作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为首发销售款。</a:t>
            </a:r>
          </a:p>
        </p:txBody>
      </p:sp>
      <p:sp>
        <p:nvSpPr>
          <p:cNvPr id="6" name="col-0-1">
            <a:extLst xmlns:a="http://schemas.openxmlformats.org/drawingml/2006/main">
              <a:ext uri="{FF2B5EF4-FFF2-40B4-BE49-F238E27FC236}">
                <a16:creationId xmlns:a16="http://schemas.microsoft.com/office/drawing/2014/main" id="{AABEC803-B52E-4EE9-B96A-3C134A7C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家庭智能屏：照片、原声、讲述与回复，是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第一条产品主线。</a:t>
            </a:r>
          </a:p>
        </p:txBody>
      </p:sp>
      <p:sp>
        <p:nvSpPr>
          <p:cNvPr id="7" name="col-0-2">
            <a:extLst xmlns:a="http://schemas.openxmlformats.org/drawingml/2006/main">
              <a:ext uri="{FF2B5EF4-FFF2-40B4-BE49-F238E27FC236}">
                <a16:creationId xmlns:a16="http://schemas.microsoft.com/office/drawing/2014/main" id="{5BC98B80-6AF1-4953-B8FD-10408DCA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大屏样机建议先做 5–10 台；数量随预算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与硬件条件确认。</a:t>
            </a:r>
          </a:p>
        </p:txBody>
      </p:sp>
      <p:sp>
        <p:nvSpPr>
          <p:cNvPr id="8" name="col-1-title">
            <a:extLst xmlns:a="http://schemas.openxmlformats.org/drawingml/2006/main">
              <a:ext uri="{FF2B5EF4-FFF2-40B4-BE49-F238E27FC236}">
                <a16:creationId xmlns:a16="http://schemas.microsoft.com/office/drawing/2014/main" id="{951E2919-B8DF-4B03-9688-31C393D7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955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同一底座的后续版本</a:t>
            </a:r>
          </a:p>
        </p:txBody>
      </p:sp>
      <p:sp>
        <p:nvSpPr>
          <p:cNvPr id="9" name="col-1-0">
            <a:extLst xmlns:a="http://schemas.openxmlformats.org/drawingml/2006/main">
              <a:ext uri="{FF2B5EF4-FFF2-40B4-BE49-F238E27FC236}">
                <a16:creationId xmlns:a16="http://schemas.microsoft.com/office/drawing/2014/main" id="{B2CA8891-EC1D-4676-AB8B-2096180B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9560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公益／机构试点版：安装、使用支持与集中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服务。</a:t>
            </a:r>
          </a:p>
        </p:txBody>
      </p:sp>
      <p:sp>
        <p:nvSpPr>
          <p:cNvPr id="10" name="col-1-1">
            <a:extLst xmlns:a="http://schemas.openxmlformats.org/drawingml/2006/main">
              <a:ext uri="{FF2B5EF4-FFF2-40B4-BE49-F238E27FC236}">
                <a16:creationId xmlns:a16="http://schemas.microsoft.com/office/drawing/2014/main" id="{5EFD2AD7-EC84-4671-B65E-E3ADFCDD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62375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海外家庭版：在验证后补语言、支付、售后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与当地交付。</a:t>
            </a:r>
          </a:p>
        </p:txBody>
      </p:sp>
      <p:sp>
        <p:nvSpPr>
          <p:cNvPr id="11" name="col-1-2">
            <a:extLst xmlns:a="http://schemas.openxmlformats.org/drawingml/2006/main">
              <a:ext uri="{FF2B5EF4-FFF2-40B4-BE49-F238E27FC236}">
                <a16:creationId xmlns:a16="http://schemas.microsoft.com/office/drawing/2014/main" id="{AADEDAFC-6315-4C09-A995-BC13B41E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62915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先验证需求，再决定是否拆成独立 SKU；不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同时开多套模具。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33D4123E-E9A1-43F2-9374-D78AB510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这次讨论产品扩展方向，不承诺各版本已经完成或具备量产条件。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9818E71F-1FB1-433E-A05E-666A6CCC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03 / 13</a:t>
            </a:r>
          </a:p>
        </p:txBody>
      </p:sp>
      <p:sp>
        <p:nvSpPr>
          <p:cNvPr id="14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9870A774-817E-4292-A6A9-83125BE5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5" name="source-U3">
            <a:extLst xmlns:a="http://schemas.openxmlformats.org/drawingml/2006/main">
              <a:ext uri="{FF2B5EF4-FFF2-40B4-BE49-F238E27FC236}">
                <a16:creationId xmlns:a16="http://schemas.microsoft.com/office/drawing/2014/main" id="{7B0FBD5F-B17F-4480-B5BA-9E86B67F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</p:spTree>
    <p:extLst>
      <p:ext uri="{BB962C8B-B14F-4D97-AF65-F5344CB8AC3E}">
        <p14:creationId xmlns:p14="http://schemas.microsoft.com/office/powerpoint/2010/main" val="2473445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DF70C298-6AEB-4009-8624-86002F3C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路线图 · 4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90A67E-D16F-4683-B200-5208AB9E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从今天往后排的阶段计划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930998DA-6800-4C4D-825B-68618A17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建议排期；以前一阶段验收通过为进入条件，交付日期待工厂确认。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3EE56-DA0A-4AE7-94AC-F0F9F79B35E9}"/>
              </a:ext>
            </a:extLst>
          </p:cNvPr>
          <p:cNvGraphicFramePr/>
          <p:nvPr/>
        </p:nvGraphicFramePr>
        <p:xfrm>
          <a:off xmlns:a="http://schemas.openxmlformats.org/drawingml/2006/main" x="571500" y="220980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33575"/>
                <a:gridCol w="4552950"/>
                <a:gridCol w="4562475"/>
              </a:tblGrid>
              <a:tr h="400050"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计划窗口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重点工作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进入下一步的条件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</a:tr>
              <a:tr h="609600"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10.13—10.26</a:t>
                      </a:r>
                    </a:p>
                    <a:p>
                      <a:r>
                        <a:rPr sz="157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约 2 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翻译笔独立使用测试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核心流程可重复；主要问题有记录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10.27—11.23</a:t>
                      </a:r>
                    </a:p>
                    <a:p>
                      <a:r>
                        <a:rPr sz="157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约 4 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大屏方案与 5–10 台样机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可交给他人使用；初步成本清楚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11.24—12.21</a:t>
                      </a:r>
                    </a:p>
                    <a:p>
                      <a:r>
                        <a:rPr sz="157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约 4 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家庭试用、公益对接、视频与意向测试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有实际使用反馈和可追踪需求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12.22—01.18</a:t>
                      </a:r>
                    </a:p>
                    <a:p>
                      <a:r>
                        <a:rPr sz="157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约 4 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定价、渠道准备与小规模条件式预售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样机、交期、退款与现金测算明确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2027 年 1 月起</a:t>
                      </a:r>
                    </a:p>
                    <a:p>
                      <a:r>
                        <a:rPr sz="157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按工厂确认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试产验证后下单；分批质检与发货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生产资金落实；试产与交付检查通过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C61592FE-F472-47F8-A0A0-B75D1655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视频记录和海外意向测试可并行；定制开模与批量下单安排在设计收敛之后。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AF0B4-2FE8-4EAD-B018-4DF88600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04 / 13</a:t>
            </a:r>
          </a:p>
        </p:txBody>
      </p:sp>
      <p:sp>
        <p:nvSpPr>
          <p:cNvPr id="7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B0759090-6654-4D34-8E35-5896EEDA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8" name="source-U3">
            <a:extLst xmlns:a="http://schemas.openxmlformats.org/drawingml/2006/main">
              <a:ext uri="{FF2B5EF4-FFF2-40B4-BE49-F238E27FC236}">
                <a16:creationId xmlns:a16="http://schemas.microsoft.com/office/drawing/2014/main" id="{20C7A695-2E85-40AD-84A3-30644E92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</p:spTree>
    <p:extLst>
      <p:ext uri="{BB962C8B-B14F-4D97-AF65-F5344CB8AC3E}">
        <p14:creationId xmlns:p14="http://schemas.microsoft.com/office/powerpoint/2010/main" val="3225670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E2379AF4-C046-4501-B74E-A031F11D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市场进入 · 2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60476F9-2FEC-4A7A-8E4F-DD2B98BC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市场方案 A｜国内 C 端预售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CF979B8F-2FC4-49E3-BAF1-8BA0D50F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真实演示吸引关注，意向登记检验兴趣，付费预售检验购买承诺。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B6663003-DEB6-4324-9813-F85389EB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先积累意向</a:t>
            </a:r>
          </a:p>
        </p:txBody>
      </p:sp>
      <p:sp>
        <p:nvSpPr>
          <p:cNvPr id="5" name="row-body-0">
            <a:extLst xmlns:a="http://schemas.openxmlformats.org/drawingml/2006/main">
              <a:ext uri="{FF2B5EF4-FFF2-40B4-BE49-F238E27FC236}">
                <a16:creationId xmlns:a16="http://schemas.microsoft.com/office/drawing/2014/main" id="{8F6B4ADC-090A-432C-A8E1-E4CF4E12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0505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发布实际使用视频，收集使用场景、价格反馈与联系方式。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4DB1BCBD-9AAF-4E2D-A2CF-EB1838EF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再开放预售</a:t>
            </a:r>
          </a:p>
        </p:txBody>
      </p:sp>
      <p:sp>
        <p:nvSpPr>
          <p:cNvPr id="7" name="row-body-1">
            <a:extLst xmlns:a="http://schemas.openxmlformats.org/drawingml/2006/main">
              <a:ext uri="{FF2B5EF4-FFF2-40B4-BE49-F238E27FC236}">
                <a16:creationId xmlns:a16="http://schemas.microsoft.com/office/drawing/2014/main" id="{E776EC66-1F32-4F33-812F-9F7C4D4D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8610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样机与交付方案明确后，上架国内可用的预售／众筹平台。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B67D34FA-D570-4D54-B820-9F19A2A0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授权店路径</a:t>
            </a:r>
          </a:p>
        </p:txBody>
      </p:sp>
      <p:sp>
        <p:nvSpPr>
          <p:cNvPr id="9" name="row-body-2">
            <a:extLst xmlns:a="http://schemas.openxmlformats.org/drawingml/2006/main">
              <a:ext uri="{FF2B5EF4-FFF2-40B4-BE49-F238E27FC236}">
                <a16:creationId xmlns:a16="http://schemas.microsoft.com/office/drawing/2014/main" id="{E6EF6ABE-3E0D-4F5A-B116-FA67B547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6715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若影石同意授权，确认品牌、店铺运营、收款与售后各由谁负责。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A0490B86-D2D5-4C1E-BBDD-D4874D5D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依据订单生产</a:t>
            </a:r>
          </a:p>
        </p:txBody>
      </p:sp>
      <p:sp>
        <p:nvSpPr>
          <p:cNvPr id="11" name="row-body-3">
            <a:extLst xmlns:a="http://schemas.openxmlformats.org/drawingml/2006/main">
              <a:ext uri="{FF2B5EF4-FFF2-40B4-BE49-F238E27FC236}">
                <a16:creationId xmlns:a16="http://schemas.microsoft.com/office/drawing/2014/main" id="{3943A515-9541-4240-9F8C-F19E4667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4820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按有效订单、退款情况和实际可用资金，决定首批数量。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7220E958-AE5B-4447-8D47-23FBB33B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先核验平台准入、费用与结算时间；订单预付款与股权投资分开核算。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E8776B96-F608-47AE-B69D-C876C8B9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05 / 13</a:t>
            </a:r>
          </a:p>
        </p:txBody>
      </p:sp>
      <p:sp>
        <p:nvSpPr>
          <p:cNvPr id="14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2AA17C6C-8B18-45A6-AE07-40DDB3CF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5" name="source-U3">
            <a:extLst xmlns:a="http://schemas.openxmlformats.org/drawingml/2006/main">
              <a:ext uri="{FF2B5EF4-FFF2-40B4-BE49-F238E27FC236}">
                <a16:creationId xmlns:a16="http://schemas.microsoft.com/office/drawing/2014/main" id="{673B9FAD-8D3E-45C6-821C-B6DD885A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</p:spTree>
    <p:extLst>
      <p:ext uri="{BB962C8B-B14F-4D97-AF65-F5344CB8AC3E}">
        <p14:creationId xmlns:p14="http://schemas.microsoft.com/office/powerpoint/2010/main" val="11094087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C661F402-7282-4373-AAD8-C7852A13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市场进入 · 2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74F09CB-EAF4-4ACB-9650-31FE51B0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市场方案 B｜公益采购与试点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1E80F159-A768-40F5-8182-BA543F17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资金方按约定成本采购，合作组织协助定向赠送与使用支持。</a:t>
            </a:r>
          </a:p>
        </p:txBody>
      </p:sp>
      <p:sp>
        <p:nvSpPr>
          <p:cNvPr id="4" name="col-0-title">
            <a:extLst xmlns:a="http://schemas.openxmlformats.org/drawingml/2006/main">
              <a:ext uri="{FF2B5EF4-FFF2-40B4-BE49-F238E27FC236}">
                <a16:creationId xmlns:a16="http://schemas.microsoft.com/office/drawing/2014/main" id="{4C70F19D-8509-437B-AECF-35639243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合作怎样运转</a:t>
            </a:r>
          </a:p>
        </p:txBody>
      </p:sp>
      <p:sp>
        <p:nvSpPr>
          <p:cNvPr id="5" name="col-0-0">
            <a:extLst xmlns:a="http://schemas.openxmlformats.org/drawingml/2006/main">
              <a:ext uri="{FF2B5EF4-FFF2-40B4-BE49-F238E27FC236}">
                <a16:creationId xmlns:a16="http://schemas.microsoft.com/office/drawing/2014/main" id="{94DC654B-060C-4A0E-9C64-4703AFD9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对接公益机构、企业公益预算方或社区合作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方。</a:t>
            </a:r>
          </a:p>
        </p:txBody>
      </p:sp>
      <p:sp>
        <p:nvSpPr>
          <p:cNvPr id="6" name="col-0-1">
            <a:extLst xmlns:a="http://schemas.openxmlformats.org/drawingml/2006/main">
              <a:ext uri="{FF2B5EF4-FFF2-40B4-BE49-F238E27FC236}">
                <a16:creationId xmlns:a16="http://schemas.microsoft.com/office/drawing/2014/main" id="{C223F2DD-DFEB-4138-90A2-4D8B1B35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我们提出设备、安装、服务的完整成本；由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资金方承担。</a:t>
            </a:r>
          </a:p>
        </p:txBody>
      </p:sp>
      <p:sp>
        <p:nvSpPr>
          <p:cNvPr id="7" name="col-0-2">
            <a:extLst xmlns:a="http://schemas.openxmlformats.org/drawingml/2006/main">
              <a:ext uri="{FF2B5EF4-FFF2-40B4-BE49-F238E27FC236}">
                <a16:creationId xmlns:a16="http://schemas.microsoft.com/office/drawing/2014/main" id="{B90F2515-207C-4605-917C-02B5BC18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合作方组织受赠与使用，我们承担约定的培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训与售后。</a:t>
            </a:r>
          </a:p>
        </p:txBody>
      </p:sp>
      <p:sp>
        <p:nvSpPr>
          <p:cNvPr id="8" name="col-1-title">
            <a:extLst xmlns:a="http://schemas.openxmlformats.org/drawingml/2006/main">
              <a:ext uri="{FF2B5EF4-FFF2-40B4-BE49-F238E27FC236}">
                <a16:creationId xmlns:a16="http://schemas.microsoft.com/office/drawing/2014/main" id="{F27AB80C-99A1-4EB7-A2E7-861581DA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955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产生什么证据</a:t>
            </a:r>
          </a:p>
        </p:txBody>
      </p:sp>
      <p:sp>
        <p:nvSpPr>
          <p:cNvPr id="9" name="col-1-0">
            <a:extLst xmlns:a="http://schemas.openxmlformats.org/drawingml/2006/main">
              <a:ext uri="{FF2B5EF4-FFF2-40B4-BE49-F238E27FC236}">
                <a16:creationId xmlns:a16="http://schemas.microsoft.com/office/drawing/2014/main" id="{677E92DB-80FB-4E7E-8A12-17BD1997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9560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观察设备能否改善真实家庭的观看、讲述和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沟通体验。</a:t>
            </a:r>
          </a:p>
        </p:txBody>
      </p:sp>
      <p:sp>
        <p:nvSpPr>
          <p:cNvPr id="10" name="col-1-1">
            <a:extLst xmlns:a="http://schemas.openxmlformats.org/drawingml/2006/main">
              <a:ext uri="{FF2B5EF4-FFF2-40B4-BE49-F238E27FC236}">
                <a16:creationId xmlns:a16="http://schemas.microsoft.com/office/drawing/2014/main" id="{37951B15-316C-469C-A3D4-C81E949F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62375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经当事人同意记录案例；受助不以出镜或宣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传为条件。</a:t>
            </a:r>
          </a:p>
        </p:txBody>
      </p:sp>
      <p:sp>
        <p:nvSpPr>
          <p:cNvPr id="11" name="col-1-2">
            <a:extLst xmlns:a="http://schemas.openxmlformats.org/drawingml/2006/main">
              <a:ext uri="{FF2B5EF4-FFF2-40B4-BE49-F238E27FC236}">
                <a16:creationId xmlns:a16="http://schemas.microsoft.com/office/drawing/2014/main" id="{4D2707C1-5094-4CC9-8F55-3322B9D3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62915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合作名称与背书须另行约定；试点结果与 C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 端付费分开统计。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B3E53DA8-109D-4CEE-9694-9638432F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公益可验证价值与服务能力；不能直接替代消费者自费购买的证据。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8C9E6483-A385-4D2B-846B-C5CDDB10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06 / 13</a:t>
            </a:r>
          </a:p>
        </p:txBody>
      </p:sp>
      <p:sp>
        <p:nvSpPr>
          <p:cNvPr id="14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BF44D9EB-0F47-4F83-94D2-078E38A1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5" name="source-U3">
            <a:extLst xmlns:a="http://schemas.openxmlformats.org/drawingml/2006/main">
              <a:ext uri="{FF2B5EF4-FFF2-40B4-BE49-F238E27FC236}">
                <a16:creationId xmlns:a16="http://schemas.microsoft.com/office/drawing/2014/main" id="{60233049-F30A-4BEA-8F8D-0A1E3629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</p:spTree>
    <p:extLst>
      <p:ext uri="{BB962C8B-B14F-4D97-AF65-F5344CB8AC3E}">
        <p14:creationId xmlns:p14="http://schemas.microsoft.com/office/powerpoint/2010/main" val="5703288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98158362-0B23-4A29-86E0-33EF481C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市场进入 · 2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3E55BA8-2E34-421C-9A6E-512584C3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市场方案 C｜海外需求测试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D3BA2DF5-D73A-45E6-AD1E-A732F9CC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先选择一个团队能够触达的市场，用小规模测试判断投入价值。</a:t>
            </a:r>
          </a:p>
        </p:txBody>
      </p:sp>
      <p:sp>
        <p:nvSpPr>
          <p:cNvPr id="4" name="col-0-title">
            <a:extLst xmlns:a="http://schemas.openxmlformats.org/drawingml/2006/main">
              <a:ext uri="{FF2B5EF4-FFF2-40B4-BE49-F238E27FC236}">
                <a16:creationId xmlns:a16="http://schemas.microsoft.com/office/drawing/2014/main" id="{6191E612-3ED5-48DF-B24C-B61FE75D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现在可并行做</a:t>
            </a:r>
          </a:p>
        </p:txBody>
      </p:sp>
      <p:sp>
        <p:nvSpPr>
          <p:cNvPr id="5" name="col-0-0">
            <a:extLst xmlns:a="http://schemas.openxmlformats.org/drawingml/2006/main">
              <a:ext uri="{FF2B5EF4-FFF2-40B4-BE49-F238E27FC236}">
                <a16:creationId xmlns:a16="http://schemas.microsoft.com/office/drawing/2014/main" id="{82FD8D77-AD67-412A-AC24-FD635AD4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将真实演示制作成目标语言版本，测试用途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和价格接受度。</a:t>
            </a:r>
          </a:p>
        </p:txBody>
      </p:sp>
      <p:sp>
        <p:nvSpPr>
          <p:cNvPr id="6" name="col-0-1">
            <a:extLst xmlns:a="http://schemas.openxmlformats.org/drawingml/2006/main">
              <a:ext uri="{FF2B5EF4-FFF2-40B4-BE49-F238E27FC236}">
                <a16:creationId xmlns:a16="http://schemas.microsoft.com/office/drawing/2014/main" id="{4BA174EA-3EAA-4561-9353-A93E9B5C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建立独立意向页，记录流量来源、有效咨询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和等待名单。</a:t>
            </a:r>
          </a:p>
        </p:txBody>
      </p:sp>
      <p:sp>
        <p:nvSpPr>
          <p:cNvPr id="7" name="col-0-2">
            <a:extLst xmlns:a="http://schemas.openxmlformats.org/drawingml/2006/main">
              <a:ext uri="{FF2B5EF4-FFF2-40B4-BE49-F238E27FC236}">
                <a16:creationId xmlns:a16="http://schemas.microsoft.com/office/drawing/2014/main" id="{57CE4AAB-F83B-4468-9DDF-0826A723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优先找可直接服务的试用家庭，减少跨境履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约复杂度。</a:t>
            </a:r>
          </a:p>
        </p:txBody>
      </p:sp>
      <p:sp>
        <p:nvSpPr>
          <p:cNvPr id="8" name="col-1-title">
            <a:extLst xmlns:a="http://schemas.openxmlformats.org/drawingml/2006/main">
              <a:ext uri="{FF2B5EF4-FFF2-40B4-BE49-F238E27FC236}">
                <a16:creationId xmlns:a16="http://schemas.microsoft.com/office/drawing/2014/main" id="{88D6F7D5-640B-4B35-9366-4F2241E3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955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收到钱之前要补齐</a:t>
            </a:r>
          </a:p>
        </p:txBody>
      </p:sp>
      <p:sp>
        <p:nvSpPr>
          <p:cNvPr id="9" name="col-1-0">
            <a:extLst xmlns:a="http://schemas.openxmlformats.org/drawingml/2006/main">
              <a:ext uri="{FF2B5EF4-FFF2-40B4-BE49-F238E27FC236}">
                <a16:creationId xmlns:a16="http://schemas.microsoft.com/office/drawing/2014/main" id="{5BABF772-8624-4064-A832-FA2C3914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9560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确认支付、物流、售后和该市场适用的产品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要求。</a:t>
            </a:r>
          </a:p>
        </p:txBody>
      </p:sp>
      <p:sp>
        <p:nvSpPr>
          <p:cNvPr id="10" name="col-1-1">
            <a:extLst xmlns:a="http://schemas.openxmlformats.org/drawingml/2006/main">
              <a:ext uri="{FF2B5EF4-FFF2-40B4-BE49-F238E27FC236}">
                <a16:creationId xmlns:a16="http://schemas.microsoft.com/office/drawing/2014/main" id="{E70F3058-ED12-4615-8003-1BE2AB64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62375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算清到岸成本、平台费用、退款与返修预算。</a:t>
            </a:r>
          </a:p>
        </p:txBody>
      </p:sp>
      <p:sp>
        <p:nvSpPr>
          <p:cNvPr id="11" name="col-1-2">
            <a:extLst xmlns:a="http://schemas.openxmlformats.org/drawingml/2006/main">
              <a:ext uri="{FF2B5EF4-FFF2-40B4-BE49-F238E27FC236}">
                <a16:creationId xmlns:a16="http://schemas.microsoft.com/office/drawing/2014/main" id="{5D4B7D9E-1046-422B-948A-54765490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62915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国内产品稳定后，再决定当地合作渠道或预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售方式。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3BEBD303-8D0D-4EB6-BA3E-3EBB3528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海外兴趣数据单独看；目前不把海外市场作为首批量产的确定资金来源。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E38BB37C-80DC-40B5-BC9D-F02D9415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07 / 13</a:t>
            </a:r>
          </a:p>
        </p:txBody>
      </p:sp>
      <p:sp>
        <p:nvSpPr>
          <p:cNvPr id="14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EE6B1A96-D621-4EF7-9444-F4680341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5" name="source-U3">
            <a:extLst xmlns:a="http://schemas.openxmlformats.org/drawingml/2006/main">
              <a:ext uri="{FF2B5EF4-FFF2-40B4-BE49-F238E27FC236}">
                <a16:creationId xmlns:a16="http://schemas.microsoft.com/office/drawing/2014/main" id="{676AFE2C-FDFC-47A3-A364-86B87160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</p:spTree>
    <p:extLst>
      <p:ext uri="{BB962C8B-B14F-4D97-AF65-F5344CB8AC3E}">
        <p14:creationId xmlns:p14="http://schemas.microsoft.com/office/powerpoint/2010/main" val="20392998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76828331-0489-43FE-9506-F869D40C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与影石合作 · 3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94CB24-4EBF-4A83-80E9-2D342B35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合作模式：共创、孵化或独立推进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1B021F2E-13AD-4C12-BA7C-D76562CA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先选择一个可执行的合作方式，再确定产品与资金责任。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86183-B23B-4A48-B745-8675413ECF3E}"/>
              </a:ext>
            </a:extLst>
          </p:cNvPr>
          <p:cNvGraphicFramePr/>
          <p:nvPr/>
        </p:nvGraphicFramePr>
        <p:xfrm>
          <a:off xmlns:a="http://schemas.openxmlformats.org/drawingml/2006/main" x="571500" y="220980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33575"/>
                <a:gridCol w="4552950"/>
                <a:gridCol w="4562475"/>
              </a:tblGrid>
              <a:tr h="495300"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模式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双方分工（讨论方案）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资金与经营安排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</a:tr>
              <a:tr h="742950"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产品共创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我们做体验与试用；影石协助硬件和技术对接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按阶段约定研发／样机预算；品牌与知识产权另定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孵化支持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团队持续运营；影石或关联机构提供资源与辅导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可讨论试点经费、设备及办公支持；股权条件单列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独立产品＋授权店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我们承担产品运营；影石授权明确的品牌／渠道范围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明确店铺主体、收款分成、售后与独家期限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独立推进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不依赖合作到位，继续核心样机与需求验证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投入控制在已有预算内，结果成熟后再对接融资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C0890356-6C94-4667-ACF3-BD3FCDC7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建议先争取样机阶段的共创支持，再依据试用与订单证据讨论更深合作。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272B5C4-2431-4DDC-869B-DFFA8466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08 / 13</a:t>
            </a:r>
          </a:p>
        </p:txBody>
      </p:sp>
      <p:sp>
        <p:nvSpPr>
          <p:cNvPr id="7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BA68DAEF-1B31-4ED7-BE07-DCEC9AFF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8" name="source-U3">
            <a:extLst xmlns:a="http://schemas.openxmlformats.org/drawingml/2006/main">
              <a:ext uri="{FF2B5EF4-FFF2-40B4-BE49-F238E27FC236}">
                <a16:creationId xmlns:a16="http://schemas.microsoft.com/office/drawing/2014/main" id="{1EDFC0AA-4CBE-415B-86F7-68DA08DF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  <p:sp>
        <p:nvSpPr>
          <p:cNvPr id="9" name="source-A1">
            <a:extLst xmlns:a="http://schemas.openxmlformats.org/drawingml/2006/main">
              <a:ext uri="{FF2B5EF4-FFF2-40B4-BE49-F238E27FC236}">
                <a16:creationId xmlns:a16="http://schemas.microsoft.com/office/drawing/2014/main" id="{38FED888-EFBD-4E44-BE0E-7379F8FE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b252249737ba46d5"/>
              </a:rPr>
              <a:t>A1 ↗</a:t>
            </a:r>
          </a:p>
        </p:txBody>
      </p:sp>
    </p:spTree>
    <p:extLst>
      <p:ext uri="{BB962C8B-B14F-4D97-AF65-F5344CB8AC3E}">
        <p14:creationId xmlns:p14="http://schemas.microsoft.com/office/powerpoint/2010/main" val="19906199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D4C4148D-8BA9-45E9-A621-82A4E031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产品化责任 · 2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6C30EB-11A1-4201-BB5E-AF7D081B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如果影石支持开模，后续谁来做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8770C7C5-1D1F-45A0-A7B2-E2A4CD99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开模解决的是一部分前期投入；产品经营与首批生产仍需单独安排。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BBF24-A205-4F1F-9C37-BCC4D44AA56A}"/>
              </a:ext>
            </a:extLst>
          </p:cNvPr>
          <p:cNvGraphicFramePr/>
          <p:nvPr/>
        </p:nvGraphicFramePr>
        <p:xfrm>
          <a:off xmlns:a="http://schemas.openxmlformats.org/drawingml/2006/main" x="571500" y="220980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33575"/>
                <a:gridCol w="4552950"/>
                <a:gridCol w="4562475"/>
              </a:tblGrid>
              <a:tr h="495300"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需要定清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具体内容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建议责任安排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</a:tr>
              <a:tr h="742950"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设计与模具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模具费用、所有权、修改费用和可用工厂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提供方与团队书面确认；设计验证后再冻结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工厂与货款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供应商、起订量、付款节点、试产和质检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明确下单主体及谁支付各节点货款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店铺与订单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品牌许可、收款、平台结算、退款和订单数据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明确店铺运营主体与消费者承诺方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交付与售后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发货、退换、维修、系统更新和持续服务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指定负责方，并在预算中保留服务资金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8AC1FA99-E6B9-409B-BCD5-28FE2A4B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能获得模具支持，并不意味着后续制造、交付和运营资金已经解决。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97FC6C2-91B8-4D2E-9D21-E31D6FF1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09 / 13</a:t>
            </a:r>
          </a:p>
        </p:txBody>
      </p:sp>
    </p:spTree>
    <p:extLst>
      <p:ext uri="{BB962C8B-B14F-4D97-AF65-F5344CB8AC3E}">
        <p14:creationId xmlns:p14="http://schemas.microsoft.com/office/powerpoint/2010/main" val="20690639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C540CE66-B64E-442B-BC10-528F7EE8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资金与融资 · 2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555383-A775-4B86-B1AA-BC502301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资金安排：先验证，再扩大投入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F3B1E357-9FCF-44C1-BEFE-F4D7EFC7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首批生产资金缺口，需要按付款时间测算，不能只看预售总额。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68F742CD-AF3D-4929-B416-8092FBAD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样机阶段</a:t>
            </a:r>
          </a:p>
        </p:txBody>
      </p:sp>
      <p:sp>
        <p:nvSpPr>
          <p:cNvPr id="5" name="row-body-0">
            <a:extLst xmlns:a="http://schemas.openxmlformats.org/drawingml/2006/main">
              <a:ext uri="{FF2B5EF4-FFF2-40B4-BE49-F238E27FC236}">
                <a16:creationId xmlns:a16="http://schemas.microsoft.com/office/drawing/2014/main" id="{6B72C919-7A64-4424-8225-5727EFEF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0505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已有预算优先；争取影石共创经费或孵化支持，先覆盖小批样机。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B542A711-6843-40E9-A707-F505DDD7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试点阶段</a:t>
            </a:r>
          </a:p>
        </p:txBody>
      </p:sp>
      <p:sp>
        <p:nvSpPr>
          <p:cNvPr id="7" name="row-body-1">
            <a:extLst xmlns:a="http://schemas.openxmlformats.org/drawingml/2006/main">
              <a:ext uri="{FF2B5EF4-FFF2-40B4-BE49-F238E27FC236}">
                <a16:creationId xmlns:a16="http://schemas.microsoft.com/office/drawing/2014/main" id="{CB049C36-3EF7-4039-9B25-8AC574B1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8610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公益采购／试点经费可支付约定设备与服务；C 端资金单独记账。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F0C91F17-FB2E-4168-BD6A-E9FC3ABC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预售阶段</a:t>
            </a:r>
          </a:p>
        </p:txBody>
      </p:sp>
      <p:sp>
        <p:nvSpPr>
          <p:cNvPr id="9" name="row-body-2">
            <a:extLst xmlns:a="http://schemas.openxmlformats.org/drawingml/2006/main">
              <a:ext uri="{FF2B5EF4-FFF2-40B4-BE49-F238E27FC236}">
                <a16:creationId xmlns:a16="http://schemas.microsoft.com/office/drawing/2014/main" id="{04B6A270-FD29-435F-A830-24D2B3A9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6715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只计可实际支取的预售净款；先扣平台费用与退款准备，交付成本另算。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0BC1E38B-D0C3-40E7-9F16-D229166E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融资阶段</a:t>
            </a:r>
          </a:p>
        </p:txBody>
      </p:sp>
      <p:sp>
        <p:nvSpPr>
          <p:cNvPr id="11" name="row-body-3">
            <a:extLst xmlns:a="http://schemas.openxmlformats.org/drawingml/2006/main">
              <a:ext uri="{FF2B5EF4-FFF2-40B4-BE49-F238E27FC236}">
                <a16:creationId xmlns:a16="http://schemas.microsoft.com/office/drawing/2014/main" id="{28EF3053-BECA-466E-9673-C536432D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4820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产品、试用和初步订单信号形成后，再评估股权融资或其他资金方案。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12EDCF00-96F8-4DCD-86EF-0E0ADABB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开模／研发费 ＋ 首批制造与交付支出 − 可支取预售净款 − 已落实支持 ＝ 待补资金。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6E64DCA6-8F71-4D71-AE6E-8A576AC6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10 / 13</a:t>
            </a:r>
          </a:p>
        </p:txBody>
      </p:sp>
      <p:sp>
        <p:nvSpPr>
          <p:cNvPr id="14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2963FDD9-9D1F-4CEB-BFA9-6F44E26B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5" name="source-U3">
            <a:extLst xmlns:a="http://schemas.openxmlformats.org/drawingml/2006/main">
              <a:ext uri="{FF2B5EF4-FFF2-40B4-BE49-F238E27FC236}">
                <a16:creationId xmlns:a16="http://schemas.microsoft.com/office/drawing/2014/main" id="{2F93C7A1-10BB-4A4A-9D1D-996FF53B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</p:spTree>
    <p:extLst>
      <p:ext uri="{BB962C8B-B14F-4D97-AF65-F5344CB8AC3E}">
        <p14:creationId xmlns:p14="http://schemas.microsoft.com/office/powerpoint/2010/main" val="14853329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A26ED177-C674-4F3D-9D30-868563B5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本次诉求 · 2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4EA1109-8CFD-4F3C-BBC5-F820F744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这次希望与影石确认的支持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7D2EB37B-1A8D-4960-864D-9CB103DB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当前先争取把下一阶段产品验证做成；融资保留为后续议题。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81D4854C-AE2F-43C8-83DB-1F23CD77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优先：产品共创</a:t>
            </a:r>
          </a:p>
        </p:txBody>
      </p:sp>
      <p:sp>
        <p:nvSpPr>
          <p:cNvPr id="5" name="row-body-0">
            <a:extLst xmlns:a="http://schemas.openxmlformats.org/drawingml/2006/main">
              <a:ext uri="{FF2B5EF4-FFF2-40B4-BE49-F238E27FC236}">
                <a16:creationId xmlns:a16="http://schemas.microsoft.com/office/drawing/2014/main" id="{3841A5C9-CCFC-4186-8DA9-736D5647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0505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指定一位产品／硬件接口人，评审现有 Demo 和大屏样机方案。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6583E50A-4A93-4856-9AA4-F22C29A5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具体：样机支持</a:t>
            </a:r>
          </a:p>
        </p:txBody>
      </p:sp>
      <p:sp>
        <p:nvSpPr>
          <p:cNvPr id="7" name="row-body-1">
            <a:extLst xmlns:a="http://schemas.openxmlformats.org/drawingml/2006/main">
              <a:ext uri="{FF2B5EF4-FFF2-40B4-BE49-F238E27FC236}">
                <a16:creationId xmlns:a16="http://schemas.microsoft.com/office/drawing/2014/main" id="{8D61ECE0-D807-414F-BD45-2A88D4AA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8610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讨论 5–10 台样机的硬件、工程与预算支持；以双方确认范围为准。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B977D261-F7AB-465C-AE16-EE0443E1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同步：市场路径</a:t>
            </a:r>
          </a:p>
        </p:txBody>
      </p:sp>
      <p:sp>
        <p:nvSpPr>
          <p:cNvPr id="9" name="row-body-2">
            <a:extLst xmlns:a="http://schemas.openxmlformats.org/drawingml/2006/main">
              <a:ext uri="{FF2B5EF4-FFF2-40B4-BE49-F238E27FC236}">
                <a16:creationId xmlns:a16="http://schemas.microsoft.com/office/drawing/2014/main" id="{3BEBAB51-9E37-4F9C-9813-8F85141D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6715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讨论独家授权店是否可行，或是否有适合的试点与孵化资源。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9E546625-06C4-4BF5-B1CA-E8DAADED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后续：投资评估</a:t>
            </a:r>
          </a:p>
        </p:txBody>
      </p:sp>
      <p:sp>
        <p:nvSpPr>
          <p:cNvPr id="11" name="row-body-3">
            <a:extLst xmlns:a="http://schemas.openxmlformats.org/drawingml/2006/main">
              <a:ext uri="{FF2B5EF4-FFF2-40B4-BE49-F238E27FC236}">
                <a16:creationId xmlns:a16="http://schemas.microsoft.com/office/drawing/2014/main" id="{25B743ED-554A-4DD1-A248-2E2AABDB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4820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明确达到何种试用、成本和订单证据后，再进入融资讨论。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1E13EBBE-507B-4186-9C70-3397B0E9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希望带回：合作负责人、下一阶段任务与投入范围，以及一次明确的复盘时间。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0C0ED3EE-81E0-4AE1-BE21-EEC67682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11 / 13</a:t>
            </a:r>
          </a:p>
        </p:txBody>
      </p:sp>
      <p:sp>
        <p:nvSpPr>
          <p:cNvPr id="14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EC29B275-F462-4141-A8E4-CCAF9B8B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5" name="source-U3">
            <a:extLst xmlns:a="http://schemas.openxmlformats.org/drawingml/2006/main">
              <a:ext uri="{FF2B5EF4-FFF2-40B4-BE49-F238E27FC236}">
                <a16:creationId xmlns:a16="http://schemas.microsoft.com/office/drawing/2014/main" id="{AD6985CD-7EA1-49F1-BC78-792BDD26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</p:spTree>
    <p:extLst>
      <p:ext uri="{BB962C8B-B14F-4D97-AF65-F5344CB8AC3E}">
        <p14:creationId xmlns:p14="http://schemas.microsoft.com/office/powerpoint/2010/main" val="6750466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">
            <a:extLst xmlns:a="http://schemas.openxmlformats.org/drawingml/2006/main">
              <a:ext uri="{FF2B5EF4-FFF2-40B4-BE49-F238E27FC236}">
                <a16:creationId xmlns:a16="http://schemas.microsoft.com/office/drawing/2014/main" id="{5A009F9B-3BAD-4A1D-9898-0F567A35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共同讨论 · 6 分钟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320956A-335A-4DB7-BEC3-F7030DF0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一起决定下一阶段怎样推进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02C41ACC-E2A6-48A7-B9B5-6812D8F2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以下问题用于会谈收尾；双方尚未形成承诺。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153603FF-7746-4A4A-AEB3-388D09E7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合作方式</a:t>
            </a:r>
          </a:p>
        </p:txBody>
      </p:sp>
      <p:sp>
        <p:nvSpPr>
          <p:cNvPr id="5" name="row-body-0">
            <a:extLst xmlns:a="http://schemas.openxmlformats.org/drawingml/2006/main">
              <a:ext uri="{FF2B5EF4-FFF2-40B4-BE49-F238E27FC236}">
                <a16:creationId xmlns:a16="http://schemas.microsoft.com/office/drawing/2014/main" id="{9B947E4E-0D87-448C-AA04-AB66350F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0505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更适合产品共创、孵化支持，还是我们独立做产品并讨论授权店？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A9808592-5C4A-44DA-9853-E08F850A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产品范围</a:t>
            </a:r>
          </a:p>
        </p:txBody>
      </p:sp>
      <p:sp>
        <p:nvSpPr>
          <p:cNvPr id="7" name="row-body-1">
            <a:extLst xmlns:a="http://schemas.openxmlformats.org/drawingml/2006/main">
              <a:ext uri="{FF2B5EF4-FFF2-40B4-BE49-F238E27FC236}">
                <a16:creationId xmlns:a16="http://schemas.microsoft.com/office/drawing/2014/main" id="{9C5B6024-DF72-4727-877F-7B4FEB45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8610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首发是否聚焦家庭大屏？样机数量和最小完整体验怎样确定？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D36DD720-BEBD-438F-8197-54A1D4B6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资金责任</a:t>
            </a:r>
          </a:p>
        </p:txBody>
      </p:sp>
      <p:sp>
        <p:nvSpPr>
          <p:cNvPr id="9" name="row-body-2">
            <a:extLst xmlns:a="http://schemas.openxmlformats.org/drawingml/2006/main">
              <a:ext uri="{FF2B5EF4-FFF2-40B4-BE49-F238E27FC236}">
                <a16:creationId xmlns:a16="http://schemas.microsoft.com/office/drawing/2014/main" id="{731106E5-7652-4598-B0AC-7E7BB649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6715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样机、开模、首批制造和售后，分别由谁承担？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9A6EC2B9-D6FA-4F33-B639-B9555B44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下一次评估</a:t>
            </a:r>
          </a:p>
        </p:txBody>
      </p:sp>
      <p:sp>
        <p:nvSpPr>
          <p:cNvPr id="11" name="row-body-3">
            <a:extLst xmlns:a="http://schemas.openxmlformats.org/drawingml/2006/main">
              <a:ext uri="{FF2B5EF4-FFF2-40B4-BE49-F238E27FC236}">
                <a16:creationId xmlns:a16="http://schemas.microsoft.com/office/drawing/2014/main" id="{AE6EB540-E790-4606-9078-EBD4F3A8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4820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以哪些使用、成本与订单证据复盘？由谁参与，安排在何时？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80884628-4FD5-4136-9036-0B366EBD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主张：以家庭呈现与回应补充采集端价值，用真实使用和订单逐步推进合作。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60AE6B45-3C52-4F8C-8524-BB6E09DE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14973200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">
            <a:extLst xmlns:a="http://schemas.openxmlformats.org/drawingml/2006/main">
              <a:ext uri="{FF2B5EF4-FFF2-40B4-BE49-F238E27FC236}">
                <a16:creationId xmlns:a16="http://schemas.microsoft.com/office/drawing/2014/main" id="{60F1F498-FEEB-4A87-8B9F-ED99389A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备查，不占主讲时间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D17AA4-4563-4F09-A057-A8BEA082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来源与计划口径</a:t>
            </a:r>
          </a:p>
        </p:txBody>
      </p:sp>
      <p:sp>
        <p:nvSpPr>
          <p:cNvPr id="3" name="ref-A1">
            <a:extLst xmlns:a="http://schemas.openxmlformats.org/drawingml/2006/main">
              <a:ext uri="{FF2B5EF4-FFF2-40B4-BE49-F238E27FC236}">
                <a16:creationId xmlns:a16="http://schemas.microsoft.com/office/drawing/2014/main" id="{1DF7E501-2EF1-44A3-8573-E4F88924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A1</a:t>
            </a:r>
          </a:p>
        </p:txBody>
      </p:sp>
      <p:sp>
        <p:nvSpPr>
          <p:cNvPr id="4" name="ref-title-A1">
            <a:extLst xmlns:a="http://schemas.openxmlformats.org/drawingml/2006/main">
              <a:ext uri="{FF2B5EF4-FFF2-40B4-BE49-F238E27FC236}">
                <a16:creationId xmlns:a16="http://schemas.microsoft.com/office/drawing/2014/main" id="{C8A50534-4030-41D1-88EA-B2589C10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714500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8f2ed77a4d584525"/>
              </a:rPr>
              <a:t>影石 Bold Maker 挑战赛收官报道 ↗</a:t>
            </a:r>
          </a:p>
        </p:txBody>
      </p:sp>
      <p:sp>
        <p:nvSpPr>
          <p:cNvPr id="5" name="ref-locator-A1">
            <a:extLst xmlns:a="http://schemas.openxmlformats.org/drawingml/2006/main">
              <a:ext uri="{FF2B5EF4-FFF2-40B4-BE49-F238E27FC236}">
                <a16:creationId xmlns:a16="http://schemas.microsoft.com/office/drawing/2014/main" id="{38ECE421-6A0B-42CC-B87A-A5B7AAF4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057400"/>
            <a:ext cx="1052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2026-09-26 发布 · 正文：9 月 24 日颁奖典礼；孵化与赛事支持段</a:t>
            </a:r>
          </a:p>
        </p:txBody>
      </p:sp>
      <p:sp>
        <p:nvSpPr>
          <p:cNvPr id="6" name="ref-summary-A1">
            <a:extLst xmlns:a="http://schemas.openxmlformats.org/drawingml/2006/main">
              <a:ext uri="{FF2B5EF4-FFF2-40B4-BE49-F238E27FC236}">
                <a16:creationId xmlns:a16="http://schemas.microsoft.com/office/drawing/2014/main" id="{D1EE29FB-932F-4396-9516-3FE887BB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95525"/>
            <a:ext cx="10525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核实颁奖日期为 2026-09-24。报道介绍孵化、技术验证与落地支持；具体可申请项目及资格仍需确认。</a:t>
            </a:r>
          </a:p>
        </p:txBody>
      </p:sp>
      <p:sp>
        <p:nvSpPr>
          <p:cNvPr id="7" name="ref-A2">
            <a:extLst xmlns:a="http://schemas.openxmlformats.org/drawingml/2006/main">
              <a:ext uri="{FF2B5EF4-FFF2-40B4-BE49-F238E27FC236}">
                <a16:creationId xmlns:a16="http://schemas.microsoft.com/office/drawing/2014/main" id="{6047E564-3B4D-444C-8E35-E2C6BE89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A2</a:t>
            </a:r>
          </a:p>
        </p:txBody>
      </p:sp>
      <p:sp>
        <p:nvSpPr>
          <p:cNvPr id="8" name="ref-title-A2">
            <a:extLst xmlns:a="http://schemas.openxmlformats.org/drawingml/2006/main">
              <a:ext uri="{FF2B5EF4-FFF2-40B4-BE49-F238E27FC236}">
                <a16:creationId xmlns:a16="http://schemas.microsoft.com/office/drawing/2014/main" id="{96342DD6-14CF-4760-997E-8B4DDBC2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695575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bbd8bdd696484753"/>
              </a:rPr>
              <a:t>影石官方手册：AI 导演 ↗</a:t>
            </a:r>
          </a:p>
        </p:txBody>
      </p:sp>
      <p:sp>
        <p:nvSpPr>
          <p:cNvPr id="9" name="ref-locator-A2">
            <a:extLst xmlns:a="http://schemas.openxmlformats.org/drawingml/2006/main">
              <a:ext uri="{FF2B5EF4-FFF2-40B4-BE49-F238E27FC236}">
                <a16:creationId xmlns:a16="http://schemas.microsoft.com/office/drawing/2014/main" id="{0B2EF6D2-2DE3-44D9-ACBB-71F23E5F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038475"/>
            <a:ext cx="1052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2026-10-12 查阅 · 功能介绍</a:t>
            </a:r>
          </a:p>
        </p:txBody>
      </p:sp>
      <p:sp>
        <p:nvSpPr>
          <p:cNvPr id="10" name="ref-summary-A2">
            <a:extLst xmlns:a="http://schemas.openxmlformats.org/drawingml/2006/main">
              <a:ext uri="{FF2B5EF4-FFF2-40B4-BE49-F238E27FC236}">
                <a16:creationId xmlns:a16="http://schemas.microsoft.com/office/drawing/2014/main" id="{893AAB36-89A3-4F4A-846E-E9EB0AB4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76600"/>
            <a:ext cx="10525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已有素材筛选、自动剪辑等能力。基础 AI 整理不宜作为影石缺失能力来推介。</a:t>
            </a:r>
          </a:p>
        </p:txBody>
      </p:sp>
      <p:sp>
        <p:nvSpPr>
          <p:cNvPr id="11" name="ref-U3">
            <a:extLst xmlns:a="http://schemas.openxmlformats.org/drawingml/2006/main">
              <a:ext uri="{FF2B5EF4-FFF2-40B4-BE49-F238E27FC236}">
                <a16:creationId xmlns:a16="http://schemas.microsoft.com/office/drawing/2014/main" id="{E22DF6D1-FFB0-436E-B049-E8D4C7D1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U3</a:t>
            </a:r>
          </a:p>
        </p:txBody>
      </p:sp>
      <p:sp>
        <p:nvSpPr>
          <p:cNvPr id="12" name="ref-title-U3">
            <a:extLst xmlns:a="http://schemas.openxmlformats.org/drawingml/2006/main">
              <a:ext uri="{FF2B5EF4-FFF2-40B4-BE49-F238E27FC236}">
                <a16:creationId xmlns:a16="http://schemas.microsoft.com/office/drawing/2014/main" id="{F08C024D-D04C-442C-AB0A-F3289C73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76650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本次项目方向与计划</a:t>
            </a:r>
          </a:p>
        </p:txBody>
      </p:sp>
      <p:sp>
        <p:nvSpPr>
          <p:cNvPr id="13" name="ref-locator-U3">
            <a:extLst xmlns:a="http://schemas.openxmlformats.org/drawingml/2006/main">
              <a:ext uri="{FF2B5EF4-FFF2-40B4-BE49-F238E27FC236}">
                <a16:creationId xmlns:a16="http://schemas.microsoft.com/office/drawing/2014/main" id="{9C22502E-0E32-45EC-AEA4-552C30A4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52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2026-10-13 · Max 本轮口述及转写纠正</a:t>
            </a:r>
          </a:p>
        </p:txBody>
      </p:sp>
      <p:sp>
        <p:nvSpPr>
          <p:cNvPr id="14" name="ref-summary-U3">
            <a:extLst xmlns:a="http://schemas.openxmlformats.org/drawingml/2006/main">
              <a:ext uri="{FF2B5EF4-FFF2-40B4-BE49-F238E27FC236}">
                <a16:creationId xmlns:a16="http://schemas.microsoft.com/office/drawing/2014/main" id="{2E618EEB-F133-43AD-A6EF-EB1B3643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257675"/>
            <a:ext cx="10525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翻译笔验证 → 大屏多机试用 → 视频与市场测试 → 国内平台预售 → 工厂订单与交付；先有产品和订单信号，再讨论融资。未规划车内产品。</a:t>
            </a:r>
          </a:p>
        </p:txBody>
      </p:sp>
      <p:sp>
        <p:nvSpPr>
          <p:cNvPr id="15" name="ref-P2">
            <a:extLst xmlns:a="http://schemas.openxmlformats.org/drawingml/2006/main">
              <a:ext uri="{FF2B5EF4-FFF2-40B4-BE49-F238E27FC236}">
                <a16:creationId xmlns:a16="http://schemas.microsoft.com/office/drawing/2014/main" id="{7070C6FA-98B1-43E6-BAA4-436E8A9E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577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P2</a:t>
            </a:r>
          </a:p>
        </p:txBody>
      </p:sp>
      <p:sp>
        <p:nvSpPr>
          <p:cNvPr id="16" name="ref-title-P2">
            <a:extLst xmlns:a="http://schemas.openxmlformats.org/drawingml/2006/main">
              <a:ext uri="{FF2B5EF4-FFF2-40B4-BE49-F238E27FC236}">
                <a16:creationId xmlns:a16="http://schemas.microsoft.com/office/drawing/2014/main" id="{83323511-BA4C-4EEC-9B88-6924A9D8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57725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获奖口径与当前阶段</a:t>
            </a:r>
          </a:p>
        </p:txBody>
      </p:sp>
      <p:sp>
        <p:nvSpPr>
          <p:cNvPr id="17" name="ref-locator-P2">
            <a:extLst xmlns:a="http://schemas.openxmlformats.org/drawingml/2006/main">
              <a:ext uri="{FF2B5EF4-FFF2-40B4-BE49-F238E27FC236}">
                <a16:creationId xmlns:a16="http://schemas.microsoft.com/office/drawing/2014/main" id="{79F46230-F341-487C-8D9D-B67130A6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000625"/>
            <a:ext cx="1052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用户既有确认；当前状态以 2026-10-13 补充为准 · UNSEEN 获奖记录与本次讨论</a:t>
            </a:r>
          </a:p>
        </p:txBody>
      </p:sp>
      <p:sp>
        <p:nvSpPr>
          <p:cNvPr id="18" name="ref-summary-P2">
            <a:extLst xmlns:a="http://schemas.openxmlformats.org/drawingml/2006/main">
              <a:ext uri="{FF2B5EF4-FFF2-40B4-BE49-F238E27FC236}">
                <a16:creationId xmlns:a16="http://schemas.microsoft.com/office/drawing/2014/main" id="{8151C857-79A2-427E-96FC-5D03646E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238750"/>
            <a:ext cx="10525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影石 AI+社会公益赛道第一名为用户已确认成绩；公开报道用于核对典礼日期。翻译笔用于一代实体 Demo 验证，独立运行稳定性仍需设备测试。</a:t>
            </a:r>
          </a:p>
        </p:txBody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89797B61-6ED7-401E-89EB-58E7B80F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日期与官方能力可追溯；时间表、样机数量、市场方案和合作安排均为讨论提案。</a:t>
            </a:r>
          </a:p>
        </p:txBody>
      </p:sp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C4F7D2FE-3EF4-4C63-8478-D6B7CDFE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14442171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2026-10-13T01:26:30.8380000Z</dcterms:created>
  <dcterms:modified xsi:type="dcterms:W3CDTF">2026-10-13T01:26:30.8390000Z</dcterms:modified>
</coreProperties>
</file>